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0.7 minutes
Good morning everyone. Today I am presenting my DATA 400 mini project on SBA 7(a) credit risk. The central question is whether information available around loan approval can help predict whether a loan will be charged off within five years. I use the official SBA 7(a) FOIA data, build a five-year charge-off target, split the loans by approval time, compare four classification models, select the best model using validation data, and then evaluate only once on a locked future test set. The executed notebook selected Random Forest as the best validation model based on PR-AUC, and the rest of the presentation explains why that model was chosen, how it performs, and what limitations remain.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0.8 minutes
This slide gives the structure of the presentation. First, I define the prediction problem and make sure the target is valid. That means I only use loans that have a full five-year observation window, and I avoid leakage by not using outcome fields as predictors. Second, I use the training period for EDA and feature engineering, and I compare models on validation data. Third, I evaluate the final selected model on a future test period. The main idea is that the model should be used to prioritize review or monitoring. It should not be used as a standalone approval or denial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0.9 minutes
The objective is not simply to label every loan correctly. In credit risk, a model is often most useful if it can rank loans so that higher-risk applications or portfolio accounts receive more attention. The positive class is rare, meaning a naive model could achieve high accuracy by predicting almost everything as non-charge-off. That is why I focus on metrics that evaluate the positive class: PR-AUC, precision, recall, F1, and confusion matrices, while also reporting ROC-AUC for comparison. I also keep the business use case in mind. This is a screening and prioritization tool, not an automatic lending decision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0.95 minutes
The target variable is chargeoff_5yr. A value of one means that there is a documented charge-off within five years of approval. A value of zero means that there is no documented charge-off during the first five years. The important technical issue is right-censoring. A recent loan cannot be treated as safe simply because five full years have not passed yet. Since the SBA snapshot date is June 30, 2026, the latest approval date that can have a complete five-year window is June 30, 2021. Any loan approved after that cutoff is excluded from the five-year modeling sample instead of being incorrectly labeled as a non-charge-off. I also avoid leakage by not using loan status, charge-off date, charge-off amount, or paid-in-full date as predictors.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 minutes
The executed notebook reads the official SBA 7(a) FOIA files and removes exact duplicates. After that step, the raw dataset has 932,013 loans, with 2,076 exact duplicates removed. Then I filter to loans with a complete five-year observation window and a usable charge-off timing rule. That leaves 543,110 loans in the modeling universe. Among these, 20,443 loans are positive cases, meaning they charged off within five years, and 522,667 are non-charge-off cases during the first five years. The event rate is only 3.76 percent, which confirms that this is an imbalanced classification problem. This is why metrics like precision-recall AUC and recall are more meaningful than accuracy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0.9 minutes
I used a chronological split instead of a random split. The training data covers approvals through 2017, validation covers 2018 and 2019, and the locked test set covers January 2020 through June 2021. This is important because model choices are made using validation data before the final test set is touched. It also reflects a real deployment setting, where a model trained on older loans must generalize to newer cohorts. Notice that the test period has a lower observed five-year charge-off rate, only 2.36 percent. That lower base rate makes future-period evaluation especially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1.05 minutes
The training EDA shows clear descriptive patterns in loan structure. Smaller loans have higher observed charge-off rates. Loans under fifty thousand dollars charge off at about 5.59 percent, while loans over one million dollars charge off at about 0.85 percent. The term bands show a similar ranking pattern: loans with terms under 84 months have a charge-off rate of about 5.11 percent, while loans over 180 months have a rate below 0.5 percent. This does not prove that small loans or shorter terms cause charge-off. It only shows that loan structure contains useful predictive information. Because loan dollar amounts are heavily right-skewed, I used log gross approval as a model feature instead of raw loan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1.05 minutes
Other variables also show interpretable patterns. Loans with initial interest rates between eight and eleven percent have a charge-off rate of about 7.30 percent, compared with 1.35 percent for loans under five percent. Guarantee percentage also varies: the 75 to 85 percent guarantee band has the highest observed charge-off rate in training data. Broad NAICS sectors also differ. The highest sectors in the training set include NAICS 45, 48, 42, 71, and 72. These patterns help justify the feature set, but again they are descriptive, not causal. They show association in the historical portfolio, not necessarily a direct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0.9 minutes
Before modeling, I checked unusual values and impossible values. The IQR rule flags many observations for gross approval amount, loan term, interest rate, and jobs supported. However, I did not automatically remove these loans. In an SBA lending dataset, a very large loan or a very long term can be a real record, not necessarily a data error. Instead, I use transformations and preprocessing. Loan amount is converted to log gross approval, numeric variables are imputed and scaled, and categorical variables are imputed and one-hot encoded. I also checked impossible values. There are no nonpositive gross approval amounts, no negative interest rates, and no guarantee percentage above 1.05.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0.95 minutes
For the modeling feature set, I only use variables that are reasonably available around approval. Numerical features include log loan amount, guarantee percentage, term, initial interest rate, jobs supported, and approval year. Categorical features include state, business type, business age, processing method, fixed or variable rate, revolver status, collateral indicator, NAICS two-digit sector, and franchise flag. I intentionally exclude outcome fields such as loan status, charge-off date, gross charge-off amount, and paid-in-full date. I also exclude borrower name and street address because the goal is to build an interpretable and appropriate credit-risk screening model. The scikit-learn pipeline learns imputation, scaling, and one-hot encoding from the training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0.9 minutes
I compare four models. The dummy classifier is a baseline, which tells me what a model looks like if it does not learn useful patterns. Logistic regression is a standard interpretable credit-risk benchmark, with L2 regularization. The decision tree is a simple nonlinear model with limited depth and a minimum leaf size. Random Forest is a more flexible tree-based ensemble with 120 trees, max depth of 12, minimum leaf size of 20, and balanced subsampling. These controls matter because I do not want to judge a model only by how closely it fits the training data. The validation set is used for model selection, while the test set remains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0.95 minutes
Because charge-offs are rare, accuracy is not enough. PR-AUC is the primary comparison metric because it directly focuses on the positive class and evaluates the precision-recall trade-off across thresholds. ROC-AUC is also useful because it measures ranking separation, but it can look strong even when the positive class is rare. Once I choose a threshold, I report precision, recall, and F1. Precision tells us how efficient the flagged group is: of the loans the model flags, how many actually charge off. Recall tells us how many actual charge-offs we catch. F1 balances precision and recall and is used for the first threshold choice. Confusion matrices help translate the metrics into actual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 minutes
This is the core model selection slide. I compared Dummy, Logistic Regression, Decision Tree, and Random Forest. Random Forest has the highest validation PR-AUC at 0.337, so it is selected. Decision Tree has the highest validation ROC-AUC at 0.921, but PR-AUC is the primary metric because charge-offs are rare and I care about ranking the positive class. The Random Forest train PR-AUC is 0.459 and validation PR-AUC is 0.337, giving a gap of 0.122. That gap means the model fits the training data more strongly than the validation data, so I later check generalization with a learning curve. Even with that caveat, Random Forest is clearly strongest on the metric that matters most for this rare-event screening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0.9 minutes
Before choosing a cutoff, I look at the validation precision-recall and ROC curves. These curves show how the selected Random Forest behaves across many possible thresholds. The precision-recall curve is especially important because it focuses on the rare charge-off class. The ROC curve shows that the model has strong separation overall, but the threshold still matters because different cutoffs create very different business trade-offs. At this point, the test set is still locked. The next step is to choose a decision threshold on validation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 minutes
After choosing Random Forest, I converted predicted probabilities into a binary review flag. I selected the threshold on validation data using the F1 score, not on the test set. The chosen threshold is 0.690. At that cutoff, validation precision is 33.2 percent, recall is 55.7 percent, and F1 is 41.6 percent. The validation confusion matrix shows 2,234 true positives, 4,496 false positives, 1,776 false negatives, and 87,347 true negatives. In business terms, the model flags 6,730 loans for review, and 2,234 of those actually charge off within five years. The model is not saying every flagged loan will fail. It is selecting a group that is much richer in risk than the overall validation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1.05 minutes
This is the final evaluation on the locked future test set. The test set contains 54,249 loans, and the five-year charge-off rate is 2.36 percent. Random Forest achieved a test PR-AUC of 0.352 and a ROC-AUC of 0.931. At the threshold selected from validation data, test precision is 42.6 percent, recall is 31.4 percent, and F1 is 36.2 percent. The confusion matrix shows 402 true positives, 542 false positives, 878 false negatives, and 52,427 true negatives. Another way to interpret this is that the model flagged 944 loans in the test set, and 402 of them actually charged off within five years. That is a much higher risk concentration than the overall test base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0.95 minutes
This slide translates the test results into a business interpretation. The overall test charge-off rate is 2.36 percent. Among loans flagged by the model, precision is 42.6 percent. That is about eighteen times the base rate, so the model is clearly concentrating risk into a smaller review group. This is useful if the goal is to prioritize human review or portfolio monitoring. However, recall is only 31.4 percent, meaning the model still misses a majority of charge-offs. That is why I do not position it as an automatic underwriting system. It is better understood as a ranking tool that can help decide where to spend additional review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0.95 minutes
The learning curve uses up to one hundred thousand training rows as a diagnostic. Training PR-AUC is consistently higher than validation PR-AUC, so there is some overfitting. However, the train-validation gap gets smaller as more training data is used. The gap falls from about 0.218 with twenty-five thousand rows to about 0.174 with one hundred thousand rows. This suggests the model benefits from additional data, but it still needs further tuning or additional complexity controls if the goal is stronger generalization. The final model still uses the full development data before the locked test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 minutes
Because the selected model is Random Forest, I interpret it using feature importance rather than logistic regression coefficients. The strongest feature is term_months, with importance around 0.594. Initial interest rate and log gross approval amount are next, followed by guarantee percentage, collateral indicators, and approval year. This fits the EDA story: loan structure and pricing are important signals. However, feature importance is predictive, not causal. A variable can be important because it helps split and rank the data, but that does not mean changing the variable would directly cause a lower or higher charge-off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 minutes
The error analysis helps show what the aggregate metrics hide. On validation data, there are 4,496 false positives and 1,777 false negatives. False negatives are the risk misses: loans that actually charged off but were scored below the threshold. False positives are loans flagged as high risk that did not charge off within five years. False positives are not necessarily useless if the action is additional monitoring, because the cost of review may be lower than the cost of a charge-off. The notebook also identifies NAICS sectors with higher validation error rates, including 48, 42, 71, 23, and 61. This may reflect different industry risk dynamics or borrower characteristics that are not directly observed in the public SBA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0.95 minutes
The biggest limitation is that charge-off prediction is inherently difficult with this dataset. The event is rare, and the public SBA fields are not a full credit file. The dataset does not include borrower financial statements, FICO scores, debt-service coverage ratios, collateral values, or detailed lender behavior. The model can learn patterns from approval-time public data, but it cannot see many variables that a lender would normally use in underwriting. Another limitation is temporal drift. If interest rates, underwriting standards, or macroeconomic conditions change, model performance can change. For next steps, I would add borrower financial ratios, lender-level variables, and macroeconomic context. I would also calibrate probabilities, evaluate decile lift, and choose thresholds using a business cost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0.9 minutes
To conclude, this project shows an end-to-end credit-risk workflow. I built a valid five-year charge-off target, avoided leakage, split the data by time, compared models on validation data, selected Random Forest, and evaluated once on a locked future test set. The final model has useful risk-ranking power. Its test precision is 42.6 percent, compared with a test base charge-off rate of only 2.36 percent. That means flagged loans are much more concentrated in risk than the average loan. However, recall is only 31.4 percent, so the model still misses many charge-offs. My final conclusion is that the model is useful for risk ranking and review prioritization, but it should not be used as a standalone approval or denial system. Thank you, and I am happy to answer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607"/>
        </a:solidFill>
      </p:bgPr>
    </p:bg>
    <p:spTree>
      <p:nvGrpSpPr>
        <p:cNvPr id="1" name=""/>
        <p:cNvGrpSpPr/>
        <p:nvPr/>
      </p:nvGrpSpPr>
      <p:grpSpPr>
        <a:xfrm>
          <a:off x="0" y="0"/>
          <a:ext cx="0" cy="0"/>
          <a:chOff x="0" y="0"/>
          <a:chExt cx="0" cy="0"/>
        </a:xfrm>
      </p:grpSpPr>
      <p:pic>
        <p:nvPicPr>
          <p:cNvPr id="2" name="Image 0" descr="/mnt/data/sample_ppt_extract/ppt/media/dark_image1.jpeg">    </p:cNvPr>
          <p:cNvPicPr>
            <a:picLocks noChangeAspect="1"/>
          </p:cNvPicPr>
          <p:nvPr/>
        </p:nvPicPr>
        <p:blipFill>
          <a:blip r:embed="rId1"/>
          <a:srcRect l="0" r="0" t="4004" b="4004"/>
          <a:stretch/>
        </p:blipFill>
        <p:spPr>
          <a:xfrm>
            <a:off x="0" y="0"/>
            <a:ext cx="12191695" cy="6858000"/>
          </a:xfrm>
          <a:prstGeom prst="rect">
            <a:avLst/>
          </a:prstGeom>
        </p:spPr>
      </p:pic>
      <p:sp>
        <p:nvSpPr>
          <p:cNvPr id="3" name="Shape 0"/>
          <p:cNvSpPr/>
          <p:nvPr/>
        </p:nvSpPr>
        <p:spPr>
          <a:xfrm>
            <a:off x="201168" y="256032"/>
            <a:ext cx="50292" cy="6263640"/>
          </a:xfrm>
          <a:prstGeom prst="rect">
            <a:avLst/>
          </a:prstGeom>
          <a:solidFill>
            <a:srgbClr val="9DFF00"/>
          </a:solidFill>
          <a:ln w="12700">
            <a:solidFill>
              <a:srgbClr val="333333">
                <a:alpha val="0"/>
              </a:srgbClr>
            </a:solidFill>
            <a:prstDash val="solid"/>
          </a:ln>
        </p:spPr>
      </p:sp>
      <p:sp>
        <p:nvSpPr>
          <p:cNvPr id="4" name="Text 1"/>
          <p:cNvSpPr/>
          <p:nvPr/>
        </p:nvSpPr>
        <p:spPr>
          <a:xfrm>
            <a:off x="566928" y="786384"/>
            <a:ext cx="8183880" cy="1234440"/>
          </a:xfrm>
          <a:prstGeom prst="rect">
            <a:avLst/>
          </a:prstGeom>
          <a:noFill/>
          <a:ln/>
        </p:spPr>
        <p:txBody>
          <a:bodyPr wrap="square" lIns="254" tIns="254" rIns="254" bIns="254" rtlCol="0" anchor="t">
            <a:normAutofit/>
          </a:bodyPr>
          <a:lstStyle/>
          <a:p>
            <a:pPr algn="l" indent="0" marL="0">
              <a:buNone/>
            </a:pPr>
            <a:r>
              <a:rPr lang="en-US" sz="3400" b="1" dirty="0">
                <a:solidFill>
                  <a:srgbClr val="FFFFFF"/>
                </a:solidFill>
                <a:latin typeface="Aptos" pitchFamily="34" charset="0"/>
                <a:ea typeface="Aptos" pitchFamily="34" charset="-122"/>
                <a:cs typeface="Aptos" pitchFamily="34" charset="-120"/>
              </a:rPr>
              <a:t>PREDICTING 5-YEAR</a:t>
            </a:r>
            <a:endParaRPr lang="en-US" sz="3400" dirty="0"/>
          </a:p>
          <a:p>
            <a:pPr algn="l" indent="0" marL="0">
              <a:buNone/>
            </a:pPr>
            <a:r>
              <a:rPr lang="en-US" sz="3400" b="1" dirty="0">
                <a:solidFill>
                  <a:srgbClr val="FFFFFF"/>
                </a:solidFill>
                <a:latin typeface="Aptos" pitchFamily="34" charset="0"/>
                <a:ea typeface="Aptos" pitchFamily="34" charset="-122"/>
                <a:cs typeface="Aptos" pitchFamily="34" charset="-120"/>
              </a:rPr>
              <a:t>CHARGE-OFF RISK</a:t>
            </a:r>
            <a:endParaRPr lang="en-US" sz="3400" dirty="0"/>
          </a:p>
        </p:txBody>
      </p:sp>
      <p:sp>
        <p:nvSpPr>
          <p:cNvPr id="5" name="Text 2"/>
          <p:cNvSpPr/>
          <p:nvPr/>
        </p:nvSpPr>
        <p:spPr>
          <a:xfrm>
            <a:off x="594360" y="2249424"/>
            <a:ext cx="6766560" cy="292608"/>
          </a:xfrm>
          <a:prstGeom prst="rect">
            <a:avLst/>
          </a:prstGeom>
          <a:noFill/>
          <a:ln/>
        </p:spPr>
        <p:txBody>
          <a:bodyPr wrap="square" lIns="254" tIns="254" rIns="254" bIns="254" rtlCol="0" anchor="t">
            <a:normAutofit/>
          </a:bodyPr>
          <a:lstStyle/>
          <a:p>
            <a:pPr algn="l" indent="0" marL="0">
              <a:buNone/>
            </a:pPr>
            <a:r>
              <a:rPr lang="en-US" sz="1450" dirty="0">
                <a:solidFill>
                  <a:srgbClr val="C4CDC6"/>
                </a:solidFill>
                <a:latin typeface="Aptos" pitchFamily="34" charset="0"/>
                <a:ea typeface="Aptos" pitchFamily="34" charset="-122"/>
                <a:cs typeface="Aptos" pitchFamily="34" charset="-120"/>
              </a:rPr>
              <a:t>SBA 7(a) Loan Approvals | DATA 400 Mini Project</a:t>
            </a:r>
            <a:endParaRPr lang="en-US" sz="1450" dirty="0"/>
          </a:p>
        </p:txBody>
      </p:sp>
      <p:sp>
        <p:nvSpPr>
          <p:cNvPr id="6" name="Shape 3"/>
          <p:cNvSpPr/>
          <p:nvPr/>
        </p:nvSpPr>
        <p:spPr>
          <a:xfrm>
            <a:off x="594360" y="2761488"/>
            <a:ext cx="3246120" cy="292608"/>
          </a:xfrm>
          <a:prstGeom prst="roundRect">
            <a:avLst>
              <a:gd name="adj" fmla="val 25000"/>
            </a:avLst>
          </a:prstGeom>
          <a:solidFill>
            <a:srgbClr val="9DFF00"/>
          </a:solidFill>
          <a:ln w="12700">
            <a:solidFill>
              <a:srgbClr val="333333">
                <a:alpha val="0"/>
              </a:srgbClr>
            </a:solidFill>
            <a:prstDash val="solid"/>
          </a:ln>
        </p:spPr>
      </p:sp>
      <p:sp>
        <p:nvSpPr>
          <p:cNvPr id="7" name="Text 4"/>
          <p:cNvSpPr/>
          <p:nvPr/>
        </p:nvSpPr>
        <p:spPr>
          <a:xfrm>
            <a:off x="658368" y="2834640"/>
            <a:ext cx="3118104" cy="137160"/>
          </a:xfrm>
          <a:prstGeom prst="rect">
            <a:avLst/>
          </a:prstGeom>
          <a:noFill/>
          <a:ln/>
        </p:spPr>
        <p:txBody>
          <a:bodyPr wrap="square" lIns="254" tIns="254" rIns="254" bIns="254" rtlCol="0" anchor="t">
            <a:normAutofit/>
          </a:bodyPr>
          <a:lstStyle/>
          <a:p>
            <a:pPr algn="ctr" indent="0" marL="0">
              <a:buNone/>
            </a:pPr>
            <a:r>
              <a:rPr lang="en-US" sz="780" b="1" dirty="0">
                <a:solidFill>
                  <a:srgbClr val="050607"/>
                </a:solidFill>
                <a:latin typeface="Aptos" pitchFamily="34" charset="0"/>
                <a:ea typeface="Aptos" pitchFamily="34" charset="-122"/>
                <a:cs typeface="Aptos" pitchFamily="34" charset="-120"/>
              </a:rPr>
              <a:t>Random Forest selected on validation PR-AUC</a:t>
            </a:r>
            <a:endParaRPr lang="en-US" sz="780" dirty="0"/>
          </a:p>
        </p:txBody>
      </p:sp>
      <p:sp>
        <p:nvSpPr>
          <p:cNvPr id="8" name="Shape 5"/>
          <p:cNvSpPr/>
          <p:nvPr/>
        </p:nvSpPr>
        <p:spPr>
          <a:xfrm>
            <a:off x="4160520" y="2761488"/>
            <a:ext cx="2606040" cy="292608"/>
          </a:xfrm>
          <a:prstGeom prst="roundRect">
            <a:avLst>
              <a:gd name="adj" fmla="val 25000"/>
            </a:avLst>
          </a:prstGeom>
          <a:solidFill>
            <a:srgbClr val="222822"/>
          </a:solidFill>
          <a:ln w="12700">
            <a:solidFill>
              <a:srgbClr val="333333">
                <a:alpha val="0"/>
              </a:srgbClr>
            </a:solidFill>
            <a:prstDash val="solid"/>
          </a:ln>
        </p:spPr>
      </p:sp>
      <p:sp>
        <p:nvSpPr>
          <p:cNvPr id="9" name="Text 6"/>
          <p:cNvSpPr/>
          <p:nvPr/>
        </p:nvSpPr>
        <p:spPr>
          <a:xfrm>
            <a:off x="4224528" y="2834640"/>
            <a:ext cx="2478024" cy="137160"/>
          </a:xfrm>
          <a:prstGeom prst="rect">
            <a:avLst/>
          </a:prstGeom>
          <a:noFill/>
          <a:ln/>
        </p:spPr>
        <p:txBody>
          <a:bodyPr wrap="square" lIns="254" tIns="254" rIns="254" bIns="254" rtlCol="0" anchor="t">
            <a:normAutofit/>
          </a:bodyPr>
          <a:lstStyle/>
          <a:p>
            <a:pPr algn="ctr" indent="0" marL="0">
              <a:buNone/>
            </a:pPr>
            <a:r>
              <a:rPr lang="en-US" sz="780" b="1" dirty="0">
                <a:solidFill>
                  <a:srgbClr val="9DFF00"/>
                </a:solidFill>
                <a:latin typeface="Aptos" pitchFamily="34" charset="0"/>
                <a:ea typeface="Aptos" pitchFamily="34" charset="-122"/>
                <a:cs typeface="Aptos" pitchFamily="34" charset="-120"/>
              </a:rPr>
              <a:t>End-to-end credit-risk workflow</a:t>
            </a:r>
            <a:endParaRPr lang="en-US" sz="780" dirty="0"/>
          </a:p>
        </p:txBody>
      </p:sp>
      <p:sp>
        <p:nvSpPr>
          <p:cNvPr id="10" name="Text 7"/>
          <p:cNvSpPr/>
          <p:nvPr/>
        </p:nvSpPr>
        <p:spPr>
          <a:xfrm>
            <a:off x="6492240" y="3712464"/>
            <a:ext cx="1645920" cy="347472"/>
          </a:xfrm>
          <a:prstGeom prst="rect">
            <a:avLst/>
          </a:prstGeom>
          <a:noFill/>
          <a:ln/>
        </p:spPr>
        <p:txBody>
          <a:bodyPr wrap="square" lIns="254" tIns="254" rIns="254" bIns="254" rtlCol="0" anchor="t">
            <a:normAutofit/>
          </a:bodyPr>
          <a:lstStyle/>
          <a:p>
            <a:pPr algn="ctr" indent="0" marL="0">
              <a:buNone/>
            </a:pPr>
            <a:r>
              <a:rPr lang="en-US" sz="2100" b="1" dirty="0">
                <a:solidFill>
                  <a:srgbClr val="9DFF00"/>
                </a:solidFill>
                <a:latin typeface="Aptos" pitchFamily="34" charset="0"/>
                <a:ea typeface="Aptos" pitchFamily="34" charset="-122"/>
                <a:cs typeface="Aptos" pitchFamily="34" charset="-120"/>
              </a:rPr>
              <a:t>543,110</a:t>
            </a:r>
            <a:endParaRPr lang="en-US" sz="2100" dirty="0"/>
          </a:p>
        </p:txBody>
      </p:sp>
      <p:sp>
        <p:nvSpPr>
          <p:cNvPr id="11" name="Text 8"/>
          <p:cNvSpPr/>
          <p:nvPr/>
        </p:nvSpPr>
        <p:spPr>
          <a:xfrm>
            <a:off x="6492240" y="4096512"/>
            <a:ext cx="1645920" cy="329184"/>
          </a:xfrm>
          <a:prstGeom prst="rect">
            <a:avLst/>
          </a:prstGeom>
          <a:noFill/>
          <a:ln/>
        </p:spPr>
        <p:txBody>
          <a:bodyPr wrap="square" lIns="254" tIns="254" rIns="254" bIns="254" rtlCol="0" anchor="t">
            <a:normAutofit/>
          </a:bodyPr>
          <a:lstStyle/>
          <a:p>
            <a:pPr algn="ctr" indent="0" marL="0">
              <a:buNone/>
            </a:pPr>
            <a:r>
              <a:rPr lang="en-US" sz="840" dirty="0">
                <a:solidFill>
                  <a:srgbClr val="C4CDC6"/>
                </a:solidFill>
                <a:latin typeface="Aptos" pitchFamily="34" charset="0"/>
                <a:ea typeface="Aptos" pitchFamily="34" charset="-122"/>
                <a:cs typeface="Aptos" pitchFamily="34" charset="-120"/>
              </a:rPr>
              <a:t>model-ready loans</a:t>
            </a:r>
            <a:endParaRPr lang="en-US" sz="840" dirty="0"/>
          </a:p>
        </p:txBody>
      </p:sp>
      <p:sp>
        <p:nvSpPr>
          <p:cNvPr id="12" name="Text 9"/>
          <p:cNvSpPr/>
          <p:nvPr/>
        </p:nvSpPr>
        <p:spPr>
          <a:xfrm>
            <a:off x="8503920" y="3712464"/>
            <a:ext cx="1828800" cy="347472"/>
          </a:xfrm>
          <a:prstGeom prst="rect">
            <a:avLst/>
          </a:prstGeom>
          <a:noFill/>
          <a:ln/>
        </p:spPr>
        <p:txBody>
          <a:bodyPr wrap="square" lIns="254" tIns="254" rIns="254" bIns="254" rtlCol="0" anchor="t">
            <a:normAutofit/>
          </a:bodyPr>
          <a:lstStyle/>
          <a:p>
            <a:pPr algn="ctr" indent="0" marL="0">
              <a:buNone/>
            </a:pPr>
            <a:r>
              <a:rPr lang="en-US" sz="2100" b="1" dirty="0">
                <a:solidFill>
                  <a:srgbClr val="9DFF00"/>
                </a:solidFill>
                <a:latin typeface="Aptos" pitchFamily="34" charset="0"/>
                <a:ea typeface="Aptos" pitchFamily="34" charset="-122"/>
                <a:cs typeface="Aptos" pitchFamily="34" charset="-120"/>
              </a:rPr>
              <a:t>3.76%</a:t>
            </a:r>
            <a:endParaRPr lang="en-US" sz="2100" dirty="0"/>
          </a:p>
        </p:txBody>
      </p:sp>
      <p:sp>
        <p:nvSpPr>
          <p:cNvPr id="13" name="Text 10"/>
          <p:cNvSpPr/>
          <p:nvPr/>
        </p:nvSpPr>
        <p:spPr>
          <a:xfrm>
            <a:off x="8503920" y="4096512"/>
            <a:ext cx="1828800" cy="329184"/>
          </a:xfrm>
          <a:prstGeom prst="rect">
            <a:avLst/>
          </a:prstGeom>
          <a:noFill/>
          <a:ln/>
        </p:spPr>
        <p:txBody>
          <a:bodyPr wrap="square" lIns="254" tIns="254" rIns="254" bIns="254" rtlCol="0" anchor="t">
            <a:normAutofit/>
          </a:bodyPr>
          <a:lstStyle/>
          <a:p>
            <a:pPr algn="ctr" indent="0" marL="0">
              <a:buNone/>
            </a:pPr>
            <a:r>
              <a:rPr lang="en-US" sz="840" dirty="0">
                <a:solidFill>
                  <a:srgbClr val="C4CDC6"/>
                </a:solidFill>
                <a:latin typeface="Aptos" pitchFamily="34" charset="0"/>
                <a:ea typeface="Aptos" pitchFamily="34" charset="-122"/>
                <a:cs typeface="Aptos" pitchFamily="34" charset="-120"/>
              </a:rPr>
              <a:t>overall 5-year charge-off rate</a:t>
            </a:r>
            <a:endParaRPr lang="en-US" sz="840" dirty="0"/>
          </a:p>
        </p:txBody>
      </p:sp>
      <p:sp>
        <p:nvSpPr>
          <p:cNvPr id="14" name="Text 11"/>
          <p:cNvSpPr/>
          <p:nvPr/>
        </p:nvSpPr>
        <p:spPr>
          <a:xfrm>
            <a:off x="7178040" y="4892040"/>
            <a:ext cx="1325880" cy="347472"/>
          </a:xfrm>
          <a:prstGeom prst="rect">
            <a:avLst/>
          </a:prstGeom>
          <a:noFill/>
          <a:ln/>
        </p:spPr>
        <p:txBody>
          <a:bodyPr wrap="square" lIns="254" tIns="254" rIns="254" bIns="254" rtlCol="0" anchor="t">
            <a:normAutofit/>
          </a:bodyPr>
          <a:lstStyle/>
          <a:p>
            <a:pPr algn="ctr" indent="0" marL="0">
              <a:buNone/>
            </a:pPr>
            <a:r>
              <a:rPr lang="en-US" sz="2100" b="1" dirty="0">
                <a:solidFill>
                  <a:srgbClr val="9DFF00"/>
                </a:solidFill>
                <a:latin typeface="Aptos" pitchFamily="34" charset="0"/>
                <a:ea typeface="Aptos" pitchFamily="34" charset="-122"/>
                <a:cs typeface="Aptos" pitchFamily="34" charset="-120"/>
              </a:rPr>
              <a:t>0.352</a:t>
            </a:r>
            <a:endParaRPr lang="en-US" sz="2100" dirty="0"/>
          </a:p>
        </p:txBody>
      </p:sp>
      <p:sp>
        <p:nvSpPr>
          <p:cNvPr id="15" name="Text 12"/>
          <p:cNvSpPr/>
          <p:nvPr/>
        </p:nvSpPr>
        <p:spPr>
          <a:xfrm>
            <a:off x="7178040" y="5276088"/>
            <a:ext cx="1325880" cy="329184"/>
          </a:xfrm>
          <a:prstGeom prst="rect">
            <a:avLst/>
          </a:prstGeom>
          <a:noFill/>
          <a:ln/>
        </p:spPr>
        <p:txBody>
          <a:bodyPr wrap="square" lIns="254" tIns="254" rIns="254" bIns="254" rtlCol="0" anchor="t">
            <a:normAutofit/>
          </a:bodyPr>
          <a:lstStyle/>
          <a:p>
            <a:pPr algn="ctr" indent="0" marL="0">
              <a:buNone/>
            </a:pPr>
            <a:r>
              <a:rPr lang="en-US" sz="840" dirty="0">
                <a:solidFill>
                  <a:srgbClr val="C4CDC6"/>
                </a:solidFill>
                <a:latin typeface="Aptos" pitchFamily="34" charset="0"/>
                <a:ea typeface="Aptos" pitchFamily="34" charset="-122"/>
                <a:cs typeface="Aptos" pitchFamily="34" charset="-120"/>
              </a:rPr>
              <a:t>test PR-AUC</a:t>
            </a:r>
            <a:endParaRPr lang="en-US" sz="840" dirty="0"/>
          </a:p>
        </p:txBody>
      </p:sp>
      <p:sp>
        <p:nvSpPr>
          <p:cNvPr id="16" name="Text 13"/>
          <p:cNvSpPr/>
          <p:nvPr/>
        </p:nvSpPr>
        <p:spPr>
          <a:xfrm>
            <a:off x="8887968" y="4892040"/>
            <a:ext cx="1325880" cy="347472"/>
          </a:xfrm>
          <a:prstGeom prst="rect">
            <a:avLst/>
          </a:prstGeom>
          <a:noFill/>
          <a:ln/>
        </p:spPr>
        <p:txBody>
          <a:bodyPr wrap="square" lIns="254" tIns="254" rIns="254" bIns="254" rtlCol="0" anchor="t">
            <a:normAutofit/>
          </a:bodyPr>
          <a:lstStyle/>
          <a:p>
            <a:pPr algn="ctr" indent="0" marL="0">
              <a:buNone/>
            </a:pPr>
            <a:r>
              <a:rPr lang="en-US" sz="2100" b="1" dirty="0">
                <a:solidFill>
                  <a:srgbClr val="9DFF00"/>
                </a:solidFill>
                <a:latin typeface="Aptos" pitchFamily="34" charset="0"/>
                <a:ea typeface="Aptos" pitchFamily="34" charset="-122"/>
                <a:cs typeface="Aptos" pitchFamily="34" charset="-120"/>
              </a:rPr>
              <a:t>0.931</a:t>
            </a:r>
            <a:endParaRPr lang="en-US" sz="2100" dirty="0"/>
          </a:p>
        </p:txBody>
      </p:sp>
      <p:sp>
        <p:nvSpPr>
          <p:cNvPr id="17" name="Text 14"/>
          <p:cNvSpPr/>
          <p:nvPr/>
        </p:nvSpPr>
        <p:spPr>
          <a:xfrm>
            <a:off x="8887968" y="5276088"/>
            <a:ext cx="1325880" cy="329184"/>
          </a:xfrm>
          <a:prstGeom prst="rect">
            <a:avLst/>
          </a:prstGeom>
          <a:noFill/>
          <a:ln/>
        </p:spPr>
        <p:txBody>
          <a:bodyPr wrap="square" lIns="254" tIns="254" rIns="254" bIns="254" rtlCol="0" anchor="t">
            <a:normAutofit/>
          </a:bodyPr>
          <a:lstStyle/>
          <a:p>
            <a:pPr algn="ctr" indent="0" marL="0">
              <a:buNone/>
            </a:pPr>
            <a:r>
              <a:rPr lang="en-US" sz="840" dirty="0">
                <a:solidFill>
                  <a:srgbClr val="C4CDC6"/>
                </a:solidFill>
                <a:latin typeface="Aptos" pitchFamily="34" charset="0"/>
                <a:ea typeface="Aptos" pitchFamily="34" charset="-122"/>
                <a:cs typeface="Aptos" pitchFamily="34" charset="-120"/>
              </a:rPr>
              <a:t>test ROC-AUC</a:t>
            </a:r>
            <a:endParaRPr lang="en-US" sz="840" dirty="0"/>
          </a:p>
        </p:txBody>
      </p:sp>
      <p:sp>
        <p:nvSpPr>
          <p:cNvPr id="18" name="Text 15"/>
          <p:cNvSpPr/>
          <p:nvPr/>
        </p:nvSpPr>
        <p:spPr>
          <a:xfrm>
            <a:off x="594360" y="6053328"/>
            <a:ext cx="3840480" cy="256032"/>
          </a:xfrm>
          <a:prstGeom prst="rect">
            <a:avLst/>
          </a:prstGeom>
          <a:noFill/>
          <a:ln/>
        </p:spPr>
        <p:txBody>
          <a:bodyPr wrap="square" lIns="254" tIns="254" rIns="254" bIns="254" rtlCol="0" anchor="t">
            <a:normAutofit/>
          </a:bodyPr>
          <a:lstStyle/>
          <a:p>
            <a:pPr algn="l" indent="0" marL="0">
              <a:buNone/>
            </a:pPr>
            <a:r>
              <a:rPr lang="en-US" sz="1130" dirty="0">
                <a:solidFill>
                  <a:srgbClr val="FFFFFF"/>
                </a:solidFill>
                <a:latin typeface="Aptos" pitchFamily="34" charset="0"/>
                <a:ea typeface="Aptos" pitchFamily="34" charset="-122"/>
                <a:cs typeface="Aptos" pitchFamily="34" charset="-120"/>
              </a:rPr>
              <a:t>Prepared by: Chau Pham</a:t>
            </a:r>
            <a:endParaRPr lang="en-US" sz="1130" dirty="0"/>
          </a:p>
        </p:txBody>
      </p:sp>
      <p:sp>
        <p:nvSpPr>
          <p:cNvPr id="19" name="Text 16"/>
          <p:cNvSpPr/>
          <p:nvPr/>
        </p:nvSpPr>
        <p:spPr>
          <a:xfrm>
            <a:off x="566928" y="6473952"/>
            <a:ext cx="6217920" cy="201168"/>
          </a:xfrm>
          <a:prstGeom prst="rect">
            <a:avLst/>
          </a:prstGeom>
          <a:noFill/>
          <a:ln/>
        </p:spPr>
        <p:txBody>
          <a:bodyPr wrap="square" lIns="0" tIns="0" rIns="0" bIns="0" rtlCol="0" anchor="ctr"/>
          <a:lstStyle/>
          <a:p>
            <a:pPr indent="0" marL="0">
              <a:buNone/>
            </a:pPr>
            <a:r>
              <a:rPr lang="en-US" sz="740" dirty="0">
                <a:solidFill>
                  <a:srgbClr val="C4CDC6"/>
                </a:solidFill>
              </a:rPr>
              <a:t>DATA 400 | SBA 7(a) Credit-Risk Mini Project</a:t>
            </a:r>
            <a:endParaRPr lang="en-US" sz="740" dirty="0"/>
          </a:p>
        </p:txBody>
      </p:sp>
      <p:sp>
        <p:nvSpPr>
          <p:cNvPr id="20" name="Text 17"/>
          <p:cNvSpPr/>
          <p:nvPr/>
        </p:nvSpPr>
        <p:spPr>
          <a:xfrm>
            <a:off x="11082528" y="6455664"/>
            <a:ext cx="502920" cy="201168"/>
          </a:xfrm>
          <a:prstGeom prst="rect">
            <a:avLst/>
          </a:prstGeom>
          <a:noFill/>
          <a:ln/>
        </p:spPr>
        <p:txBody>
          <a:bodyPr wrap="square" lIns="0" tIns="0" rIns="0" bIns="0" rtlCol="0" anchor="ctr"/>
          <a:lstStyle/>
          <a:p>
            <a:pPr algn="r" indent="0" marL="0">
              <a:buNone/>
            </a:pPr>
            <a:r>
              <a:rPr lang="en-US" sz="800" b="1" dirty="0">
                <a:solidFill>
                  <a:srgbClr val="9DFF00"/>
                </a:solidFill>
              </a:rPr>
              <a:t>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607"/>
        </a:solidFill>
      </p:bgPr>
    </p:bg>
    <p:spTree>
      <p:nvGrpSpPr>
        <p:cNvPr id="1" name=""/>
        <p:cNvGrpSpPr/>
        <p:nvPr/>
      </p:nvGrpSpPr>
      <p:grpSpPr>
        <a:xfrm>
          <a:off x="0" y="0"/>
          <a:ext cx="0" cy="0"/>
          <a:chOff x="0" y="0"/>
          <a:chExt cx="0" cy="0"/>
        </a:xfrm>
      </p:grpSpPr>
      <p:pic>
        <p:nvPicPr>
          <p:cNvPr id="2" name="Image 0" descr="/mnt/data/sample_ppt_extract/ppt/media/dark_image5.jpeg">    </p:cNvPr>
          <p:cNvPicPr>
            <a:picLocks noChangeAspect="1"/>
          </p:cNvPicPr>
          <p:nvPr/>
        </p:nvPicPr>
        <p:blipFill>
          <a:blip r:embed="rId1"/>
          <a:srcRect l="0" r="0" t="7811" b="7811"/>
          <a:stretch/>
        </p:blipFill>
        <p:spPr>
          <a:xfrm>
            <a:off x="0" y="0"/>
            <a:ext cx="12191695" cy="6858000"/>
          </a:xfrm>
          <a:prstGeom prst="rect">
            <a:avLst/>
          </a:prstGeom>
        </p:spPr>
      </p:pic>
      <p:sp>
        <p:nvSpPr>
          <p:cNvPr id="3" name="Shape 0"/>
          <p:cNvSpPr/>
          <p:nvPr/>
        </p:nvSpPr>
        <p:spPr>
          <a:xfrm>
            <a:off x="201168" y="256032"/>
            <a:ext cx="50292" cy="6263640"/>
          </a:xfrm>
          <a:prstGeom prst="rect">
            <a:avLst/>
          </a:prstGeom>
          <a:solidFill>
            <a:srgbClr val="9DFF00"/>
          </a:solidFill>
          <a:ln w="12700">
            <a:solidFill>
              <a:srgbClr val="333333">
                <a:alpha val="0"/>
              </a:srgbClr>
            </a:solidFill>
            <a:prstDash val="solid"/>
          </a:ln>
        </p:spPr>
      </p:sp>
      <p:sp>
        <p:nvSpPr>
          <p:cNvPr id="4" name="Text 1"/>
          <p:cNvSpPr/>
          <p:nvPr/>
        </p:nvSpPr>
        <p:spPr>
          <a:xfrm>
            <a:off x="566928" y="310896"/>
            <a:ext cx="4754880" cy="228600"/>
          </a:xfrm>
          <a:prstGeom prst="rect">
            <a:avLst/>
          </a:prstGeom>
          <a:noFill/>
          <a:ln/>
        </p:spPr>
        <p:txBody>
          <a:bodyPr wrap="square" lIns="0" tIns="0" rIns="0" bIns="0" rtlCol="0" anchor="ctr">
            <a:normAutofit/>
          </a:bodyPr>
          <a:lstStyle/>
          <a:p>
            <a:pPr indent="0" marL="0">
              <a:buNone/>
            </a:pPr>
            <a:r>
              <a:rPr lang="en-US" sz="850" b="1" dirty="0">
                <a:solidFill>
                  <a:srgbClr val="9DFF00"/>
                </a:solidFill>
                <a:latin typeface="Aptos" pitchFamily="34" charset="0"/>
                <a:ea typeface="Aptos" pitchFamily="34" charset="-122"/>
                <a:cs typeface="Aptos" pitchFamily="34" charset="-120"/>
              </a:rPr>
              <a:t>PRESENTATION MAP</a:t>
            </a:r>
            <a:endParaRPr lang="en-US" sz="850" dirty="0"/>
          </a:p>
        </p:txBody>
      </p:sp>
      <p:sp>
        <p:nvSpPr>
          <p:cNvPr id="5" name="Text 2"/>
          <p:cNvSpPr/>
          <p:nvPr/>
        </p:nvSpPr>
        <p:spPr>
          <a:xfrm>
            <a:off x="566928" y="621792"/>
            <a:ext cx="10652760" cy="566928"/>
          </a:xfrm>
          <a:prstGeom prst="rect">
            <a:avLst/>
          </a:prstGeom>
          <a:noFill/>
          <a:ln/>
        </p:spPr>
        <p:txBody>
          <a:bodyPr wrap="square" lIns="0" tIns="0" rIns="0" bIns="0" rtlCol="0" anchor="ctr">
            <a:normAutofit/>
          </a:bodyPr>
          <a:lstStyle/>
          <a:p>
            <a:pPr indent="0" marL="0">
              <a:buNone/>
            </a:pPr>
            <a:r>
              <a:rPr lang="en-US" sz="2450" b="1" dirty="0">
                <a:solidFill>
                  <a:srgbClr val="FFFFFF"/>
                </a:solidFill>
                <a:latin typeface="Aptos Display" pitchFamily="34" charset="0"/>
                <a:ea typeface="Aptos Display" pitchFamily="34" charset="-122"/>
                <a:cs typeface="Aptos Display" pitchFamily="34" charset="-120"/>
              </a:rPr>
              <a:t>The logic of the project from data to decision use</a:t>
            </a:r>
            <a:endParaRPr lang="en-US" sz="2450" dirty="0"/>
          </a:p>
        </p:txBody>
      </p:sp>
      <p:sp>
        <p:nvSpPr>
          <p:cNvPr id="6" name="Shape 3"/>
          <p:cNvSpPr/>
          <p:nvPr/>
        </p:nvSpPr>
        <p:spPr>
          <a:xfrm>
            <a:off x="566928" y="1307592"/>
            <a:ext cx="10716768" cy="0"/>
          </a:xfrm>
          <a:prstGeom prst="line">
            <a:avLst/>
          </a:prstGeom>
          <a:noFill/>
          <a:ln w="13335">
            <a:solidFill>
              <a:srgbClr val="9DFF00">
                <a:alpha val="95000"/>
              </a:srgbClr>
            </a:solidFill>
            <a:prstDash val="solid"/>
          </a:ln>
        </p:spPr>
      </p:sp>
      <p:sp>
        <p:nvSpPr>
          <p:cNvPr id="7" name="Shape 4"/>
          <p:cNvSpPr/>
          <p:nvPr/>
        </p:nvSpPr>
        <p:spPr>
          <a:xfrm>
            <a:off x="731520" y="1691640"/>
            <a:ext cx="3337560" cy="3840480"/>
          </a:xfrm>
          <a:prstGeom prst="roundRect">
            <a:avLst>
              <a:gd name="adj" fmla="val 2192"/>
            </a:avLst>
          </a:prstGeom>
          <a:solidFill>
            <a:srgbClr val="000000">
              <a:alpha val="82000"/>
            </a:srgbClr>
          </a:solidFill>
          <a:ln w="12700">
            <a:solidFill>
              <a:srgbClr val="9DFF00">
                <a:alpha val="34000"/>
              </a:srgbClr>
            </a:solidFill>
            <a:prstDash val="solid"/>
          </a:ln>
        </p:spPr>
      </p:sp>
      <p:sp>
        <p:nvSpPr>
          <p:cNvPr id="8" name="Text 5"/>
          <p:cNvSpPr/>
          <p:nvPr/>
        </p:nvSpPr>
        <p:spPr>
          <a:xfrm>
            <a:off x="960120" y="1920240"/>
            <a:ext cx="274320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1. Define the prediction problem</a:t>
            </a:r>
            <a:endParaRPr lang="en-US" sz="1360" dirty="0"/>
          </a:p>
        </p:txBody>
      </p:sp>
      <p:sp>
        <p:nvSpPr>
          <p:cNvPr id="9" name="Text 6"/>
          <p:cNvSpPr/>
          <p:nvPr/>
        </p:nvSpPr>
        <p:spPr>
          <a:xfrm>
            <a:off x="1060704" y="2331720"/>
            <a:ext cx="2606040" cy="1143000"/>
          </a:xfrm>
          <a:prstGeom prst="rect">
            <a:avLst/>
          </a:prstGeom>
          <a:noFill/>
          <a:ln/>
        </p:spPr>
        <p:txBody>
          <a:bodyPr wrap="square" lIns="254" tIns="254" rIns="254" bIns="254" rtlCol="0" anchor="ctr">
            <a:normAutofit/>
          </a:bodyPr>
          <a:lstStyle/>
          <a:p>
            <a:r>
              <a:rPr lang="en-US" sz="1020" dirty="0">
                <a:solidFill>
                  <a:srgbClr val="FFFFFF"/>
                </a:solidFill>
                <a:latin typeface="Aptos" pitchFamily="34" charset="0"/>
                <a:ea typeface="Aptos" pitchFamily="34" charset="-122"/>
                <a:cs typeface="Aptos" pitchFamily="34" charset="-120"/>
              </a:rPr>
              <a:t>Positive class: charge-off within five years</a:t>
            </a:r>
            <a:endParaRPr lang="en-US" sz="1020" dirty="0"/>
          </a:p>
          <a:p>
            <a:r>
              <a:rPr lang="en-US" sz="1020" dirty="0">
                <a:solidFill>
                  <a:srgbClr val="FFFFFF"/>
                </a:solidFill>
                <a:latin typeface="Aptos" pitchFamily="34" charset="0"/>
                <a:ea typeface="Aptos" pitchFamily="34" charset="-122"/>
                <a:cs typeface="Aptos" pitchFamily="34" charset="-120"/>
              </a:rPr>
              <a:t>Remove loans without full five-year follow-up</a:t>
            </a:r>
            <a:endParaRPr lang="en-US" sz="1020" dirty="0"/>
          </a:p>
          <a:p>
            <a:r>
              <a:rPr lang="en-US" sz="1020" dirty="0">
                <a:solidFill>
                  <a:srgbClr val="FFFFFF"/>
                </a:solidFill>
                <a:latin typeface="Aptos" pitchFamily="34" charset="0"/>
                <a:ea typeface="Aptos" pitchFamily="34" charset="-122"/>
                <a:cs typeface="Aptos" pitchFamily="34" charset="-120"/>
              </a:rPr>
              <a:t>Avoid using outcome fields as predictors</a:t>
            </a:r>
            <a:endParaRPr lang="en-US" sz="1020" dirty="0"/>
          </a:p>
        </p:txBody>
      </p:sp>
      <p:sp>
        <p:nvSpPr>
          <p:cNvPr id="10" name="Shape 7"/>
          <p:cNvSpPr/>
          <p:nvPr/>
        </p:nvSpPr>
        <p:spPr>
          <a:xfrm>
            <a:off x="4343400" y="1691640"/>
            <a:ext cx="3337560" cy="3840480"/>
          </a:xfrm>
          <a:prstGeom prst="roundRect">
            <a:avLst>
              <a:gd name="adj" fmla="val 2192"/>
            </a:avLst>
          </a:prstGeom>
          <a:solidFill>
            <a:srgbClr val="000000">
              <a:alpha val="82000"/>
            </a:srgbClr>
          </a:solidFill>
          <a:ln w="12700">
            <a:solidFill>
              <a:srgbClr val="9DFF00">
                <a:alpha val="34000"/>
              </a:srgbClr>
            </a:solidFill>
            <a:prstDash val="solid"/>
          </a:ln>
        </p:spPr>
      </p:sp>
      <p:sp>
        <p:nvSpPr>
          <p:cNvPr id="11" name="Text 8"/>
          <p:cNvSpPr/>
          <p:nvPr/>
        </p:nvSpPr>
        <p:spPr>
          <a:xfrm>
            <a:off x="4572000" y="1920240"/>
            <a:ext cx="274320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2. Learn patterns carefully</a:t>
            </a:r>
            <a:endParaRPr lang="en-US" sz="1360" dirty="0"/>
          </a:p>
        </p:txBody>
      </p:sp>
      <p:sp>
        <p:nvSpPr>
          <p:cNvPr id="12" name="Text 9"/>
          <p:cNvSpPr/>
          <p:nvPr/>
        </p:nvSpPr>
        <p:spPr>
          <a:xfrm>
            <a:off x="4672584" y="2331720"/>
            <a:ext cx="2606040" cy="1143000"/>
          </a:xfrm>
          <a:prstGeom prst="rect">
            <a:avLst/>
          </a:prstGeom>
          <a:noFill/>
          <a:ln/>
        </p:spPr>
        <p:txBody>
          <a:bodyPr wrap="square" lIns="254" tIns="254" rIns="254" bIns="254" rtlCol="0" anchor="ctr">
            <a:normAutofit/>
          </a:bodyPr>
          <a:lstStyle/>
          <a:p>
            <a:r>
              <a:rPr lang="en-US" sz="1020" dirty="0">
                <a:solidFill>
                  <a:srgbClr val="FFFFFF"/>
                </a:solidFill>
                <a:latin typeface="Aptos" pitchFamily="34" charset="0"/>
                <a:ea typeface="Aptos" pitchFamily="34" charset="-122"/>
                <a:cs typeface="Aptos" pitchFamily="34" charset="-120"/>
              </a:rPr>
              <a:t>Use training data for target-based EDA</a:t>
            </a:r>
            <a:endParaRPr lang="en-US" sz="1020" dirty="0"/>
          </a:p>
          <a:p>
            <a:r>
              <a:rPr lang="en-US" sz="1020" dirty="0">
                <a:solidFill>
                  <a:srgbClr val="FFFFFF"/>
                </a:solidFill>
                <a:latin typeface="Aptos" pitchFamily="34" charset="0"/>
                <a:ea typeface="Aptos" pitchFamily="34" charset="-122"/>
                <a:cs typeface="Aptos" pitchFamily="34" charset="-120"/>
              </a:rPr>
              <a:t>Build approval-time features</a:t>
            </a:r>
            <a:endParaRPr lang="en-US" sz="1020" dirty="0"/>
          </a:p>
          <a:p>
            <a:r>
              <a:rPr lang="en-US" sz="1020" dirty="0">
                <a:solidFill>
                  <a:srgbClr val="FFFFFF"/>
                </a:solidFill>
                <a:latin typeface="Aptos" pitchFamily="34" charset="0"/>
                <a:ea typeface="Aptos" pitchFamily="34" charset="-122"/>
                <a:cs typeface="Aptos" pitchFamily="34" charset="-120"/>
              </a:rPr>
              <a:t>Compare models on validation data</a:t>
            </a:r>
            <a:endParaRPr lang="en-US" sz="1020" dirty="0"/>
          </a:p>
        </p:txBody>
      </p:sp>
      <p:sp>
        <p:nvSpPr>
          <p:cNvPr id="13" name="Shape 10"/>
          <p:cNvSpPr/>
          <p:nvPr/>
        </p:nvSpPr>
        <p:spPr>
          <a:xfrm>
            <a:off x="7955280" y="1691640"/>
            <a:ext cx="3337560" cy="3840480"/>
          </a:xfrm>
          <a:prstGeom prst="roundRect">
            <a:avLst>
              <a:gd name="adj" fmla="val 2192"/>
            </a:avLst>
          </a:prstGeom>
          <a:solidFill>
            <a:srgbClr val="000000">
              <a:alpha val="82000"/>
            </a:srgbClr>
          </a:solidFill>
          <a:ln w="12700">
            <a:solidFill>
              <a:srgbClr val="9DFF00">
                <a:alpha val="34000"/>
              </a:srgbClr>
            </a:solidFill>
            <a:prstDash val="solid"/>
          </a:ln>
        </p:spPr>
      </p:sp>
      <p:sp>
        <p:nvSpPr>
          <p:cNvPr id="14" name="Text 11"/>
          <p:cNvSpPr/>
          <p:nvPr/>
        </p:nvSpPr>
        <p:spPr>
          <a:xfrm>
            <a:off x="8183880" y="1920240"/>
            <a:ext cx="274320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3. Test future performance</a:t>
            </a:r>
            <a:endParaRPr lang="en-US" sz="1360" dirty="0"/>
          </a:p>
        </p:txBody>
      </p:sp>
      <p:sp>
        <p:nvSpPr>
          <p:cNvPr id="15" name="Text 12"/>
          <p:cNvSpPr/>
          <p:nvPr/>
        </p:nvSpPr>
        <p:spPr>
          <a:xfrm>
            <a:off x="8284464" y="2331720"/>
            <a:ext cx="2606040" cy="1143000"/>
          </a:xfrm>
          <a:prstGeom prst="rect">
            <a:avLst/>
          </a:prstGeom>
          <a:noFill/>
          <a:ln/>
        </p:spPr>
        <p:txBody>
          <a:bodyPr wrap="square" lIns="254" tIns="254" rIns="254" bIns="254" rtlCol="0" anchor="ctr">
            <a:normAutofit/>
          </a:bodyPr>
          <a:lstStyle/>
          <a:p>
            <a:r>
              <a:rPr lang="en-US" sz="1020" dirty="0">
                <a:solidFill>
                  <a:srgbClr val="FFFFFF"/>
                </a:solidFill>
                <a:latin typeface="Aptos" pitchFamily="34" charset="0"/>
                <a:ea typeface="Aptos" pitchFamily="34" charset="-122"/>
                <a:cs typeface="Aptos" pitchFamily="34" charset="-120"/>
              </a:rPr>
              <a:t>Threshold selected on validation only</a:t>
            </a:r>
            <a:endParaRPr lang="en-US" sz="1020" dirty="0"/>
          </a:p>
          <a:p>
            <a:r>
              <a:rPr lang="en-US" sz="1020" dirty="0">
                <a:solidFill>
                  <a:srgbClr val="FFFFFF"/>
                </a:solidFill>
                <a:latin typeface="Aptos" pitchFamily="34" charset="0"/>
                <a:ea typeface="Aptos" pitchFamily="34" charset="-122"/>
                <a:cs typeface="Aptos" pitchFamily="34" charset="-120"/>
              </a:rPr>
              <a:t>Final evaluation on 2020–2021 approvals</a:t>
            </a:r>
            <a:endParaRPr lang="en-US" sz="1020" dirty="0"/>
          </a:p>
          <a:p>
            <a:r>
              <a:rPr lang="en-US" sz="1020" dirty="0">
                <a:solidFill>
                  <a:srgbClr val="FFFFFF"/>
                </a:solidFill>
                <a:latin typeface="Aptos" pitchFamily="34" charset="0"/>
                <a:ea typeface="Aptos" pitchFamily="34" charset="-122"/>
                <a:cs typeface="Aptos" pitchFamily="34" charset="-120"/>
              </a:rPr>
              <a:t>Interpret as risk ranking, not automatic denial</a:t>
            </a:r>
            <a:endParaRPr lang="en-US" sz="1020" dirty="0"/>
          </a:p>
        </p:txBody>
      </p:sp>
      <p:sp>
        <p:nvSpPr>
          <p:cNvPr id="16" name="Text 13"/>
          <p:cNvSpPr/>
          <p:nvPr/>
        </p:nvSpPr>
        <p:spPr>
          <a:xfrm>
            <a:off x="1188720" y="5879592"/>
            <a:ext cx="9601200" cy="274320"/>
          </a:xfrm>
          <a:prstGeom prst="rect">
            <a:avLst/>
          </a:prstGeom>
          <a:noFill/>
          <a:ln/>
        </p:spPr>
        <p:txBody>
          <a:bodyPr wrap="square" lIns="254" tIns="254" rIns="254" bIns="254" rtlCol="0" anchor="t">
            <a:normAutofit/>
          </a:bodyPr>
          <a:lstStyle/>
          <a:p>
            <a:pPr algn="ctr" indent="0" marL="0">
              <a:buNone/>
            </a:pPr>
            <a:r>
              <a:rPr lang="en-US" sz="1600" b="1" dirty="0">
                <a:solidFill>
                  <a:srgbClr val="9DFF00"/>
                </a:solidFill>
                <a:latin typeface="Aptos" pitchFamily="34" charset="0"/>
                <a:ea typeface="Aptos" pitchFamily="34" charset="-122"/>
                <a:cs typeface="Aptos" pitchFamily="34" charset="-120"/>
              </a:rPr>
              <a:t>Main idea: I am trying to prioritize review, not replace human underwriting judgment.</a:t>
            </a:r>
            <a:endParaRPr lang="en-US" sz="1600" dirty="0"/>
          </a:p>
        </p:txBody>
      </p:sp>
      <p:sp>
        <p:nvSpPr>
          <p:cNvPr id="17" name="Text 14"/>
          <p:cNvSpPr/>
          <p:nvPr/>
        </p:nvSpPr>
        <p:spPr>
          <a:xfrm>
            <a:off x="566928" y="6473952"/>
            <a:ext cx="6217920" cy="201168"/>
          </a:xfrm>
          <a:prstGeom prst="rect">
            <a:avLst/>
          </a:prstGeom>
          <a:noFill/>
          <a:ln/>
        </p:spPr>
        <p:txBody>
          <a:bodyPr wrap="square" lIns="0" tIns="0" rIns="0" bIns="0" rtlCol="0" anchor="ctr"/>
          <a:lstStyle/>
          <a:p>
            <a:pPr indent="0" marL="0">
              <a:buNone/>
            </a:pPr>
            <a:r>
              <a:rPr lang="en-US" sz="740" dirty="0">
                <a:solidFill>
                  <a:srgbClr val="C4CDC6"/>
                </a:solidFill>
              </a:rPr>
              <a:t>DATA 400 | SBA 7(a) Credit-Risk Mini Project</a:t>
            </a:r>
            <a:endParaRPr lang="en-US" sz="740" dirty="0"/>
          </a:p>
        </p:txBody>
      </p:sp>
      <p:sp>
        <p:nvSpPr>
          <p:cNvPr id="18" name="Text 15"/>
          <p:cNvSpPr/>
          <p:nvPr/>
        </p:nvSpPr>
        <p:spPr>
          <a:xfrm>
            <a:off x="11082528" y="6455664"/>
            <a:ext cx="502920" cy="201168"/>
          </a:xfrm>
          <a:prstGeom prst="rect">
            <a:avLst/>
          </a:prstGeom>
          <a:noFill/>
          <a:ln/>
        </p:spPr>
        <p:txBody>
          <a:bodyPr wrap="square" lIns="0" tIns="0" rIns="0" bIns="0" rtlCol="0" anchor="ctr"/>
          <a:lstStyle/>
          <a:p>
            <a:pPr algn="r" indent="0" marL="0">
              <a:buNone/>
            </a:pPr>
            <a:r>
              <a:rPr lang="en-US" sz="800" b="1" dirty="0">
                <a:solidFill>
                  <a:srgbClr val="9DFF00"/>
                </a:solidFill>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607"/>
        </a:solidFill>
      </p:bgPr>
    </p:bg>
    <p:spTree>
      <p:nvGrpSpPr>
        <p:cNvPr id="1" name=""/>
        <p:cNvGrpSpPr/>
        <p:nvPr/>
      </p:nvGrpSpPr>
      <p:grpSpPr>
        <a:xfrm>
          <a:off x="0" y="0"/>
          <a:ext cx="0" cy="0"/>
          <a:chOff x="0" y="0"/>
          <a:chExt cx="0" cy="0"/>
        </a:xfrm>
      </p:grpSpPr>
      <p:pic>
        <p:nvPicPr>
          <p:cNvPr id="2" name="Image 0" descr="/mnt/data/sample_ppt_extract/ppt/media/dark_image7.jpeg">    </p:cNvPr>
          <p:cNvPicPr>
            <a:picLocks noChangeAspect="1"/>
          </p:cNvPicPr>
          <p:nvPr/>
        </p:nvPicPr>
        <p:blipFill>
          <a:blip r:embed="rId1"/>
          <a:srcRect l="0" r="0" t="3135" b="3135"/>
          <a:stretch/>
        </p:blipFill>
        <p:spPr>
          <a:xfrm>
            <a:off x="0" y="0"/>
            <a:ext cx="12191695" cy="6858000"/>
          </a:xfrm>
          <a:prstGeom prst="rect">
            <a:avLst/>
          </a:prstGeom>
        </p:spPr>
      </p:pic>
      <p:sp>
        <p:nvSpPr>
          <p:cNvPr id="3" name="Shape 0"/>
          <p:cNvSpPr/>
          <p:nvPr/>
        </p:nvSpPr>
        <p:spPr>
          <a:xfrm>
            <a:off x="201168" y="256032"/>
            <a:ext cx="50292" cy="6263640"/>
          </a:xfrm>
          <a:prstGeom prst="rect">
            <a:avLst/>
          </a:prstGeom>
          <a:solidFill>
            <a:srgbClr val="9DFF00"/>
          </a:solidFill>
          <a:ln w="12700">
            <a:solidFill>
              <a:srgbClr val="333333">
                <a:alpha val="0"/>
              </a:srgbClr>
            </a:solidFill>
            <a:prstDash val="solid"/>
          </a:ln>
        </p:spPr>
      </p:sp>
      <p:sp>
        <p:nvSpPr>
          <p:cNvPr id="4" name="Text 1"/>
          <p:cNvSpPr/>
          <p:nvPr/>
        </p:nvSpPr>
        <p:spPr>
          <a:xfrm>
            <a:off x="566928" y="310896"/>
            <a:ext cx="4754880" cy="228600"/>
          </a:xfrm>
          <a:prstGeom prst="rect">
            <a:avLst/>
          </a:prstGeom>
          <a:noFill/>
          <a:ln/>
        </p:spPr>
        <p:txBody>
          <a:bodyPr wrap="square" lIns="0" tIns="0" rIns="0" bIns="0" rtlCol="0" anchor="ctr">
            <a:normAutofit/>
          </a:bodyPr>
          <a:lstStyle/>
          <a:p>
            <a:pPr indent="0" marL="0">
              <a:buNone/>
            </a:pPr>
            <a:r>
              <a:rPr lang="en-US" sz="850" b="1" dirty="0">
                <a:solidFill>
                  <a:srgbClr val="9DFF00"/>
                </a:solidFill>
                <a:latin typeface="Aptos" pitchFamily="34" charset="0"/>
                <a:ea typeface="Aptos" pitchFamily="34" charset="-122"/>
                <a:cs typeface="Aptos" pitchFamily="34" charset="-120"/>
              </a:rPr>
              <a:t>RESEARCH OBJECTIVE</a:t>
            </a:r>
            <a:endParaRPr lang="en-US" sz="850" dirty="0"/>
          </a:p>
        </p:txBody>
      </p:sp>
      <p:sp>
        <p:nvSpPr>
          <p:cNvPr id="5" name="Text 2"/>
          <p:cNvSpPr/>
          <p:nvPr/>
        </p:nvSpPr>
        <p:spPr>
          <a:xfrm>
            <a:off x="566928" y="621792"/>
            <a:ext cx="10652760" cy="566928"/>
          </a:xfrm>
          <a:prstGeom prst="rect">
            <a:avLst/>
          </a:prstGeom>
          <a:noFill/>
          <a:ln/>
        </p:spPr>
        <p:txBody>
          <a:bodyPr wrap="square" lIns="0" tIns="0" rIns="0" bIns="0" rtlCol="0" anchor="ctr">
            <a:normAutofit/>
          </a:bodyPr>
          <a:lstStyle/>
          <a:p>
            <a:pPr indent="0" marL="0">
              <a:buNone/>
            </a:pPr>
            <a:r>
              <a:rPr lang="en-US" sz="2450" b="1" dirty="0">
                <a:solidFill>
                  <a:srgbClr val="FFFFFF"/>
                </a:solidFill>
                <a:latin typeface="Aptos Display" pitchFamily="34" charset="0"/>
                <a:ea typeface="Aptos Display" pitchFamily="34" charset="-122"/>
                <a:cs typeface="Aptos Display" pitchFamily="34" charset="-120"/>
              </a:rPr>
              <a:t>Predictive screening, not automatic lending decisions</a:t>
            </a:r>
            <a:endParaRPr lang="en-US" sz="2450" dirty="0"/>
          </a:p>
        </p:txBody>
      </p:sp>
      <p:sp>
        <p:nvSpPr>
          <p:cNvPr id="6" name="Shape 3"/>
          <p:cNvSpPr/>
          <p:nvPr/>
        </p:nvSpPr>
        <p:spPr>
          <a:xfrm>
            <a:off x="566928" y="1307592"/>
            <a:ext cx="10716768" cy="0"/>
          </a:xfrm>
          <a:prstGeom prst="line">
            <a:avLst/>
          </a:prstGeom>
          <a:noFill/>
          <a:ln w="13335">
            <a:solidFill>
              <a:srgbClr val="9DFF00">
                <a:alpha val="95000"/>
              </a:srgbClr>
            </a:solidFill>
            <a:prstDash val="solid"/>
          </a:ln>
        </p:spPr>
      </p:sp>
      <p:sp>
        <p:nvSpPr>
          <p:cNvPr id="7" name="Shape 4"/>
          <p:cNvSpPr/>
          <p:nvPr/>
        </p:nvSpPr>
        <p:spPr>
          <a:xfrm>
            <a:off x="731520" y="1691640"/>
            <a:ext cx="4892040" cy="2468880"/>
          </a:xfrm>
          <a:prstGeom prst="roundRect">
            <a:avLst>
              <a:gd name="adj" fmla="val 2963"/>
            </a:avLst>
          </a:prstGeom>
          <a:solidFill>
            <a:srgbClr val="000000">
              <a:alpha val="82000"/>
            </a:srgbClr>
          </a:solidFill>
          <a:ln w="12700">
            <a:solidFill>
              <a:srgbClr val="9DFF00">
                <a:alpha val="34000"/>
              </a:srgbClr>
            </a:solidFill>
            <a:prstDash val="solid"/>
          </a:ln>
        </p:spPr>
      </p:sp>
      <p:sp>
        <p:nvSpPr>
          <p:cNvPr id="8" name="Text 5"/>
          <p:cNvSpPr/>
          <p:nvPr/>
        </p:nvSpPr>
        <p:spPr>
          <a:xfrm>
            <a:off x="960120" y="1920240"/>
            <a:ext cx="201168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Research question</a:t>
            </a:r>
            <a:endParaRPr lang="en-US" sz="1360" dirty="0"/>
          </a:p>
        </p:txBody>
      </p:sp>
      <p:sp>
        <p:nvSpPr>
          <p:cNvPr id="9" name="Text 6"/>
          <p:cNvSpPr/>
          <p:nvPr/>
        </p:nvSpPr>
        <p:spPr>
          <a:xfrm>
            <a:off x="960120" y="2304288"/>
            <a:ext cx="4343400" cy="822960"/>
          </a:xfrm>
          <a:prstGeom prst="rect">
            <a:avLst/>
          </a:prstGeom>
          <a:noFill/>
          <a:ln/>
        </p:spPr>
        <p:txBody>
          <a:bodyPr wrap="square" lIns="254" tIns="254" rIns="254" bIns="254" rtlCol="0" anchor="t">
            <a:normAutofit/>
          </a:bodyPr>
          <a:lstStyle/>
          <a:p>
            <a:pPr algn="l" indent="0" marL="0">
              <a:buNone/>
            </a:pPr>
            <a:r>
              <a:rPr lang="en-US" sz="2000" b="1" dirty="0">
                <a:solidFill>
                  <a:srgbClr val="FFFFFF"/>
                </a:solidFill>
                <a:latin typeface="Aptos" pitchFamily="34" charset="0"/>
                <a:ea typeface="Aptos" pitchFamily="34" charset="-122"/>
                <a:cs typeface="Aptos" pitchFamily="34" charset="-120"/>
              </a:rPr>
              <a:t>Using approval-time information, how well can we predict whether an SBA 7(a) loan will charge off within five years?</a:t>
            </a:r>
            <a:endParaRPr lang="en-US" sz="2000" dirty="0"/>
          </a:p>
        </p:txBody>
      </p:sp>
      <p:sp>
        <p:nvSpPr>
          <p:cNvPr id="10" name="Shape 7"/>
          <p:cNvSpPr/>
          <p:nvPr/>
        </p:nvSpPr>
        <p:spPr>
          <a:xfrm>
            <a:off x="6263640" y="1691640"/>
            <a:ext cx="4937760" cy="2468880"/>
          </a:xfrm>
          <a:prstGeom prst="roundRect">
            <a:avLst>
              <a:gd name="adj" fmla="val 2963"/>
            </a:avLst>
          </a:prstGeom>
          <a:solidFill>
            <a:srgbClr val="000000">
              <a:alpha val="82000"/>
            </a:srgbClr>
          </a:solidFill>
          <a:ln w="12700">
            <a:solidFill>
              <a:srgbClr val="9DFF00">
                <a:alpha val="34000"/>
              </a:srgbClr>
            </a:solidFill>
            <a:prstDash val="solid"/>
          </a:ln>
        </p:spPr>
      </p:sp>
      <p:sp>
        <p:nvSpPr>
          <p:cNvPr id="11" name="Text 8"/>
          <p:cNvSpPr/>
          <p:nvPr/>
        </p:nvSpPr>
        <p:spPr>
          <a:xfrm>
            <a:off x="6492240" y="1920240"/>
            <a:ext cx="201168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Why this is hard</a:t>
            </a:r>
            <a:endParaRPr lang="en-US" sz="1360" dirty="0"/>
          </a:p>
        </p:txBody>
      </p:sp>
      <p:sp>
        <p:nvSpPr>
          <p:cNvPr id="12" name="Text 9"/>
          <p:cNvSpPr/>
          <p:nvPr/>
        </p:nvSpPr>
        <p:spPr>
          <a:xfrm>
            <a:off x="6583680" y="2340864"/>
            <a:ext cx="3886200" cy="960120"/>
          </a:xfrm>
          <a:prstGeom prst="rect">
            <a:avLst/>
          </a:prstGeom>
          <a:noFill/>
          <a:ln/>
        </p:spPr>
        <p:txBody>
          <a:bodyPr wrap="square" lIns="254" tIns="254" rIns="254" bIns="254" rtlCol="0" anchor="ctr">
            <a:normAutofit/>
          </a:bodyPr>
          <a:lstStyle/>
          <a:p>
            <a:r>
              <a:rPr lang="en-US" sz="1100" dirty="0">
                <a:solidFill>
                  <a:srgbClr val="FFFFFF"/>
                </a:solidFill>
                <a:latin typeface="Aptos" pitchFamily="34" charset="0"/>
                <a:ea typeface="Aptos" pitchFamily="34" charset="-122"/>
                <a:cs typeface="Aptos" pitchFamily="34" charset="-120"/>
              </a:rPr>
              <a:t>Charge-offs are rare, so accuracy can be misleading.</a:t>
            </a:r>
            <a:endParaRPr lang="en-US" sz="1100" dirty="0"/>
          </a:p>
          <a:p>
            <a:r>
              <a:rPr lang="en-US" sz="1100" dirty="0">
                <a:solidFill>
                  <a:srgbClr val="FFFFFF"/>
                </a:solidFill>
                <a:latin typeface="Aptos" pitchFamily="34" charset="0"/>
                <a:ea typeface="Aptos" pitchFamily="34" charset="-122"/>
                <a:cs typeface="Aptos" pitchFamily="34" charset="-120"/>
              </a:rPr>
              <a:t>Different error types have different business costs.</a:t>
            </a:r>
            <a:endParaRPr lang="en-US" sz="1100" dirty="0"/>
          </a:p>
          <a:p>
            <a:r>
              <a:rPr lang="en-US" sz="1100" dirty="0">
                <a:solidFill>
                  <a:srgbClr val="FFFFFF"/>
                </a:solidFill>
                <a:latin typeface="Aptos" pitchFamily="34" charset="0"/>
                <a:ea typeface="Aptos" pitchFamily="34" charset="-122"/>
                <a:cs typeface="Aptos" pitchFamily="34" charset="-120"/>
              </a:rPr>
              <a:t>Public SBA fields are not a full underwriting file.</a:t>
            </a:r>
            <a:endParaRPr lang="en-US" sz="1100" dirty="0"/>
          </a:p>
        </p:txBody>
      </p:sp>
      <p:sp>
        <p:nvSpPr>
          <p:cNvPr id="13" name="Shape 10"/>
          <p:cNvSpPr/>
          <p:nvPr/>
        </p:nvSpPr>
        <p:spPr>
          <a:xfrm>
            <a:off x="868680" y="4709160"/>
            <a:ext cx="10149840" cy="749808"/>
          </a:xfrm>
          <a:prstGeom prst="roundRect">
            <a:avLst>
              <a:gd name="adj" fmla="val 9756"/>
            </a:avLst>
          </a:prstGeom>
          <a:solidFill>
            <a:srgbClr val="000000">
              <a:alpha val="89000"/>
            </a:srgbClr>
          </a:solidFill>
          <a:ln w="12700">
            <a:solidFill>
              <a:srgbClr val="9DFF00">
                <a:alpha val="34000"/>
              </a:srgbClr>
            </a:solidFill>
            <a:prstDash val="solid"/>
          </a:ln>
        </p:spPr>
      </p:sp>
      <p:sp>
        <p:nvSpPr>
          <p:cNvPr id="14" name="Text 11"/>
          <p:cNvSpPr/>
          <p:nvPr/>
        </p:nvSpPr>
        <p:spPr>
          <a:xfrm>
            <a:off x="1143000" y="4919472"/>
            <a:ext cx="9601200" cy="256032"/>
          </a:xfrm>
          <a:prstGeom prst="rect">
            <a:avLst/>
          </a:prstGeom>
          <a:noFill/>
          <a:ln/>
        </p:spPr>
        <p:txBody>
          <a:bodyPr wrap="square" lIns="254" tIns="254" rIns="254" bIns="254" rtlCol="0" anchor="t">
            <a:normAutofit/>
          </a:bodyPr>
          <a:lstStyle/>
          <a:p>
            <a:pPr algn="ctr" indent="0" marL="0">
              <a:buNone/>
            </a:pPr>
            <a:r>
              <a:rPr lang="en-US" sz="1540" b="1" dirty="0">
                <a:solidFill>
                  <a:srgbClr val="9DFF00"/>
                </a:solidFill>
                <a:latin typeface="Aptos" pitchFamily="34" charset="0"/>
                <a:ea typeface="Aptos" pitchFamily="34" charset="-122"/>
                <a:cs typeface="Aptos" pitchFamily="34" charset="-120"/>
              </a:rPr>
              <a:t>Primary evaluation lens: Can the model rank the rare charge-off cases high enough to support extra review?</a:t>
            </a:r>
            <a:endParaRPr lang="en-US" sz="1540" dirty="0"/>
          </a:p>
        </p:txBody>
      </p:sp>
      <p:sp>
        <p:nvSpPr>
          <p:cNvPr id="15" name="Text 12"/>
          <p:cNvSpPr/>
          <p:nvPr/>
        </p:nvSpPr>
        <p:spPr>
          <a:xfrm>
            <a:off x="566928" y="6473952"/>
            <a:ext cx="6217920" cy="201168"/>
          </a:xfrm>
          <a:prstGeom prst="rect">
            <a:avLst/>
          </a:prstGeom>
          <a:noFill/>
          <a:ln/>
        </p:spPr>
        <p:txBody>
          <a:bodyPr wrap="square" lIns="0" tIns="0" rIns="0" bIns="0" rtlCol="0" anchor="ctr"/>
          <a:lstStyle/>
          <a:p>
            <a:pPr indent="0" marL="0">
              <a:buNone/>
            </a:pPr>
            <a:r>
              <a:rPr lang="en-US" sz="740" dirty="0">
                <a:solidFill>
                  <a:srgbClr val="C4CDC6"/>
                </a:solidFill>
              </a:rPr>
              <a:t>DATA 400 | SBA 7(a) Credit-Risk Mini Project</a:t>
            </a:r>
            <a:endParaRPr lang="en-US" sz="740" dirty="0"/>
          </a:p>
        </p:txBody>
      </p:sp>
      <p:sp>
        <p:nvSpPr>
          <p:cNvPr id="16" name="Text 13"/>
          <p:cNvSpPr/>
          <p:nvPr/>
        </p:nvSpPr>
        <p:spPr>
          <a:xfrm>
            <a:off x="11082528" y="6455664"/>
            <a:ext cx="502920" cy="201168"/>
          </a:xfrm>
          <a:prstGeom prst="rect">
            <a:avLst/>
          </a:prstGeom>
          <a:noFill/>
          <a:ln/>
        </p:spPr>
        <p:txBody>
          <a:bodyPr wrap="square" lIns="0" tIns="0" rIns="0" bIns="0" rtlCol="0" anchor="ctr"/>
          <a:lstStyle/>
          <a:p>
            <a:pPr algn="r" indent="0" marL="0">
              <a:buNone/>
            </a:pPr>
            <a:r>
              <a:rPr lang="en-US" sz="800" b="1" dirty="0">
                <a:solidFill>
                  <a:srgbClr val="9DFF00"/>
                </a:solidFill>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607"/>
        </a:solidFill>
      </p:bgPr>
    </p:bg>
    <p:spTree>
      <p:nvGrpSpPr>
        <p:cNvPr id="1" name=""/>
        <p:cNvGrpSpPr/>
        <p:nvPr/>
      </p:nvGrpSpPr>
      <p:grpSpPr>
        <a:xfrm>
          <a:off x="0" y="0"/>
          <a:ext cx="0" cy="0"/>
          <a:chOff x="0" y="0"/>
          <a:chExt cx="0" cy="0"/>
        </a:xfrm>
      </p:grpSpPr>
      <p:pic>
        <p:nvPicPr>
          <p:cNvPr id="2" name="Image 0" descr="/mnt/data/sample_ppt_extract/ppt/media/dark_image2.jpeg">    </p:cNvPr>
          <p:cNvPicPr>
            <a:picLocks noChangeAspect="1"/>
          </p:cNvPicPr>
          <p:nvPr/>
        </p:nvPicPr>
        <p:blipFill>
          <a:blip r:embed="rId1"/>
          <a:srcRect l="0" r="0" t="4004" b="4004"/>
          <a:stretch/>
        </p:blipFill>
        <p:spPr>
          <a:xfrm>
            <a:off x="0" y="0"/>
            <a:ext cx="12191695" cy="6858000"/>
          </a:xfrm>
          <a:prstGeom prst="rect">
            <a:avLst/>
          </a:prstGeom>
        </p:spPr>
      </p:pic>
      <p:sp>
        <p:nvSpPr>
          <p:cNvPr id="3" name="Shape 0"/>
          <p:cNvSpPr/>
          <p:nvPr/>
        </p:nvSpPr>
        <p:spPr>
          <a:xfrm>
            <a:off x="201168" y="256032"/>
            <a:ext cx="50292" cy="6263640"/>
          </a:xfrm>
          <a:prstGeom prst="rect">
            <a:avLst/>
          </a:prstGeom>
          <a:solidFill>
            <a:srgbClr val="9DFF00"/>
          </a:solidFill>
          <a:ln w="12700">
            <a:solidFill>
              <a:srgbClr val="333333">
                <a:alpha val="0"/>
              </a:srgbClr>
            </a:solidFill>
            <a:prstDash val="solid"/>
          </a:ln>
        </p:spPr>
      </p:sp>
      <p:sp>
        <p:nvSpPr>
          <p:cNvPr id="4" name="Text 1"/>
          <p:cNvSpPr/>
          <p:nvPr/>
        </p:nvSpPr>
        <p:spPr>
          <a:xfrm>
            <a:off x="566928" y="310896"/>
            <a:ext cx="4754880" cy="228600"/>
          </a:xfrm>
          <a:prstGeom prst="rect">
            <a:avLst/>
          </a:prstGeom>
          <a:noFill/>
          <a:ln/>
        </p:spPr>
        <p:txBody>
          <a:bodyPr wrap="square" lIns="0" tIns="0" rIns="0" bIns="0" rtlCol="0" anchor="ctr">
            <a:normAutofit/>
          </a:bodyPr>
          <a:lstStyle/>
          <a:p>
            <a:pPr indent="0" marL="0">
              <a:buNone/>
            </a:pPr>
            <a:r>
              <a:rPr lang="en-US" sz="850" b="1" dirty="0">
                <a:solidFill>
                  <a:srgbClr val="9DFF00"/>
                </a:solidFill>
                <a:latin typeface="Aptos" pitchFamily="34" charset="0"/>
                <a:ea typeface="Aptos" pitchFamily="34" charset="-122"/>
                <a:cs typeface="Aptos" pitchFamily="34" charset="-120"/>
              </a:rPr>
              <a:t>TARGET CONSTRUCTION</a:t>
            </a:r>
            <a:endParaRPr lang="en-US" sz="850" dirty="0"/>
          </a:p>
        </p:txBody>
      </p:sp>
      <p:sp>
        <p:nvSpPr>
          <p:cNvPr id="5" name="Text 2"/>
          <p:cNvSpPr/>
          <p:nvPr/>
        </p:nvSpPr>
        <p:spPr>
          <a:xfrm>
            <a:off x="566928" y="621792"/>
            <a:ext cx="10652760" cy="566928"/>
          </a:xfrm>
          <a:prstGeom prst="rect">
            <a:avLst/>
          </a:prstGeom>
          <a:noFill/>
          <a:ln/>
        </p:spPr>
        <p:txBody>
          <a:bodyPr wrap="square" lIns="0" tIns="0" rIns="0" bIns="0" rtlCol="0" anchor="ctr">
            <a:normAutofit/>
          </a:bodyPr>
          <a:lstStyle/>
          <a:p>
            <a:pPr indent="0" marL="0">
              <a:buNone/>
            </a:pPr>
            <a:r>
              <a:rPr lang="en-US" sz="2450" b="1" dirty="0">
                <a:solidFill>
                  <a:srgbClr val="FFFFFF"/>
                </a:solidFill>
                <a:latin typeface="Aptos Display" pitchFamily="34" charset="0"/>
                <a:ea typeface="Aptos Display" pitchFamily="34" charset="-122"/>
                <a:cs typeface="Aptos Display" pitchFamily="34" charset="-120"/>
              </a:rPr>
              <a:t>The five-year label must avoid right-censoring</a:t>
            </a:r>
            <a:endParaRPr lang="en-US" sz="2450" dirty="0"/>
          </a:p>
        </p:txBody>
      </p:sp>
      <p:sp>
        <p:nvSpPr>
          <p:cNvPr id="6" name="Shape 3"/>
          <p:cNvSpPr/>
          <p:nvPr/>
        </p:nvSpPr>
        <p:spPr>
          <a:xfrm>
            <a:off x="566928" y="1307592"/>
            <a:ext cx="10716768" cy="0"/>
          </a:xfrm>
          <a:prstGeom prst="line">
            <a:avLst/>
          </a:prstGeom>
          <a:noFill/>
          <a:ln w="13335">
            <a:solidFill>
              <a:srgbClr val="9DFF00">
                <a:alpha val="95000"/>
              </a:srgbClr>
            </a:solidFill>
            <a:prstDash val="solid"/>
          </a:ln>
        </p:spPr>
      </p:sp>
      <p:sp>
        <p:nvSpPr>
          <p:cNvPr id="7" name="Shape 4"/>
          <p:cNvSpPr/>
          <p:nvPr/>
        </p:nvSpPr>
        <p:spPr>
          <a:xfrm>
            <a:off x="731520" y="1673352"/>
            <a:ext cx="4892040" cy="2743200"/>
          </a:xfrm>
          <a:prstGeom prst="roundRect">
            <a:avLst>
              <a:gd name="adj" fmla="val 2667"/>
            </a:avLst>
          </a:prstGeom>
          <a:solidFill>
            <a:srgbClr val="000000">
              <a:alpha val="82000"/>
            </a:srgbClr>
          </a:solidFill>
          <a:ln w="12700">
            <a:solidFill>
              <a:srgbClr val="9DFF00">
                <a:alpha val="34000"/>
              </a:srgbClr>
            </a:solidFill>
            <a:prstDash val="solid"/>
          </a:ln>
        </p:spPr>
      </p:sp>
      <p:sp>
        <p:nvSpPr>
          <p:cNvPr id="8" name="Text 5"/>
          <p:cNvSpPr/>
          <p:nvPr/>
        </p:nvSpPr>
        <p:spPr>
          <a:xfrm>
            <a:off x="987552" y="1920240"/>
            <a:ext cx="237744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Target: chargeoff_5yr</a:t>
            </a:r>
            <a:endParaRPr lang="en-US" sz="1360" dirty="0"/>
          </a:p>
        </p:txBody>
      </p:sp>
      <p:sp>
        <p:nvSpPr>
          <p:cNvPr id="9" name="Shape 6"/>
          <p:cNvSpPr/>
          <p:nvPr/>
        </p:nvSpPr>
        <p:spPr>
          <a:xfrm>
            <a:off x="987552" y="2359152"/>
            <a:ext cx="914400" cy="381000"/>
          </a:xfrm>
          <a:prstGeom prst="rect">
            <a:avLst/>
          </a:prstGeom>
          <a:solidFill>
            <a:srgbClr val="9DFF00">
              <a:alpha val="18000"/>
            </a:srgbClr>
          </a:solidFill>
          <a:ln w="12700">
            <a:solidFill>
              <a:srgbClr val="333333">
                <a:alpha val="0"/>
              </a:srgbClr>
            </a:solidFill>
            <a:prstDash val="solid"/>
          </a:ln>
        </p:spPr>
      </p:sp>
      <p:sp>
        <p:nvSpPr>
          <p:cNvPr id="10" name="Text 7"/>
          <p:cNvSpPr/>
          <p:nvPr/>
        </p:nvSpPr>
        <p:spPr>
          <a:xfrm>
            <a:off x="1028700" y="2391156"/>
            <a:ext cx="832104" cy="316992"/>
          </a:xfrm>
          <a:prstGeom prst="rect">
            <a:avLst/>
          </a:prstGeom>
          <a:noFill/>
          <a:ln/>
        </p:spPr>
        <p:txBody>
          <a:bodyPr wrap="square" lIns="254" tIns="254" rIns="254" bIns="254" rtlCol="0" anchor="t">
            <a:normAutofit/>
          </a:bodyPr>
          <a:lstStyle/>
          <a:p>
            <a:pPr algn="l" indent="0" marL="0">
              <a:buNone/>
            </a:pPr>
            <a:r>
              <a:rPr lang="en-US" sz="810" b="1" dirty="0">
                <a:solidFill>
                  <a:srgbClr val="9DFF00"/>
                </a:solidFill>
                <a:latin typeface="Aptos" pitchFamily="34" charset="0"/>
                <a:ea typeface="Aptos" pitchFamily="34" charset="-122"/>
                <a:cs typeface="Aptos" pitchFamily="34" charset="-120"/>
              </a:rPr>
              <a:t>Value</a:t>
            </a:r>
            <a:endParaRPr lang="en-US" sz="810" dirty="0"/>
          </a:p>
        </p:txBody>
      </p:sp>
      <p:sp>
        <p:nvSpPr>
          <p:cNvPr id="11" name="Shape 8"/>
          <p:cNvSpPr/>
          <p:nvPr/>
        </p:nvSpPr>
        <p:spPr>
          <a:xfrm>
            <a:off x="1901952" y="2359152"/>
            <a:ext cx="3246120" cy="381000"/>
          </a:xfrm>
          <a:prstGeom prst="rect">
            <a:avLst/>
          </a:prstGeom>
          <a:solidFill>
            <a:srgbClr val="9DFF00">
              <a:alpha val="18000"/>
            </a:srgbClr>
          </a:solidFill>
          <a:ln w="12700">
            <a:solidFill>
              <a:srgbClr val="333333">
                <a:alpha val="0"/>
              </a:srgbClr>
            </a:solidFill>
            <a:prstDash val="solid"/>
          </a:ln>
        </p:spPr>
      </p:sp>
      <p:sp>
        <p:nvSpPr>
          <p:cNvPr id="12" name="Text 9"/>
          <p:cNvSpPr/>
          <p:nvPr/>
        </p:nvSpPr>
        <p:spPr>
          <a:xfrm>
            <a:off x="1943100" y="2391156"/>
            <a:ext cx="3163824" cy="316992"/>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Meaning</a:t>
            </a:r>
            <a:endParaRPr lang="en-US" sz="810" dirty="0"/>
          </a:p>
        </p:txBody>
      </p:sp>
      <p:sp>
        <p:nvSpPr>
          <p:cNvPr id="13" name="Shape 10"/>
          <p:cNvSpPr/>
          <p:nvPr/>
        </p:nvSpPr>
        <p:spPr>
          <a:xfrm>
            <a:off x="987552" y="2740152"/>
            <a:ext cx="4160520" cy="0"/>
          </a:xfrm>
          <a:prstGeom prst="line">
            <a:avLst/>
          </a:prstGeom>
          <a:noFill/>
          <a:ln w="12700">
            <a:solidFill>
              <a:srgbClr val="9DFF00"/>
            </a:solidFill>
            <a:prstDash val="solid"/>
          </a:ln>
        </p:spPr>
      </p:sp>
      <p:sp>
        <p:nvSpPr>
          <p:cNvPr id="14" name="Text 11"/>
          <p:cNvSpPr/>
          <p:nvPr/>
        </p:nvSpPr>
        <p:spPr>
          <a:xfrm>
            <a:off x="1028700" y="2772156"/>
            <a:ext cx="832104" cy="316992"/>
          </a:xfrm>
          <a:prstGeom prst="rect">
            <a:avLst/>
          </a:prstGeom>
          <a:noFill/>
          <a:ln/>
        </p:spPr>
        <p:txBody>
          <a:bodyPr wrap="square" lIns="254" tIns="254" rIns="254" bIns="254" rtlCol="0" anchor="t">
            <a:normAutofit/>
          </a:bodyPr>
          <a:lstStyle/>
          <a:p>
            <a:pPr algn="l" indent="0" marL="0">
              <a:buNone/>
            </a:pPr>
            <a:r>
              <a:rPr lang="en-US" sz="880" dirty="0">
                <a:solidFill>
                  <a:srgbClr val="FFFFFF"/>
                </a:solidFill>
                <a:latin typeface="Aptos" pitchFamily="34" charset="0"/>
                <a:ea typeface="Aptos" pitchFamily="34" charset="-122"/>
                <a:cs typeface="Aptos" pitchFamily="34" charset="-120"/>
              </a:rPr>
              <a:t>1</a:t>
            </a:r>
            <a:endParaRPr lang="en-US" sz="880" dirty="0"/>
          </a:p>
        </p:txBody>
      </p:sp>
      <p:sp>
        <p:nvSpPr>
          <p:cNvPr id="15" name="Text 12"/>
          <p:cNvSpPr/>
          <p:nvPr/>
        </p:nvSpPr>
        <p:spPr>
          <a:xfrm>
            <a:off x="1943100" y="2772156"/>
            <a:ext cx="3163824" cy="316992"/>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Documented charge-off within 5 years</a:t>
            </a:r>
            <a:endParaRPr lang="en-US" sz="880" dirty="0"/>
          </a:p>
        </p:txBody>
      </p:sp>
      <p:sp>
        <p:nvSpPr>
          <p:cNvPr id="16" name="Shape 13"/>
          <p:cNvSpPr/>
          <p:nvPr/>
        </p:nvSpPr>
        <p:spPr>
          <a:xfrm>
            <a:off x="987552" y="3121152"/>
            <a:ext cx="4160520" cy="0"/>
          </a:xfrm>
          <a:prstGeom prst="line">
            <a:avLst/>
          </a:prstGeom>
          <a:noFill/>
          <a:ln w="6350">
            <a:solidFill>
              <a:srgbClr val="2D342F">
                <a:alpha val="75000"/>
              </a:srgbClr>
            </a:solidFill>
            <a:prstDash val="solid"/>
          </a:ln>
        </p:spPr>
      </p:sp>
      <p:sp>
        <p:nvSpPr>
          <p:cNvPr id="17" name="Text 14"/>
          <p:cNvSpPr/>
          <p:nvPr/>
        </p:nvSpPr>
        <p:spPr>
          <a:xfrm>
            <a:off x="1028700" y="3153156"/>
            <a:ext cx="832104" cy="316992"/>
          </a:xfrm>
          <a:prstGeom prst="rect">
            <a:avLst/>
          </a:prstGeom>
          <a:noFill/>
          <a:ln/>
        </p:spPr>
        <p:txBody>
          <a:bodyPr wrap="square" lIns="254" tIns="254" rIns="254" bIns="254" rtlCol="0" anchor="t">
            <a:normAutofit/>
          </a:bodyPr>
          <a:lstStyle/>
          <a:p>
            <a:pPr algn="l" indent="0" marL="0">
              <a:buNone/>
            </a:pPr>
            <a:r>
              <a:rPr lang="en-US" sz="880" dirty="0">
                <a:solidFill>
                  <a:srgbClr val="FFFFFF"/>
                </a:solidFill>
                <a:latin typeface="Aptos" pitchFamily="34" charset="0"/>
                <a:ea typeface="Aptos" pitchFamily="34" charset="-122"/>
                <a:cs typeface="Aptos" pitchFamily="34" charset="-120"/>
              </a:rPr>
              <a:t>0</a:t>
            </a:r>
            <a:endParaRPr lang="en-US" sz="880" dirty="0"/>
          </a:p>
        </p:txBody>
      </p:sp>
      <p:sp>
        <p:nvSpPr>
          <p:cNvPr id="18" name="Text 15"/>
          <p:cNvSpPr/>
          <p:nvPr/>
        </p:nvSpPr>
        <p:spPr>
          <a:xfrm>
            <a:off x="1943100" y="3153156"/>
            <a:ext cx="3163824" cy="316992"/>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No documented charge-off in first 5 years</a:t>
            </a:r>
            <a:endParaRPr lang="en-US" sz="880" dirty="0"/>
          </a:p>
        </p:txBody>
      </p:sp>
      <p:sp>
        <p:nvSpPr>
          <p:cNvPr id="19" name="Shape 16"/>
          <p:cNvSpPr/>
          <p:nvPr/>
        </p:nvSpPr>
        <p:spPr>
          <a:xfrm>
            <a:off x="987552" y="3502152"/>
            <a:ext cx="4160520" cy="0"/>
          </a:xfrm>
          <a:prstGeom prst="line">
            <a:avLst/>
          </a:prstGeom>
          <a:noFill/>
          <a:ln w="6350">
            <a:solidFill>
              <a:srgbClr val="2D342F">
                <a:alpha val="75000"/>
              </a:srgbClr>
            </a:solidFill>
            <a:prstDash val="solid"/>
          </a:ln>
        </p:spPr>
      </p:sp>
      <p:sp>
        <p:nvSpPr>
          <p:cNvPr id="20" name="Shape 17"/>
          <p:cNvSpPr/>
          <p:nvPr/>
        </p:nvSpPr>
        <p:spPr>
          <a:xfrm>
            <a:off x="6263640" y="1673352"/>
            <a:ext cx="4937760" cy="2743200"/>
          </a:xfrm>
          <a:prstGeom prst="roundRect">
            <a:avLst>
              <a:gd name="adj" fmla="val 2667"/>
            </a:avLst>
          </a:prstGeom>
          <a:solidFill>
            <a:srgbClr val="000000">
              <a:alpha val="82000"/>
            </a:srgbClr>
          </a:solidFill>
          <a:ln w="12700">
            <a:solidFill>
              <a:srgbClr val="9DFF00">
                <a:alpha val="34000"/>
              </a:srgbClr>
            </a:solidFill>
            <a:prstDash val="solid"/>
          </a:ln>
        </p:spPr>
      </p:sp>
      <p:sp>
        <p:nvSpPr>
          <p:cNvPr id="21" name="Text 18"/>
          <p:cNvSpPr/>
          <p:nvPr/>
        </p:nvSpPr>
        <p:spPr>
          <a:xfrm>
            <a:off x="6492240" y="1920240"/>
            <a:ext cx="228600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Right-censoring rule</a:t>
            </a:r>
            <a:endParaRPr lang="en-US" sz="1360" dirty="0"/>
          </a:p>
        </p:txBody>
      </p:sp>
      <p:sp>
        <p:nvSpPr>
          <p:cNvPr id="22" name="Text 19"/>
          <p:cNvSpPr/>
          <p:nvPr/>
        </p:nvSpPr>
        <p:spPr>
          <a:xfrm>
            <a:off x="6629400" y="2359152"/>
            <a:ext cx="3840480" cy="1051560"/>
          </a:xfrm>
          <a:prstGeom prst="rect">
            <a:avLst/>
          </a:prstGeom>
          <a:noFill/>
          <a:ln/>
        </p:spPr>
        <p:txBody>
          <a:bodyPr wrap="square" lIns="254" tIns="254" rIns="254" bIns="254" rtlCol="0" anchor="ctr">
            <a:normAutofit/>
          </a:bodyPr>
          <a:lstStyle/>
          <a:p>
            <a:r>
              <a:rPr lang="en-US" sz="1060" dirty="0">
                <a:solidFill>
                  <a:srgbClr val="FFFFFF"/>
                </a:solidFill>
                <a:latin typeface="Aptos" pitchFamily="34" charset="0"/>
                <a:ea typeface="Aptos" pitchFamily="34" charset="-122"/>
                <a:cs typeface="Aptos" pitchFamily="34" charset="-120"/>
              </a:rPr>
              <a:t>SBA snapshot date: 2026-06-30</a:t>
            </a:r>
            <a:endParaRPr lang="en-US" sz="1060" dirty="0"/>
          </a:p>
          <a:p>
            <a:r>
              <a:rPr lang="en-US" sz="1060" dirty="0">
                <a:solidFill>
                  <a:srgbClr val="FFFFFF"/>
                </a:solidFill>
                <a:latin typeface="Aptos" pitchFamily="34" charset="0"/>
                <a:ea typeface="Aptos" pitchFamily="34" charset="-122"/>
                <a:cs typeface="Aptos" pitchFamily="34" charset="-120"/>
              </a:rPr>
              <a:t>Five-year cutoff: 2021-06-30</a:t>
            </a:r>
            <a:endParaRPr lang="en-US" sz="1060" dirty="0"/>
          </a:p>
          <a:p>
            <a:r>
              <a:rPr lang="en-US" sz="1060" dirty="0">
                <a:solidFill>
                  <a:srgbClr val="FFFFFF"/>
                </a:solidFill>
                <a:latin typeface="Aptos" pitchFamily="34" charset="0"/>
                <a:ea typeface="Aptos" pitchFamily="34" charset="-122"/>
                <a:cs typeface="Aptos" pitchFamily="34" charset="-120"/>
              </a:rPr>
              <a:t>Approvals after cutoff are excluded, not labeled safe</a:t>
            </a:r>
            <a:endParaRPr lang="en-US" sz="1060" dirty="0"/>
          </a:p>
        </p:txBody>
      </p:sp>
      <p:sp>
        <p:nvSpPr>
          <p:cNvPr id="23" name="Shape 20"/>
          <p:cNvSpPr/>
          <p:nvPr/>
        </p:nvSpPr>
        <p:spPr>
          <a:xfrm>
            <a:off x="914400" y="4800600"/>
            <a:ext cx="10104120" cy="777240"/>
          </a:xfrm>
          <a:prstGeom prst="roundRect">
            <a:avLst>
              <a:gd name="adj" fmla="val 9412"/>
            </a:avLst>
          </a:prstGeom>
          <a:solidFill>
            <a:srgbClr val="000000">
              <a:alpha val="88000"/>
            </a:srgbClr>
          </a:solidFill>
          <a:ln w="12700">
            <a:solidFill>
              <a:srgbClr val="9DFF00">
                <a:alpha val="34000"/>
              </a:srgbClr>
            </a:solidFill>
            <a:prstDash val="solid"/>
          </a:ln>
        </p:spPr>
      </p:sp>
      <p:sp>
        <p:nvSpPr>
          <p:cNvPr id="24" name="Text 21"/>
          <p:cNvSpPr/>
          <p:nvPr/>
        </p:nvSpPr>
        <p:spPr>
          <a:xfrm>
            <a:off x="1170432" y="4965192"/>
            <a:ext cx="9601200" cy="347472"/>
          </a:xfrm>
          <a:prstGeom prst="rect">
            <a:avLst/>
          </a:prstGeom>
          <a:noFill/>
          <a:ln/>
        </p:spPr>
        <p:txBody>
          <a:bodyPr wrap="square" lIns="254" tIns="254" rIns="254" bIns="254" rtlCol="0" anchor="t">
            <a:normAutofit/>
          </a:bodyPr>
          <a:lstStyle/>
          <a:p>
            <a:pPr algn="ctr" indent="0" marL="0">
              <a:buNone/>
            </a:pPr>
            <a:r>
              <a:rPr lang="en-US" sz="1270" b="1" dirty="0">
                <a:solidFill>
                  <a:srgbClr val="FFFFFF"/>
                </a:solidFill>
                <a:latin typeface="Aptos" pitchFamily="34" charset="0"/>
                <a:ea typeface="Aptos" pitchFamily="34" charset="-122"/>
                <a:cs typeface="Aptos" pitchFamily="34" charset="-120"/>
              </a:rPr>
              <a:t>Leakage guardrail: Loan status, charge-off date, gross charge-off amount, and paid-in-full date are outcome information. They help define/check the target, but they are not model features.</a:t>
            </a:r>
            <a:endParaRPr lang="en-US" sz="1270" dirty="0"/>
          </a:p>
        </p:txBody>
      </p:sp>
      <p:sp>
        <p:nvSpPr>
          <p:cNvPr id="25" name="Text 22"/>
          <p:cNvSpPr/>
          <p:nvPr/>
        </p:nvSpPr>
        <p:spPr>
          <a:xfrm>
            <a:off x="566928" y="6473952"/>
            <a:ext cx="6217920" cy="201168"/>
          </a:xfrm>
          <a:prstGeom prst="rect">
            <a:avLst/>
          </a:prstGeom>
          <a:noFill/>
          <a:ln/>
        </p:spPr>
        <p:txBody>
          <a:bodyPr wrap="square" lIns="0" tIns="0" rIns="0" bIns="0" rtlCol="0" anchor="ctr"/>
          <a:lstStyle/>
          <a:p>
            <a:pPr indent="0" marL="0">
              <a:buNone/>
            </a:pPr>
            <a:r>
              <a:rPr lang="en-US" sz="740" dirty="0">
                <a:solidFill>
                  <a:srgbClr val="C4CDC6"/>
                </a:solidFill>
              </a:rPr>
              <a:t>DATA 400 | SBA 7(a) Credit-Risk Mini Project</a:t>
            </a:r>
            <a:endParaRPr lang="en-US" sz="740" dirty="0"/>
          </a:p>
        </p:txBody>
      </p:sp>
      <p:sp>
        <p:nvSpPr>
          <p:cNvPr id="26" name="Text 23"/>
          <p:cNvSpPr/>
          <p:nvPr/>
        </p:nvSpPr>
        <p:spPr>
          <a:xfrm>
            <a:off x="11082528" y="6455664"/>
            <a:ext cx="502920" cy="201168"/>
          </a:xfrm>
          <a:prstGeom prst="rect">
            <a:avLst/>
          </a:prstGeom>
          <a:noFill/>
          <a:ln/>
        </p:spPr>
        <p:txBody>
          <a:bodyPr wrap="square" lIns="0" tIns="0" rIns="0" bIns="0" rtlCol="0" anchor="ctr"/>
          <a:lstStyle/>
          <a:p>
            <a:pPr algn="r" indent="0" marL="0">
              <a:buNone/>
            </a:pPr>
            <a:r>
              <a:rPr lang="en-US" sz="800" b="1" dirty="0">
                <a:solidFill>
                  <a:srgbClr val="9DFF00"/>
                </a:solidFill>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607"/>
        </a:solidFill>
      </p:bgPr>
    </p:bg>
    <p:spTree>
      <p:nvGrpSpPr>
        <p:cNvPr id="1" name=""/>
        <p:cNvGrpSpPr/>
        <p:nvPr/>
      </p:nvGrpSpPr>
      <p:grpSpPr>
        <a:xfrm>
          <a:off x="0" y="0"/>
          <a:ext cx="0" cy="0"/>
          <a:chOff x="0" y="0"/>
          <a:chExt cx="0" cy="0"/>
        </a:xfrm>
      </p:grpSpPr>
      <p:pic>
        <p:nvPicPr>
          <p:cNvPr id="2" name="Image 0" descr="/mnt/data/sample_ppt_extract/ppt/media/dark_image1.jpeg">    </p:cNvPr>
          <p:cNvPicPr>
            <a:picLocks noChangeAspect="1"/>
          </p:cNvPicPr>
          <p:nvPr/>
        </p:nvPicPr>
        <p:blipFill>
          <a:blip r:embed="rId1"/>
          <a:srcRect l="0" r="0" t="4004" b="4004"/>
          <a:stretch/>
        </p:blipFill>
        <p:spPr>
          <a:xfrm>
            <a:off x="0" y="0"/>
            <a:ext cx="12191695" cy="6858000"/>
          </a:xfrm>
          <a:prstGeom prst="rect">
            <a:avLst/>
          </a:prstGeom>
        </p:spPr>
      </p:pic>
      <p:sp>
        <p:nvSpPr>
          <p:cNvPr id="3" name="Shape 0"/>
          <p:cNvSpPr/>
          <p:nvPr/>
        </p:nvSpPr>
        <p:spPr>
          <a:xfrm>
            <a:off x="201168" y="256032"/>
            <a:ext cx="50292" cy="6263640"/>
          </a:xfrm>
          <a:prstGeom prst="rect">
            <a:avLst/>
          </a:prstGeom>
          <a:solidFill>
            <a:srgbClr val="9DFF00"/>
          </a:solidFill>
          <a:ln w="12700">
            <a:solidFill>
              <a:srgbClr val="333333">
                <a:alpha val="0"/>
              </a:srgbClr>
            </a:solidFill>
            <a:prstDash val="solid"/>
          </a:ln>
        </p:spPr>
      </p:sp>
      <p:sp>
        <p:nvSpPr>
          <p:cNvPr id="4" name="Text 1"/>
          <p:cNvSpPr/>
          <p:nvPr/>
        </p:nvSpPr>
        <p:spPr>
          <a:xfrm>
            <a:off x="566928" y="310896"/>
            <a:ext cx="4754880" cy="228600"/>
          </a:xfrm>
          <a:prstGeom prst="rect">
            <a:avLst/>
          </a:prstGeom>
          <a:noFill/>
          <a:ln/>
        </p:spPr>
        <p:txBody>
          <a:bodyPr wrap="square" lIns="0" tIns="0" rIns="0" bIns="0" rtlCol="0" anchor="ctr">
            <a:normAutofit/>
          </a:bodyPr>
          <a:lstStyle/>
          <a:p>
            <a:pPr indent="0" marL="0">
              <a:buNone/>
            </a:pPr>
            <a:r>
              <a:rPr lang="en-US" sz="850" b="1" dirty="0">
                <a:solidFill>
                  <a:srgbClr val="9DFF00"/>
                </a:solidFill>
                <a:latin typeface="Aptos" pitchFamily="34" charset="0"/>
                <a:ea typeface="Aptos" pitchFamily="34" charset="-122"/>
                <a:cs typeface="Aptos" pitchFamily="34" charset="-120"/>
              </a:rPr>
              <a:t>DATA UNIVERSE</a:t>
            </a:r>
            <a:endParaRPr lang="en-US" sz="850" dirty="0"/>
          </a:p>
        </p:txBody>
      </p:sp>
      <p:sp>
        <p:nvSpPr>
          <p:cNvPr id="5" name="Text 2"/>
          <p:cNvSpPr/>
          <p:nvPr/>
        </p:nvSpPr>
        <p:spPr>
          <a:xfrm>
            <a:off x="566928" y="621792"/>
            <a:ext cx="10652760" cy="566928"/>
          </a:xfrm>
          <a:prstGeom prst="rect">
            <a:avLst/>
          </a:prstGeom>
          <a:noFill/>
          <a:ln/>
        </p:spPr>
        <p:txBody>
          <a:bodyPr wrap="square" lIns="0" tIns="0" rIns="0" bIns="0" rtlCol="0" anchor="ctr">
            <a:normAutofit/>
          </a:bodyPr>
          <a:lstStyle/>
          <a:p>
            <a:pPr indent="0" marL="0">
              <a:buNone/>
            </a:pPr>
            <a:r>
              <a:rPr lang="en-US" sz="2450" b="1" dirty="0">
                <a:solidFill>
                  <a:srgbClr val="FFFFFF"/>
                </a:solidFill>
                <a:latin typeface="Aptos Display" pitchFamily="34" charset="0"/>
                <a:ea typeface="Aptos Display" pitchFamily="34" charset="-122"/>
                <a:cs typeface="Aptos Display" pitchFamily="34" charset="-120"/>
              </a:rPr>
              <a:t>From official FOIA data to model-ready observations</a:t>
            </a:r>
            <a:endParaRPr lang="en-US" sz="2450" dirty="0"/>
          </a:p>
        </p:txBody>
      </p:sp>
      <p:sp>
        <p:nvSpPr>
          <p:cNvPr id="6" name="Shape 3"/>
          <p:cNvSpPr/>
          <p:nvPr/>
        </p:nvSpPr>
        <p:spPr>
          <a:xfrm>
            <a:off x="566928" y="1307592"/>
            <a:ext cx="10716768" cy="0"/>
          </a:xfrm>
          <a:prstGeom prst="line">
            <a:avLst/>
          </a:prstGeom>
          <a:noFill/>
          <a:ln w="13335">
            <a:solidFill>
              <a:srgbClr val="9DFF00">
                <a:alpha val="95000"/>
              </a:srgbClr>
            </a:solidFill>
            <a:prstDash val="solid"/>
          </a:ln>
        </p:spPr>
      </p:sp>
      <p:sp>
        <p:nvSpPr>
          <p:cNvPr id="7" name="Text 4"/>
          <p:cNvSpPr/>
          <p:nvPr/>
        </p:nvSpPr>
        <p:spPr>
          <a:xfrm>
            <a:off x="713232" y="1737360"/>
            <a:ext cx="2057400" cy="347472"/>
          </a:xfrm>
          <a:prstGeom prst="rect">
            <a:avLst/>
          </a:prstGeom>
          <a:noFill/>
          <a:ln/>
        </p:spPr>
        <p:txBody>
          <a:bodyPr wrap="square" lIns="254" tIns="254" rIns="254" bIns="254" rtlCol="0" anchor="t">
            <a:normAutofit/>
          </a:bodyPr>
          <a:lstStyle/>
          <a:p>
            <a:pPr algn="ctr" indent="0" marL="0">
              <a:buNone/>
            </a:pPr>
            <a:r>
              <a:rPr lang="en-US" sz="2100" b="1" dirty="0">
                <a:solidFill>
                  <a:srgbClr val="9DFF00"/>
                </a:solidFill>
                <a:latin typeface="Aptos" pitchFamily="34" charset="0"/>
                <a:ea typeface="Aptos" pitchFamily="34" charset="-122"/>
                <a:cs typeface="Aptos" pitchFamily="34" charset="-120"/>
              </a:rPr>
              <a:t>932,013</a:t>
            </a:r>
            <a:endParaRPr lang="en-US" sz="2100" dirty="0"/>
          </a:p>
        </p:txBody>
      </p:sp>
      <p:sp>
        <p:nvSpPr>
          <p:cNvPr id="8" name="Text 5"/>
          <p:cNvSpPr/>
          <p:nvPr/>
        </p:nvSpPr>
        <p:spPr>
          <a:xfrm>
            <a:off x="713232" y="2121408"/>
            <a:ext cx="2057400" cy="329184"/>
          </a:xfrm>
          <a:prstGeom prst="rect">
            <a:avLst/>
          </a:prstGeom>
          <a:noFill/>
          <a:ln/>
        </p:spPr>
        <p:txBody>
          <a:bodyPr wrap="square" lIns="254" tIns="254" rIns="254" bIns="254" rtlCol="0" anchor="t">
            <a:normAutofit/>
          </a:bodyPr>
          <a:lstStyle/>
          <a:p>
            <a:pPr algn="ctr" indent="0" marL="0">
              <a:buNone/>
            </a:pPr>
            <a:r>
              <a:rPr lang="en-US" sz="840" dirty="0">
                <a:solidFill>
                  <a:srgbClr val="C4CDC6"/>
                </a:solidFill>
                <a:latin typeface="Aptos" pitchFamily="34" charset="0"/>
                <a:ea typeface="Aptos" pitchFamily="34" charset="-122"/>
                <a:cs typeface="Aptos" pitchFamily="34" charset="-120"/>
              </a:rPr>
              <a:t>raw rows after duplicate removal</a:t>
            </a:r>
            <a:endParaRPr lang="en-US" sz="840" dirty="0"/>
          </a:p>
        </p:txBody>
      </p:sp>
      <p:sp>
        <p:nvSpPr>
          <p:cNvPr id="9" name="Text 6"/>
          <p:cNvSpPr/>
          <p:nvPr/>
        </p:nvSpPr>
        <p:spPr>
          <a:xfrm>
            <a:off x="3063240" y="1737360"/>
            <a:ext cx="1920240" cy="347472"/>
          </a:xfrm>
          <a:prstGeom prst="rect">
            <a:avLst/>
          </a:prstGeom>
          <a:noFill/>
          <a:ln/>
        </p:spPr>
        <p:txBody>
          <a:bodyPr wrap="square" lIns="254" tIns="254" rIns="254" bIns="254" rtlCol="0" anchor="t">
            <a:normAutofit/>
          </a:bodyPr>
          <a:lstStyle/>
          <a:p>
            <a:pPr algn="ctr" indent="0" marL="0">
              <a:buNone/>
            </a:pPr>
            <a:r>
              <a:rPr lang="en-US" sz="2100" b="1" dirty="0">
                <a:solidFill>
                  <a:srgbClr val="9DFF00"/>
                </a:solidFill>
                <a:latin typeface="Aptos" pitchFamily="34" charset="0"/>
                <a:ea typeface="Aptos" pitchFamily="34" charset="-122"/>
                <a:cs typeface="Aptos" pitchFamily="34" charset="-120"/>
              </a:rPr>
              <a:t>2,076</a:t>
            </a:r>
            <a:endParaRPr lang="en-US" sz="2100" dirty="0"/>
          </a:p>
        </p:txBody>
      </p:sp>
      <p:sp>
        <p:nvSpPr>
          <p:cNvPr id="10" name="Text 7"/>
          <p:cNvSpPr/>
          <p:nvPr/>
        </p:nvSpPr>
        <p:spPr>
          <a:xfrm>
            <a:off x="3063240" y="2121408"/>
            <a:ext cx="1920240" cy="329184"/>
          </a:xfrm>
          <a:prstGeom prst="rect">
            <a:avLst/>
          </a:prstGeom>
          <a:noFill/>
          <a:ln/>
        </p:spPr>
        <p:txBody>
          <a:bodyPr wrap="square" lIns="254" tIns="254" rIns="254" bIns="254" rtlCol="0" anchor="t">
            <a:normAutofit/>
          </a:bodyPr>
          <a:lstStyle/>
          <a:p>
            <a:pPr algn="ctr" indent="0" marL="0">
              <a:buNone/>
            </a:pPr>
            <a:r>
              <a:rPr lang="en-US" sz="840" dirty="0">
                <a:solidFill>
                  <a:srgbClr val="C4CDC6"/>
                </a:solidFill>
                <a:latin typeface="Aptos" pitchFamily="34" charset="0"/>
                <a:ea typeface="Aptos" pitchFamily="34" charset="-122"/>
                <a:cs typeface="Aptos" pitchFamily="34" charset="-120"/>
              </a:rPr>
              <a:t>exact duplicate rows removed</a:t>
            </a:r>
            <a:endParaRPr lang="en-US" sz="840" dirty="0"/>
          </a:p>
        </p:txBody>
      </p:sp>
      <p:sp>
        <p:nvSpPr>
          <p:cNvPr id="11" name="Text 8"/>
          <p:cNvSpPr/>
          <p:nvPr/>
        </p:nvSpPr>
        <p:spPr>
          <a:xfrm>
            <a:off x="5376672" y="1737360"/>
            <a:ext cx="2057400" cy="347472"/>
          </a:xfrm>
          <a:prstGeom prst="rect">
            <a:avLst/>
          </a:prstGeom>
          <a:noFill/>
          <a:ln/>
        </p:spPr>
        <p:txBody>
          <a:bodyPr wrap="square" lIns="254" tIns="254" rIns="254" bIns="254" rtlCol="0" anchor="t">
            <a:normAutofit/>
          </a:bodyPr>
          <a:lstStyle/>
          <a:p>
            <a:pPr algn="ctr" indent="0" marL="0">
              <a:buNone/>
            </a:pPr>
            <a:r>
              <a:rPr lang="en-US" sz="2100" b="1" dirty="0">
                <a:solidFill>
                  <a:srgbClr val="9DFF00"/>
                </a:solidFill>
                <a:latin typeface="Aptos" pitchFamily="34" charset="0"/>
                <a:ea typeface="Aptos" pitchFamily="34" charset="-122"/>
                <a:cs typeface="Aptos" pitchFamily="34" charset="-120"/>
              </a:rPr>
              <a:t>543,110</a:t>
            </a:r>
            <a:endParaRPr lang="en-US" sz="2100" dirty="0"/>
          </a:p>
        </p:txBody>
      </p:sp>
      <p:sp>
        <p:nvSpPr>
          <p:cNvPr id="12" name="Text 9"/>
          <p:cNvSpPr/>
          <p:nvPr/>
        </p:nvSpPr>
        <p:spPr>
          <a:xfrm>
            <a:off x="5376672" y="2121408"/>
            <a:ext cx="2057400" cy="329184"/>
          </a:xfrm>
          <a:prstGeom prst="rect">
            <a:avLst/>
          </a:prstGeom>
          <a:noFill/>
          <a:ln/>
        </p:spPr>
        <p:txBody>
          <a:bodyPr wrap="square" lIns="254" tIns="254" rIns="254" bIns="254" rtlCol="0" anchor="t">
            <a:normAutofit/>
          </a:bodyPr>
          <a:lstStyle/>
          <a:p>
            <a:pPr algn="ctr" indent="0" marL="0">
              <a:buNone/>
            </a:pPr>
            <a:r>
              <a:rPr lang="en-US" sz="840" dirty="0">
                <a:solidFill>
                  <a:srgbClr val="C4CDC6"/>
                </a:solidFill>
                <a:latin typeface="Aptos" pitchFamily="34" charset="0"/>
                <a:ea typeface="Aptos" pitchFamily="34" charset="-122"/>
                <a:cs typeface="Aptos" pitchFamily="34" charset="-120"/>
              </a:rPr>
              <a:t>loans with usable 5-year target</a:t>
            </a:r>
            <a:endParaRPr lang="en-US" sz="840" dirty="0"/>
          </a:p>
        </p:txBody>
      </p:sp>
      <p:sp>
        <p:nvSpPr>
          <p:cNvPr id="13" name="Text 10"/>
          <p:cNvSpPr/>
          <p:nvPr/>
        </p:nvSpPr>
        <p:spPr>
          <a:xfrm>
            <a:off x="7818120" y="1737360"/>
            <a:ext cx="2057400" cy="347472"/>
          </a:xfrm>
          <a:prstGeom prst="rect">
            <a:avLst/>
          </a:prstGeom>
          <a:noFill/>
          <a:ln/>
        </p:spPr>
        <p:txBody>
          <a:bodyPr wrap="square" lIns="254" tIns="254" rIns="254" bIns="254" rtlCol="0" anchor="t">
            <a:normAutofit/>
          </a:bodyPr>
          <a:lstStyle/>
          <a:p>
            <a:pPr algn="ctr" indent="0" marL="0">
              <a:buNone/>
            </a:pPr>
            <a:r>
              <a:rPr lang="en-US" sz="2100" b="1" dirty="0">
                <a:solidFill>
                  <a:srgbClr val="9DFF00"/>
                </a:solidFill>
                <a:latin typeface="Aptos" pitchFamily="34" charset="0"/>
                <a:ea typeface="Aptos" pitchFamily="34" charset="-122"/>
                <a:cs typeface="Aptos" pitchFamily="34" charset="-120"/>
              </a:rPr>
              <a:t>15</a:t>
            </a:r>
            <a:endParaRPr lang="en-US" sz="2100" dirty="0"/>
          </a:p>
        </p:txBody>
      </p:sp>
      <p:sp>
        <p:nvSpPr>
          <p:cNvPr id="14" name="Text 11"/>
          <p:cNvSpPr/>
          <p:nvPr/>
        </p:nvSpPr>
        <p:spPr>
          <a:xfrm>
            <a:off x="7818120" y="2121408"/>
            <a:ext cx="2057400" cy="329184"/>
          </a:xfrm>
          <a:prstGeom prst="rect">
            <a:avLst/>
          </a:prstGeom>
          <a:noFill/>
          <a:ln/>
        </p:spPr>
        <p:txBody>
          <a:bodyPr wrap="square" lIns="254" tIns="254" rIns="254" bIns="254" rtlCol="0" anchor="t">
            <a:normAutofit/>
          </a:bodyPr>
          <a:lstStyle/>
          <a:p>
            <a:pPr algn="ctr" indent="0" marL="0">
              <a:buNone/>
            </a:pPr>
            <a:r>
              <a:rPr lang="en-US" sz="840" dirty="0">
                <a:solidFill>
                  <a:srgbClr val="C4CDC6"/>
                </a:solidFill>
                <a:latin typeface="Aptos" pitchFamily="34" charset="0"/>
                <a:ea typeface="Aptos" pitchFamily="34" charset="-122"/>
                <a:cs typeface="Aptos" pitchFamily="34" charset="-120"/>
              </a:rPr>
              <a:t>ambiguous charge-off timing exclusions</a:t>
            </a:r>
            <a:endParaRPr lang="en-US" sz="840" dirty="0"/>
          </a:p>
        </p:txBody>
      </p:sp>
      <p:sp>
        <p:nvSpPr>
          <p:cNvPr id="15" name="Shape 12"/>
          <p:cNvSpPr/>
          <p:nvPr/>
        </p:nvSpPr>
        <p:spPr>
          <a:xfrm>
            <a:off x="822960" y="2971800"/>
            <a:ext cx="2755127" cy="338328"/>
          </a:xfrm>
          <a:prstGeom prst="rect">
            <a:avLst/>
          </a:prstGeom>
          <a:solidFill>
            <a:srgbClr val="9DFF00">
              <a:alpha val="18000"/>
            </a:srgbClr>
          </a:solidFill>
          <a:ln w="12700">
            <a:solidFill>
              <a:srgbClr val="333333">
                <a:alpha val="0"/>
              </a:srgbClr>
            </a:solidFill>
            <a:prstDash val="solid"/>
          </a:ln>
        </p:spPr>
      </p:sp>
      <p:sp>
        <p:nvSpPr>
          <p:cNvPr id="16" name="Text 13"/>
          <p:cNvSpPr/>
          <p:nvPr/>
        </p:nvSpPr>
        <p:spPr>
          <a:xfrm>
            <a:off x="864108" y="3003804"/>
            <a:ext cx="2672831" cy="274320"/>
          </a:xfrm>
          <a:prstGeom prst="rect">
            <a:avLst/>
          </a:prstGeom>
          <a:noFill/>
          <a:ln/>
        </p:spPr>
        <p:txBody>
          <a:bodyPr wrap="square" lIns="254" tIns="254" rIns="254" bIns="254" rtlCol="0" anchor="t">
            <a:normAutofit/>
          </a:bodyPr>
          <a:lstStyle/>
          <a:p>
            <a:pPr algn="l" indent="0" marL="0">
              <a:buNone/>
            </a:pPr>
            <a:r>
              <a:rPr lang="en-US" sz="810" b="1" dirty="0">
                <a:solidFill>
                  <a:srgbClr val="9DFF00"/>
                </a:solidFill>
                <a:latin typeface="Aptos" pitchFamily="34" charset="0"/>
                <a:ea typeface="Aptos" pitchFamily="34" charset="-122"/>
                <a:cs typeface="Aptos" pitchFamily="34" charset="-120"/>
              </a:rPr>
              <a:t>Step</a:t>
            </a:r>
            <a:endParaRPr lang="en-US" sz="810" dirty="0"/>
          </a:p>
        </p:txBody>
      </p:sp>
      <p:sp>
        <p:nvSpPr>
          <p:cNvPr id="17" name="Shape 14"/>
          <p:cNvSpPr/>
          <p:nvPr/>
        </p:nvSpPr>
        <p:spPr>
          <a:xfrm>
            <a:off x="3578087" y="2971800"/>
            <a:ext cx="1928589" cy="338328"/>
          </a:xfrm>
          <a:prstGeom prst="rect">
            <a:avLst/>
          </a:prstGeom>
          <a:solidFill>
            <a:srgbClr val="9DFF00">
              <a:alpha val="18000"/>
            </a:srgbClr>
          </a:solidFill>
          <a:ln w="12700">
            <a:solidFill>
              <a:srgbClr val="333333">
                <a:alpha val="0"/>
              </a:srgbClr>
            </a:solidFill>
            <a:prstDash val="solid"/>
          </a:ln>
        </p:spPr>
      </p:sp>
      <p:sp>
        <p:nvSpPr>
          <p:cNvPr id="18" name="Text 15"/>
          <p:cNvSpPr/>
          <p:nvPr/>
        </p:nvSpPr>
        <p:spPr>
          <a:xfrm>
            <a:off x="3619235" y="3003804"/>
            <a:ext cx="1846293" cy="274320"/>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Rows / count</a:t>
            </a:r>
            <a:endParaRPr lang="en-US" sz="810" dirty="0"/>
          </a:p>
        </p:txBody>
      </p:sp>
      <p:sp>
        <p:nvSpPr>
          <p:cNvPr id="19" name="Shape 16"/>
          <p:cNvSpPr/>
          <p:nvPr/>
        </p:nvSpPr>
        <p:spPr>
          <a:xfrm>
            <a:off x="5506676" y="2971800"/>
            <a:ext cx="5877604" cy="338328"/>
          </a:xfrm>
          <a:prstGeom prst="rect">
            <a:avLst/>
          </a:prstGeom>
          <a:solidFill>
            <a:srgbClr val="9DFF00">
              <a:alpha val="18000"/>
            </a:srgbClr>
          </a:solidFill>
          <a:ln w="12700">
            <a:solidFill>
              <a:srgbClr val="333333">
                <a:alpha val="0"/>
              </a:srgbClr>
            </a:solidFill>
            <a:prstDash val="solid"/>
          </a:ln>
        </p:spPr>
      </p:sp>
      <p:sp>
        <p:nvSpPr>
          <p:cNvPr id="20" name="Text 17"/>
          <p:cNvSpPr/>
          <p:nvPr/>
        </p:nvSpPr>
        <p:spPr>
          <a:xfrm>
            <a:off x="5547824" y="3003804"/>
            <a:ext cx="5795308" cy="274320"/>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What it means</a:t>
            </a:r>
            <a:endParaRPr lang="en-US" sz="810" dirty="0"/>
          </a:p>
        </p:txBody>
      </p:sp>
      <p:sp>
        <p:nvSpPr>
          <p:cNvPr id="21" name="Shape 18"/>
          <p:cNvSpPr/>
          <p:nvPr/>
        </p:nvSpPr>
        <p:spPr>
          <a:xfrm>
            <a:off x="822960" y="3310128"/>
            <a:ext cx="10561320" cy="0"/>
          </a:xfrm>
          <a:prstGeom prst="line">
            <a:avLst/>
          </a:prstGeom>
          <a:noFill/>
          <a:ln w="12700">
            <a:solidFill>
              <a:srgbClr val="9DFF00"/>
            </a:solidFill>
            <a:prstDash val="solid"/>
          </a:ln>
        </p:spPr>
      </p:sp>
      <p:sp>
        <p:nvSpPr>
          <p:cNvPr id="22" name="Text 19"/>
          <p:cNvSpPr/>
          <p:nvPr/>
        </p:nvSpPr>
        <p:spPr>
          <a:xfrm>
            <a:off x="864108" y="3342132"/>
            <a:ext cx="2672831" cy="274320"/>
          </a:xfrm>
          <a:prstGeom prst="rect">
            <a:avLst/>
          </a:prstGeom>
          <a:noFill/>
          <a:ln/>
        </p:spPr>
        <p:txBody>
          <a:bodyPr wrap="square" lIns="254" tIns="254" rIns="254" bIns="254" rtlCol="0" anchor="t">
            <a:normAutofit/>
          </a:bodyPr>
          <a:lstStyle/>
          <a:p>
            <a:pPr algn="l" indent="0" marL="0">
              <a:buNone/>
            </a:pPr>
            <a:r>
              <a:rPr lang="en-US" sz="880" dirty="0">
                <a:solidFill>
                  <a:srgbClr val="FFFFFF"/>
                </a:solidFill>
                <a:latin typeface="Aptos" pitchFamily="34" charset="0"/>
                <a:ea typeface="Aptos" pitchFamily="34" charset="-122"/>
                <a:cs typeface="Aptos" pitchFamily="34" charset="-120"/>
              </a:rPr>
              <a:t>Raw after de-duplication</a:t>
            </a:r>
            <a:endParaRPr lang="en-US" sz="880" dirty="0"/>
          </a:p>
        </p:txBody>
      </p:sp>
      <p:sp>
        <p:nvSpPr>
          <p:cNvPr id="23" name="Text 20"/>
          <p:cNvSpPr/>
          <p:nvPr/>
        </p:nvSpPr>
        <p:spPr>
          <a:xfrm>
            <a:off x="3619235" y="3342132"/>
            <a:ext cx="1846293" cy="274320"/>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932,013</a:t>
            </a:r>
            <a:endParaRPr lang="en-US" sz="880" dirty="0"/>
          </a:p>
        </p:txBody>
      </p:sp>
      <p:sp>
        <p:nvSpPr>
          <p:cNvPr id="24" name="Text 21"/>
          <p:cNvSpPr/>
          <p:nvPr/>
        </p:nvSpPr>
        <p:spPr>
          <a:xfrm>
            <a:off x="5547824" y="3342132"/>
            <a:ext cx="5795308" cy="274320"/>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Official SBA records after exact duplicates removed</a:t>
            </a:r>
            <a:endParaRPr lang="en-US" sz="880" dirty="0"/>
          </a:p>
        </p:txBody>
      </p:sp>
      <p:sp>
        <p:nvSpPr>
          <p:cNvPr id="25" name="Shape 22"/>
          <p:cNvSpPr/>
          <p:nvPr/>
        </p:nvSpPr>
        <p:spPr>
          <a:xfrm>
            <a:off x="822960" y="3648456"/>
            <a:ext cx="10561320" cy="0"/>
          </a:xfrm>
          <a:prstGeom prst="line">
            <a:avLst/>
          </a:prstGeom>
          <a:noFill/>
          <a:ln w="6350">
            <a:solidFill>
              <a:srgbClr val="2D342F">
                <a:alpha val="75000"/>
              </a:srgbClr>
            </a:solidFill>
            <a:prstDash val="solid"/>
          </a:ln>
        </p:spPr>
      </p:sp>
      <p:sp>
        <p:nvSpPr>
          <p:cNvPr id="26" name="Text 23"/>
          <p:cNvSpPr/>
          <p:nvPr/>
        </p:nvSpPr>
        <p:spPr>
          <a:xfrm>
            <a:off x="864108" y="3680460"/>
            <a:ext cx="2672831" cy="274320"/>
          </a:xfrm>
          <a:prstGeom prst="rect">
            <a:avLst/>
          </a:prstGeom>
          <a:noFill/>
          <a:ln/>
        </p:spPr>
        <p:txBody>
          <a:bodyPr wrap="square" lIns="254" tIns="254" rIns="254" bIns="254" rtlCol="0" anchor="t">
            <a:normAutofit/>
          </a:bodyPr>
          <a:lstStyle/>
          <a:p>
            <a:pPr algn="l" indent="0" marL="0">
              <a:buNone/>
            </a:pPr>
            <a:r>
              <a:rPr lang="en-US" sz="880" dirty="0">
                <a:solidFill>
                  <a:srgbClr val="FFFFFF"/>
                </a:solidFill>
                <a:latin typeface="Aptos" pitchFamily="34" charset="0"/>
                <a:ea typeface="Aptos" pitchFamily="34" charset="-122"/>
                <a:cs typeface="Aptos" pitchFamily="34" charset="-120"/>
              </a:rPr>
              <a:t>Modeling universe</a:t>
            </a:r>
            <a:endParaRPr lang="en-US" sz="880" dirty="0"/>
          </a:p>
        </p:txBody>
      </p:sp>
      <p:sp>
        <p:nvSpPr>
          <p:cNvPr id="27" name="Text 24"/>
          <p:cNvSpPr/>
          <p:nvPr/>
        </p:nvSpPr>
        <p:spPr>
          <a:xfrm>
            <a:off x="3619235" y="3680460"/>
            <a:ext cx="1846293" cy="274320"/>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543,110</a:t>
            </a:r>
            <a:endParaRPr lang="en-US" sz="880" dirty="0"/>
          </a:p>
        </p:txBody>
      </p:sp>
      <p:sp>
        <p:nvSpPr>
          <p:cNvPr id="28" name="Text 25"/>
          <p:cNvSpPr/>
          <p:nvPr/>
        </p:nvSpPr>
        <p:spPr>
          <a:xfrm>
            <a:off x="5547824" y="3680460"/>
            <a:ext cx="5795308" cy="274320"/>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Full five-year window + usable target</a:t>
            </a:r>
            <a:endParaRPr lang="en-US" sz="880" dirty="0"/>
          </a:p>
        </p:txBody>
      </p:sp>
      <p:sp>
        <p:nvSpPr>
          <p:cNvPr id="29" name="Shape 26"/>
          <p:cNvSpPr/>
          <p:nvPr/>
        </p:nvSpPr>
        <p:spPr>
          <a:xfrm>
            <a:off x="822960" y="3986784"/>
            <a:ext cx="10561320" cy="0"/>
          </a:xfrm>
          <a:prstGeom prst="line">
            <a:avLst/>
          </a:prstGeom>
          <a:noFill/>
          <a:ln w="6350">
            <a:solidFill>
              <a:srgbClr val="2D342F">
                <a:alpha val="75000"/>
              </a:srgbClr>
            </a:solidFill>
            <a:prstDash val="solid"/>
          </a:ln>
        </p:spPr>
      </p:sp>
      <p:sp>
        <p:nvSpPr>
          <p:cNvPr id="30" name="Text 27"/>
          <p:cNvSpPr/>
          <p:nvPr/>
        </p:nvSpPr>
        <p:spPr>
          <a:xfrm>
            <a:off x="864108" y="4018788"/>
            <a:ext cx="2672831" cy="274320"/>
          </a:xfrm>
          <a:prstGeom prst="rect">
            <a:avLst/>
          </a:prstGeom>
          <a:noFill/>
          <a:ln/>
        </p:spPr>
        <p:txBody>
          <a:bodyPr wrap="square" lIns="254" tIns="254" rIns="254" bIns="254" rtlCol="0" anchor="t">
            <a:normAutofit/>
          </a:bodyPr>
          <a:lstStyle/>
          <a:p>
            <a:pPr algn="l" indent="0" marL="0">
              <a:buNone/>
            </a:pPr>
            <a:r>
              <a:rPr lang="en-US" sz="880" dirty="0">
                <a:solidFill>
                  <a:srgbClr val="FFFFFF"/>
                </a:solidFill>
                <a:latin typeface="Aptos" pitchFamily="34" charset="0"/>
                <a:ea typeface="Aptos" pitchFamily="34" charset="-122"/>
                <a:cs typeface="Aptos" pitchFamily="34" charset="-120"/>
              </a:rPr>
              <a:t>Charge-off within 5 years</a:t>
            </a:r>
            <a:endParaRPr lang="en-US" sz="880" dirty="0"/>
          </a:p>
        </p:txBody>
      </p:sp>
      <p:sp>
        <p:nvSpPr>
          <p:cNvPr id="31" name="Text 28"/>
          <p:cNvSpPr/>
          <p:nvPr/>
        </p:nvSpPr>
        <p:spPr>
          <a:xfrm>
            <a:off x="3619235" y="4018788"/>
            <a:ext cx="1846293" cy="274320"/>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20,443</a:t>
            </a:r>
            <a:endParaRPr lang="en-US" sz="880" dirty="0"/>
          </a:p>
        </p:txBody>
      </p:sp>
      <p:sp>
        <p:nvSpPr>
          <p:cNvPr id="32" name="Text 29"/>
          <p:cNvSpPr/>
          <p:nvPr/>
        </p:nvSpPr>
        <p:spPr>
          <a:xfrm>
            <a:off x="5547824" y="4018788"/>
            <a:ext cx="5795308" cy="274320"/>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Positive class</a:t>
            </a:r>
            <a:endParaRPr lang="en-US" sz="880" dirty="0"/>
          </a:p>
        </p:txBody>
      </p:sp>
      <p:sp>
        <p:nvSpPr>
          <p:cNvPr id="33" name="Shape 30"/>
          <p:cNvSpPr/>
          <p:nvPr/>
        </p:nvSpPr>
        <p:spPr>
          <a:xfrm>
            <a:off x="822960" y="4325112"/>
            <a:ext cx="10561320" cy="0"/>
          </a:xfrm>
          <a:prstGeom prst="line">
            <a:avLst/>
          </a:prstGeom>
          <a:noFill/>
          <a:ln w="6350">
            <a:solidFill>
              <a:srgbClr val="2D342F">
                <a:alpha val="75000"/>
              </a:srgbClr>
            </a:solidFill>
            <a:prstDash val="solid"/>
          </a:ln>
        </p:spPr>
      </p:sp>
      <p:sp>
        <p:nvSpPr>
          <p:cNvPr id="34" name="Text 31"/>
          <p:cNvSpPr/>
          <p:nvPr/>
        </p:nvSpPr>
        <p:spPr>
          <a:xfrm>
            <a:off x="864108" y="4357116"/>
            <a:ext cx="2672831" cy="274320"/>
          </a:xfrm>
          <a:prstGeom prst="rect">
            <a:avLst/>
          </a:prstGeom>
          <a:noFill/>
          <a:ln/>
        </p:spPr>
        <p:txBody>
          <a:bodyPr wrap="square" lIns="254" tIns="254" rIns="254" bIns="254" rtlCol="0" anchor="t">
            <a:normAutofit/>
          </a:bodyPr>
          <a:lstStyle/>
          <a:p>
            <a:pPr algn="l" indent="0" marL="0">
              <a:buNone/>
            </a:pPr>
            <a:r>
              <a:rPr lang="en-US" sz="880" dirty="0">
                <a:solidFill>
                  <a:srgbClr val="FFFFFF"/>
                </a:solidFill>
                <a:latin typeface="Aptos" pitchFamily="34" charset="0"/>
                <a:ea typeface="Aptos" pitchFamily="34" charset="-122"/>
                <a:cs typeface="Aptos" pitchFamily="34" charset="-120"/>
              </a:rPr>
              <a:t>No 5-year charge-off</a:t>
            </a:r>
            <a:endParaRPr lang="en-US" sz="880" dirty="0"/>
          </a:p>
        </p:txBody>
      </p:sp>
      <p:sp>
        <p:nvSpPr>
          <p:cNvPr id="35" name="Text 32"/>
          <p:cNvSpPr/>
          <p:nvPr/>
        </p:nvSpPr>
        <p:spPr>
          <a:xfrm>
            <a:off x="3619235" y="4357116"/>
            <a:ext cx="1846293" cy="274320"/>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522,667</a:t>
            </a:r>
            <a:endParaRPr lang="en-US" sz="880" dirty="0"/>
          </a:p>
        </p:txBody>
      </p:sp>
      <p:sp>
        <p:nvSpPr>
          <p:cNvPr id="36" name="Text 33"/>
          <p:cNvSpPr/>
          <p:nvPr/>
        </p:nvSpPr>
        <p:spPr>
          <a:xfrm>
            <a:off x="5547824" y="4357116"/>
            <a:ext cx="5795308" cy="274320"/>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Negative class</a:t>
            </a:r>
            <a:endParaRPr lang="en-US" sz="880" dirty="0"/>
          </a:p>
        </p:txBody>
      </p:sp>
      <p:sp>
        <p:nvSpPr>
          <p:cNvPr id="37" name="Shape 34"/>
          <p:cNvSpPr/>
          <p:nvPr/>
        </p:nvSpPr>
        <p:spPr>
          <a:xfrm>
            <a:off x="822960" y="4663440"/>
            <a:ext cx="10561320" cy="0"/>
          </a:xfrm>
          <a:prstGeom prst="line">
            <a:avLst/>
          </a:prstGeom>
          <a:noFill/>
          <a:ln w="6350">
            <a:solidFill>
              <a:srgbClr val="2D342F">
                <a:alpha val="75000"/>
              </a:srgbClr>
            </a:solidFill>
            <a:prstDash val="solid"/>
          </a:ln>
        </p:spPr>
      </p:sp>
      <p:sp>
        <p:nvSpPr>
          <p:cNvPr id="38" name="Shape 35"/>
          <p:cNvSpPr/>
          <p:nvPr/>
        </p:nvSpPr>
        <p:spPr>
          <a:xfrm>
            <a:off x="960120" y="5257800"/>
            <a:ext cx="9966960" cy="475488"/>
          </a:xfrm>
          <a:prstGeom prst="roundRect">
            <a:avLst>
              <a:gd name="adj" fmla="val 15385"/>
            </a:avLst>
          </a:prstGeom>
          <a:solidFill>
            <a:srgbClr val="000000">
              <a:alpha val="87000"/>
            </a:srgbClr>
          </a:solidFill>
          <a:ln w="12700">
            <a:solidFill>
              <a:srgbClr val="9DFF00">
                <a:alpha val="34000"/>
              </a:srgbClr>
            </a:solidFill>
            <a:prstDash val="solid"/>
          </a:ln>
        </p:spPr>
      </p:sp>
      <p:sp>
        <p:nvSpPr>
          <p:cNvPr id="39" name="Text 36"/>
          <p:cNvSpPr/>
          <p:nvPr/>
        </p:nvSpPr>
        <p:spPr>
          <a:xfrm>
            <a:off x="1188720" y="5394960"/>
            <a:ext cx="9509760" cy="164592"/>
          </a:xfrm>
          <a:prstGeom prst="rect">
            <a:avLst/>
          </a:prstGeom>
          <a:noFill/>
          <a:ln/>
        </p:spPr>
        <p:txBody>
          <a:bodyPr wrap="square" lIns="254" tIns="254" rIns="254" bIns="254" rtlCol="0" anchor="t">
            <a:normAutofit/>
          </a:bodyPr>
          <a:lstStyle/>
          <a:p>
            <a:pPr algn="ctr" indent="0" marL="0">
              <a:buNone/>
            </a:pPr>
            <a:r>
              <a:rPr lang="en-US" sz="1450" b="1" dirty="0">
                <a:solidFill>
                  <a:srgbClr val="9DFF00"/>
                </a:solidFill>
                <a:latin typeface="Aptos" pitchFamily="34" charset="0"/>
                <a:ea typeface="Aptos" pitchFamily="34" charset="-122"/>
                <a:cs typeface="Aptos" pitchFamily="34" charset="-120"/>
              </a:rPr>
              <a:t>Overall event rate = 3.76% → this is an imbalanced classification problem.</a:t>
            </a:r>
            <a:endParaRPr lang="en-US" sz="1450" dirty="0"/>
          </a:p>
        </p:txBody>
      </p:sp>
      <p:sp>
        <p:nvSpPr>
          <p:cNvPr id="40" name="Text 37"/>
          <p:cNvSpPr/>
          <p:nvPr/>
        </p:nvSpPr>
        <p:spPr>
          <a:xfrm>
            <a:off x="566928" y="6473952"/>
            <a:ext cx="6217920" cy="201168"/>
          </a:xfrm>
          <a:prstGeom prst="rect">
            <a:avLst/>
          </a:prstGeom>
          <a:noFill/>
          <a:ln/>
        </p:spPr>
        <p:txBody>
          <a:bodyPr wrap="square" lIns="0" tIns="0" rIns="0" bIns="0" rtlCol="0" anchor="ctr"/>
          <a:lstStyle/>
          <a:p>
            <a:pPr indent="0" marL="0">
              <a:buNone/>
            </a:pPr>
            <a:r>
              <a:rPr lang="en-US" sz="740" dirty="0">
                <a:solidFill>
                  <a:srgbClr val="C4CDC6"/>
                </a:solidFill>
              </a:rPr>
              <a:t>DATA 400 | SBA 7(a) Credit-Risk Mini Project</a:t>
            </a:r>
            <a:endParaRPr lang="en-US" sz="740" dirty="0"/>
          </a:p>
        </p:txBody>
      </p:sp>
      <p:sp>
        <p:nvSpPr>
          <p:cNvPr id="41" name="Text 38"/>
          <p:cNvSpPr/>
          <p:nvPr/>
        </p:nvSpPr>
        <p:spPr>
          <a:xfrm>
            <a:off x="11082528" y="6455664"/>
            <a:ext cx="502920" cy="201168"/>
          </a:xfrm>
          <a:prstGeom prst="rect">
            <a:avLst/>
          </a:prstGeom>
          <a:noFill/>
          <a:ln/>
        </p:spPr>
        <p:txBody>
          <a:bodyPr wrap="square" lIns="0" tIns="0" rIns="0" bIns="0" rtlCol="0" anchor="ctr"/>
          <a:lstStyle/>
          <a:p>
            <a:pPr algn="r" indent="0" marL="0">
              <a:buNone/>
            </a:pPr>
            <a:r>
              <a:rPr lang="en-US" sz="800" b="1" dirty="0">
                <a:solidFill>
                  <a:srgbClr val="9DFF00"/>
                </a:solidFill>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0607"/>
        </a:solidFill>
      </p:bgPr>
    </p:bg>
    <p:spTree>
      <p:nvGrpSpPr>
        <p:cNvPr id="1" name=""/>
        <p:cNvGrpSpPr/>
        <p:nvPr/>
      </p:nvGrpSpPr>
      <p:grpSpPr>
        <a:xfrm>
          <a:off x="0" y="0"/>
          <a:ext cx="0" cy="0"/>
          <a:chOff x="0" y="0"/>
          <a:chExt cx="0" cy="0"/>
        </a:xfrm>
      </p:grpSpPr>
      <p:pic>
        <p:nvPicPr>
          <p:cNvPr id="2" name="Image 0" descr="/mnt/data/sample_ppt_extract/ppt/media/dark_image5.jpeg">    </p:cNvPr>
          <p:cNvPicPr>
            <a:picLocks noChangeAspect="1"/>
          </p:cNvPicPr>
          <p:nvPr/>
        </p:nvPicPr>
        <p:blipFill>
          <a:blip r:embed="rId1"/>
          <a:srcRect l="0" r="0" t="7811" b="7811"/>
          <a:stretch/>
        </p:blipFill>
        <p:spPr>
          <a:xfrm>
            <a:off x="0" y="0"/>
            <a:ext cx="12191695" cy="6858000"/>
          </a:xfrm>
          <a:prstGeom prst="rect">
            <a:avLst/>
          </a:prstGeom>
        </p:spPr>
      </p:pic>
      <p:sp>
        <p:nvSpPr>
          <p:cNvPr id="3" name="Shape 0"/>
          <p:cNvSpPr/>
          <p:nvPr/>
        </p:nvSpPr>
        <p:spPr>
          <a:xfrm>
            <a:off x="201168" y="256032"/>
            <a:ext cx="50292" cy="6263640"/>
          </a:xfrm>
          <a:prstGeom prst="rect">
            <a:avLst/>
          </a:prstGeom>
          <a:solidFill>
            <a:srgbClr val="9DFF00"/>
          </a:solidFill>
          <a:ln w="12700">
            <a:solidFill>
              <a:srgbClr val="333333">
                <a:alpha val="0"/>
              </a:srgbClr>
            </a:solidFill>
            <a:prstDash val="solid"/>
          </a:ln>
        </p:spPr>
      </p:sp>
      <p:sp>
        <p:nvSpPr>
          <p:cNvPr id="4" name="Text 1"/>
          <p:cNvSpPr/>
          <p:nvPr/>
        </p:nvSpPr>
        <p:spPr>
          <a:xfrm>
            <a:off x="566928" y="310896"/>
            <a:ext cx="4754880" cy="228600"/>
          </a:xfrm>
          <a:prstGeom prst="rect">
            <a:avLst/>
          </a:prstGeom>
          <a:noFill/>
          <a:ln/>
        </p:spPr>
        <p:txBody>
          <a:bodyPr wrap="square" lIns="0" tIns="0" rIns="0" bIns="0" rtlCol="0" anchor="ctr">
            <a:normAutofit/>
          </a:bodyPr>
          <a:lstStyle/>
          <a:p>
            <a:pPr indent="0" marL="0">
              <a:buNone/>
            </a:pPr>
            <a:r>
              <a:rPr lang="en-US" sz="850" b="1" dirty="0">
                <a:solidFill>
                  <a:srgbClr val="9DFF00"/>
                </a:solidFill>
                <a:latin typeface="Aptos" pitchFamily="34" charset="0"/>
                <a:ea typeface="Aptos" pitchFamily="34" charset="-122"/>
                <a:cs typeface="Aptos" pitchFamily="34" charset="-120"/>
              </a:rPr>
              <a:t>TIME-BASED SPLIT</a:t>
            </a:r>
            <a:endParaRPr lang="en-US" sz="850" dirty="0"/>
          </a:p>
        </p:txBody>
      </p:sp>
      <p:sp>
        <p:nvSpPr>
          <p:cNvPr id="5" name="Text 2"/>
          <p:cNvSpPr/>
          <p:nvPr/>
        </p:nvSpPr>
        <p:spPr>
          <a:xfrm>
            <a:off x="566928" y="621792"/>
            <a:ext cx="10652760" cy="566928"/>
          </a:xfrm>
          <a:prstGeom prst="rect">
            <a:avLst/>
          </a:prstGeom>
          <a:noFill/>
          <a:ln/>
        </p:spPr>
        <p:txBody>
          <a:bodyPr wrap="square" lIns="0" tIns="0" rIns="0" bIns="0" rtlCol="0" anchor="ctr">
            <a:normAutofit/>
          </a:bodyPr>
          <a:lstStyle/>
          <a:p>
            <a:pPr indent="0" marL="0">
              <a:buNone/>
            </a:pPr>
            <a:r>
              <a:rPr lang="en-US" sz="2450" b="1" dirty="0">
                <a:solidFill>
                  <a:srgbClr val="FFFFFF"/>
                </a:solidFill>
                <a:latin typeface="Aptos Display" pitchFamily="34" charset="0"/>
                <a:ea typeface="Aptos Display" pitchFamily="34" charset="-122"/>
                <a:cs typeface="Aptos Display" pitchFamily="34" charset="-120"/>
              </a:rPr>
              <a:t>Model choices are made before touching the future test set</a:t>
            </a:r>
            <a:endParaRPr lang="en-US" sz="2450" dirty="0"/>
          </a:p>
        </p:txBody>
      </p:sp>
      <p:sp>
        <p:nvSpPr>
          <p:cNvPr id="6" name="Shape 3"/>
          <p:cNvSpPr/>
          <p:nvPr/>
        </p:nvSpPr>
        <p:spPr>
          <a:xfrm>
            <a:off x="566928" y="1307592"/>
            <a:ext cx="10716768" cy="0"/>
          </a:xfrm>
          <a:prstGeom prst="line">
            <a:avLst/>
          </a:prstGeom>
          <a:noFill/>
          <a:ln w="13335">
            <a:solidFill>
              <a:srgbClr val="9DFF00">
                <a:alpha val="95000"/>
              </a:srgbClr>
            </a:solidFill>
            <a:prstDash val="solid"/>
          </a:ln>
        </p:spPr>
      </p:sp>
      <p:sp>
        <p:nvSpPr>
          <p:cNvPr id="7" name="Shape 4"/>
          <p:cNvSpPr/>
          <p:nvPr/>
        </p:nvSpPr>
        <p:spPr>
          <a:xfrm>
            <a:off x="777240" y="1783080"/>
            <a:ext cx="1417320" cy="422910"/>
          </a:xfrm>
          <a:prstGeom prst="rect">
            <a:avLst/>
          </a:prstGeom>
          <a:solidFill>
            <a:srgbClr val="9DFF00">
              <a:alpha val="18000"/>
            </a:srgbClr>
          </a:solidFill>
          <a:ln w="12700">
            <a:solidFill>
              <a:srgbClr val="333333">
                <a:alpha val="0"/>
              </a:srgbClr>
            </a:solidFill>
            <a:prstDash val="solid"/>
          </a:ln>
        </p:spPr>
      </p:sp>
      <p:sp>
        <p:nvSpPr>
          <p:cNvPr id="8" name="Text 5"/>
          <p:cNvSpPr/>
          <p:nvPr/>
        </p:nvSpPr>
        <p:spPr>
          <a:xfrm>
            <a:off x="818388" y="1815084"/>
            <a:ext cx="1335024" cy="358902"/>
          </a:xfrm>
          <a:prstGeom prst="rect">
            <a:avLst/>
          </a:prstGeom>
          <a:noFill/>
          <a:ln/>
        </p:spPr>
        <p:txBody>
          <a:bodyPr wrap="square" lIns="254" tIns="254" rIns="254" bIns="254" rtlCol="0" anchor="t">
            <a:normAutofit/>
          </a:bodyPr>
          <a:lstStyle/>
          <a:p>
            <a:pPr algn="l" indent="0" marL="0">
              <a:buNone/>
            </a:pPr>
            <a:r>
              <a:rPr lang="en-US" sz="810" b="1" dirty="0">
                <a:solidFill>
                  <a:srgbClr val="9DFF00"/>
                </a:solidFill>
                <a:latin typeface="Aptos" pitchFamily="34" charset="0"/>
                <a:ea typeface="Aptos" pitchFamily="34" charset="-122"/>
                <a:cs typeface="Aptos" pitchFamily="34" charset="-120"/>
              </a:rPr>
              <a:t>Split</a:t>
            </a:r>
            <a:endParaRPr lang="en-US" sz="810" dirty="0"/>
          </a:p>
        </p:txBody>
      </p:sp>
      <p:sp>
        <p:nvSpPr>
          <p:cNvPr id="9" name="Shape 6"/>
          <p:cNvSpPr/>
          <p:nvPr/>
        </p:nvSpPr>
        <p:spPr>
          <a:xfrm>
            <a:off x="2194560" y="1783080"/>
            <a:ext cx="3108960" cy="422910"/>
          </a:xfrm>
          <a:prstGeom prst="rect">
            <a:avLst/>
          </a:prstGeom>
          <a:solidFill>
            <a:srgbClr val="9DFF00">
              <a:alpha val="18000"/>
            </a:srgbClr>
          </a:solidFill>
          <a:ln w="12700">
            <a:solidFill>
              <a:srgbClr val="333333">
                <a:alpha val="0"/>
              </a:srgbClr>
            </a:solidFill>
            <a:prstDash val="solid"/>
          </a:ln>
        </p:spPr>
      </p:sp>
      <p:sp>
        <p:nvSpPr>
          <p:cNvPr id="10" name="Text 7"/>
          <p:cNvSpPr/>
          <p:nvPr/>
        </p:nvSpPr>
        <p:spPr>
          <a:xfrm>
            <a:off x="2235708" y="1815084"/>
            <a:ext cx="3026664" cy="358902"/>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Approval period</a:t>
            </a:r>
            <a:endParaRPr lang="en-US" sz="810" dirty="0"/>
          </a:p>
        </p:txBody>
      </p:sp>
      <p:sp>
        <p:nvSpPr>
          <p:cNvPr id="11" name="Shape 8"/>
          <p:cNvSpPr/>
          <p:nvPr/>
        </p:nvSpPr>
        <p:spPr>
          <a:xfrm>
            <a:off x="5303520" y="1783080"/>
            <a:ext cx="1417320" cy="422910"/>
          </a:xfrm>
          <a:prstGeom prst="rect">
            <a:avLst/>
          </a:prstGeom>
          <a:solidFill>
            <a:srgbClr val="9DFF00">
              <a:alpha val="18000"/>
            </a:srgbClr>
          </a:solidFill>
          <a:ln w="12700">
            <a:solidFill>
              <a:srgbClr val="333333">
                <a:alpha val="0"/>
              </a:srgbClr>
            </a:solidFill>
            <a:prstDash val="solid"/>
          </a:ln>
        </p:spPr>
      </p:sp>
      <p:sp>
        <p:nvSpPr>
          <p:cNvPr id="12" name="Text 9"/>
          <p:cNvSpPr/>
          <p:nvPr/>
        </p:nvSpPr>
        <p:spPr>
          <a:xfrm>
            <a:off x="5344668" y="1815084"/>
            <a:ext cx="1335024" cy="358902"/>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Rows</a:t>
            </a:r>
            <a:endParaRPr lang="en-US" sz="810" dirty="0"/>
          </a:p>
        </p:txBody>
      </p:sp>
      <p:sp>
        <p:nvSpPr>
          <p:cNvPr id="13" name="Shape 10"/>
          <p:cNvSpPr/>
          <p:nvPr/>
        </p:nvSpPr>
        <p:spPr>
          <a:xfrm>
            <a:off x="6720840" y="1783080"/>
            <a:ext cx="1600200" cy="422910"/>
          </a:xfrm>
          <a:prstGeom prst="rect">
            <a:avLst/>
          </a:prstGeom>
          <a:solidFill>
            <a:srgbClr val="9DFF00">
              <a:alpha val="18000"/>
            </a:srgbClr>
          </a:solidFill>
          <a:ln w="12700">
            <a:solidFill>
              <a:srgbClr val="333333">
                <a:alpha val="0"/>
              </a:srgbClr>
            </a:solidFill>
            <a:prstDash val="solid"/>
          </a:ln>
        </p:spPr>
      </p:sp>
      <p:sp>
        <p:nvSpPr>
          <p:cNvPr id="14" name="Text 11"/>
          <p:cNvSpPr/>
          <p:nvPr/>
        </p:nvSpPr>
        <p:spPr>
          <a:xfrm>
            <a:off x="6761988" y="1815084"/>
            <a:ext cx="1517904" cy="358902"/>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Charge-off rate</a:t>
            </a:r>
            <a:endParaRPr lang="en-US" sz="810" dirty="0"/>
          </a:p>
        </p:txBody>
      </p:sp>
      <p:sp>
        <p:nvSpPr>
          <p:cNvPr id="15" name="Shape 12"/>
          <p:cNvSpPr/>
          <p:nvPr/>
        </p:nvSpPr>
        <p:spPr>
          <a:xfrm>
            <a:off x="8321040" y="1783080"/>
            <a:ext cx="3108960" cy="422910"/>
          </a:xfrm>
          <a:prstGeom prst="rect">
            <a:avLst/>
          </a:prstGeom>
          <a:solidFill>
            <a:srgbClr val="9DFF00">
              <a:alpha val="18000"/>
            </a:srgbClr>
          </a:solidFill>
          <a:ln w="12700">
            <a:solidFill>
              <a:srgbClr val="333333">
                <a:alpha val="0"/>
              </a:srgbClr>
            </a:solidFill>
            <a:prstDash val="solid"/>
          </a:ln>
        </p:spPr>
      </p:sp>
      <p:sp>
        <p:nvSpPr>
          <p:cNvPr id="16" name="Text 13"/>
          <p:cNvSpPr/>
          <p:nvPr/>
        </p:nvSpPr>
        <p:spPr>
          <a:xfrm>
            <a:off x="8362188" y="1815084"/>
            <a:ext cx="3026664" cy="358902"/>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Purpose</a:t>
            </a:r>
            <a:endParaRPr lang="en-US" sz="810" dirty="0"/>
          </a:p>
        </p:txBody>
      </p:sp>
      <p:sp>
        <p:nvSpPr>
          <p:cNvPr id="17" name="Shape 14"/>
          <p:cNvSpPr/>
          <p:nvPr/>
        </p:nvSpPr>
        <p:spPr>
          <a:xfrm>
            <a:off x="777240" y="2205990"/>
            <a:ext cx="10652760" cy="0"/>
          </a:xfrm>
          <a:prstGeom prst="line">
            <a:avLst/>
          </a:prstGeom>
          <a:noFill/>
          <a:ln w="12700">
            <a:solidFill>
              <a:srgbClr val="9DFF00"/>
            </a:solidFill>
            <a:prstDash val="solid"/>
          </a:ln>
        </p:spPr>
      </p:sp>
      <p:sp>
        <p:nvSpPr>
          <p:cNvPr id="18" name="Text 15"/>
          <p:cNvSpPr/>
          <p:nvPr/>
        </p:nvSpPr>
        <p:spPr>
          <a:xfrm>
            <a:off x="818388" y="2237994"/>
            <a:ext cx="1335024" cy="358902"/>
          </a:xfrm>
          <a:prstGeom prst="rect">
            <a:avLst/>
          </a:prstGeom>
          <a:noFill/>
          <a:ln/>
        </p:spPr>
        <p:txBody>
          <a:bodyPr wrap="square" lIns="254" tIns="254" rIns="254" bIns="254" rtlCol="0" anchor="t">
            <a:normAutofit/>
          </a:bodyPr>
          <a:lstStyle/>
          <a:p>
            <a:pPr algn="l" indent="0" marL="0">
              <a:buNone/>
            </a:pPr>
            <a:r>
              <a:rPr lang="en-US" sz="840" dirty="0">
                <a:solidFill>
                  <a:srgbClr val="FFFFFF"/>
                </a:solidFill>
                <a:latin typeface="Aptos" pitchFamily="34" charset="0"/>
                <a:ea typeface="Aptos" pitchFamily="34" charset="-122"/>
                <a:cs typeface="Aptos" pitchFamily="34" charset="-120"/>
              </a:rPr>
              <a:t>Train</a:t>
            </a:r>
            <a:endParaRPr lang="en-US" sz="840" dirty="0"/>
          </a:p>
        </p:txBody>
      </p:sp>
      <p:sp>
        <p:nvSpPr>
          <p:cNvPr id="19" name="Text 16"/>
          <p:cNvSpPr/>
          <p:nvPr/>
        </p:nvSpPr>
        <p:spPr>
          <a:xfrm>
            <a:off x="2235708" y="2237994"/>
            <a:ext cx="3026664" cy="35890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2009-10-01 to 2017-12-31</a:t>
            </a:r>
            <a:endParaRPr lang="en-US" sz="840" dirty="0"/>
          </a:p>
        </p:txBody>
      </p:sp>
      <p:sp>
        <p:nvSpPr>
          <p:cNvPr id="20" name="Text 17"/>
          <p:cNvSpPr/>
          <p:nvPr/>
        </p:nvSpPr>
        <p:spPr>
          <a:xfrm>
            <a:off x="5344668" y="2237994"/>
            <a:ext cx="1335024" cy="35890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393,008</a:t>
            </a:r>
            <a:endParaRPr lang="en-US" sz="840" dirty="0"/>
          </a:p>
        </p:txBody>
      </p:sp>
      <p:sp>
        <p:nvSpPr>
          <p:cNvPr id="21" name="Text 18"/>
          <p:cNvSpPr/>
          <p:nvPr/>
        </p:nvSpPr>
        <p:spPr>
          <a:xfrm>
            <a:off x="6761988" y="2237994"/>
            <a:ext cx="1517904" cy="35890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3.86%</a:t>
            </a:r>
            <a:endParaRPr lang="en-US" sz="840" dirty="0"/>
          </a:p>
        </p:txBody>
      </p:sp>
      <p:sp>
        <p:nvSpPr>
          <p:cNvPr id="22" name="Text 19"/>
          <p:cNvSpPr/>
          <p:nvPr/>
        </p:nvSpPr>
        <p:spPr>
          <a:xfrm>
            <a:off x="8362188" y="2237994"/>
            <a:ext cx="3026664" cy="35890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Fit models + EDA</a:t>
            </a:r>
            <a:endParaRPr lang="en-US" sz="840" dirty="0"/>
          </a:p>
        </p:txBody>
      </p:sp>
      <p:sp>
        <p:nvSpPr>
          <p:cNvPr id="23" name="Shape 20"/>
          <p:cNvSpPr/>
          <p:nvPr/>
        </p:nvSpPr>
        <p:spPr>
          <a:xfrm>
            <a:off x="777240" y="2628900"/>
            <a:ext cx="10652760" cy="0"/>
          </a:xfrm>
          <a:prstGeom prst="line">
            <a:avLst/>
          </a:prstGeom>
          <a:noFill/>
          <a:ln w="6350">
            <a:solidFill>
              <a:srgbClr val="2D342F">
                <a:alpha val="75000"/>
              </a:srgbClr>
            </a:solidFill>
            <a:prstDash val="solid"/>
          </a:ln>
        </p:spPr>
      </p:sp>
      <p:sp>
        <p:nvSpPr>
          <p:cNvPr id="24" name="Text 21"/>
          <p:cNvSpPr/>
          <p:nvPr/>
        </p:nvSpPr>
        <p:spPr>
          <a:xfrm>
            <a:off x="818388" y="2660904"/>
            <a:ext cx="1335024" cy="358902"/>
          </a:xfrm>
          <a:prstGeom prst="rect">
            <a:avLst/>
          </a:prstGeom>
          <a:noFill/>
          <a:ln/>
        </p:spPr>
        <p:txBody>
          <a:bodyPr wrap="square" lIns="254" tIns="254" rIns="254" bIns="254" rtlCol="0" anchor="t">
            <a:normAutofit/>
          </a:bodyPr>
          <a:lstStyle/>
          <a:p>
            <a:pPr algn="l" indent="0" marL="0">
              <a:buNone/>
            </a:pPr>
            <a:r>
              <a:rPr lang="en-US" sz="840" dirty="0">
                <a:solidFill>
                  <a:srgbClr val="FFFFFF"/>
                </a:solidFill>
                <a:latin typeface="Aptos" pitchFamily="34" charset="0"/>
                <a:ea typeface="Aptos" pitchFamily="34" charset="-122"/>
                <a:cs typeface="Aptos" pitchFamily="34" charset="-120"/>
              </a:rPr>
              <a:t>Validation</a:t>
            </a:r>
            <a:endParaRPr lang="en-US" sz="840" dirty="0"/>
          </a:p>
        </p:txBody>
      </p:sp>
      <p:sp>
        <p:nvSpPr>
          <p:cNvPr id="25" name="Text 22"/>
          <p:cNvSpPr/>
          <p:nvPr/>
        </p:nvSpPr>
        <p:spPr>
          <a:xfrm>
            <a:off x="2235708" y="2660904"/>
            <a:ext cx="3026664" cy="35890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2018-01-01 to 2019-12-31</a:t>
            </a:r>
            <a:endParaRPr lang="en-US" sz="840" dirty="0"/>
          </a:p>
        </p:txBody>
      </p:sp>
      <p:sp>
        <p:nvSpPr>
          <p:cNvPr id="26" name="Text 23"/>
          <p:cNvSpPr/>
          <p:nvPr/>
        </p:nvSpPr>
        <p:spPr>
          <a:xfrm>
            <a:off x="5344668" y="2660904"/>
            <a:ext cx="1335024" cy="35890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95,853</a:t>
            </a:r>
            <a:endParaRPr lang="en-US" sz="840" dirty="0"/>
          </a:p>
        </p:txBody>
      </p:sp>
      <p:sp>
        <p:nvSpPr>
          <p:cNvPr id="27" name="Text 24"/>
          <p:cNvSpPr/>
          <p:nvPr/>
        </p:nvSpPr>
        <p:spPr>
          <a:xfrm>
            <a:off x="6761988" y="2660904"/>
            <a:ext cx="1517904" cy="35890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4.18%</a:t>
            </a:r>
            <a:endParaRPr lang="en-US" sz="840" dirty="0"/>
          </a:p>
        </p:txBody>
      </p:sp>
      <p:sp>
        <p:nvSpPr>
          <p:cNvPr id="28" name="Text 25"/>
          <p:cNvSpPr/>
          <p:nvPr/>
        </p:nvSpPr>
        <p:spPr>
          <a:xfrm>
            <a:off x="8362188" y="2660904"/>
            <a:ext cx="3026664" cy="35890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Choose model + threshold</a:t>
            </a:r>
            <a:endParaRPr lang="en-US" sz="840" dirty="0"/>
          </a:p>
        </p:txBody>
      </p:sp>
      <p:sp>
        <p:nvSpPr>
          <p:cNvPr id="29" name="Shape 26"/>
          <p:cNvSpPr/>
          <p:nvPr/>
        </p:nvSpPr>
        <p:spPr>
          <a:xfrm>
            <a:off x="777240" y="3051810"/>
            <a:ext cx="10652760" cy="0"/>
          </a:xfrm>
          <a:prstGeom prst="line">
            <a:avLst/>
          </a:prstGeom>
          <a:noFill/>
          <a:ln w="6350">
            <a:solidFill>
              <a:srgbClr val="2D342F">
                <a:alpha val="75000"/>
              </a:srgbClr>
            </a:solidFill>
            <a:prstDash val="solid"/>
          </a:ln>
        </p:spPr>
      </p:sp>
      <p:sp>
        <p:nvSpPr>
          <p:cNvPr id="30" name="Text 27"/>
          <p:cNvSpPr/>
          <p:nvPr/>
        </p:nvSpPr>
        <p:spPr>
          <a:xfrm>
            <a:off x="818388" y="3083814"/>
            <a:ext cx="1335024" cy="358902"/>
          </a:xfrm>
          <a:prstGeom prst="rect">
            <a:avLst/>
          </a:prstGeom>
          <a:noFill/>
          <a:ln/>
        </p:spPr>
        <p:txBody>
          <a:bodyPr wrap="square" lIns="254" tIns="254" rIns="254" bIns="254" rtlCol="0" anchor="t">
            <a:normAutofit/>
          </a:bodyPr>
          <a:lstStyle/>
          <a:p>
            <a:pPr algn="l" indent="0" marL="0">
              <a:buNone/>
            </a:pPr>
            <a:r>
              <a:rPr lang="en-US" sz="840" dirty="0">
                <a:solidFill>
                  <a:srgbClr val="FFFFFF"/>
                </a:solidFill>
                <a:latin typeface="Aptos" pitchFamily="34" charset="0"/>
                <a:ea typeface="Aptos" pitchFamily="34" charset="-122"/>
                <a:cs typeface="Aptos" pitchFamily="34" charset="-120"/>
              </a:rPr>
              <a:t>Locked test</a:t>
            </a:r>
            <a:endParaRPr lang="en-US" sz="840" dirty="0"/>
          </a:p>
        </p:txBody>
      </p:sp>
      <p:sp>
        <p:nvSpPr>
          <p:cNvPr id="31" name="Text 28"/>
          <p:cNvSpPr/>
          <p:nvPr/>
        </p:nvSpPr>
        <p:spPr>
          <a:xfrm>
            <a:off x="2235708" y="3083814"/>
            <a:ext cx="3026664" cy="35890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2020-01-01 to 2021-06-30</a:t>
            </a:r>
            <a:endParaRPr lang="en-US" sz="840" dirty="0"/>
          </a:p>
        </p:txBody>
      </p:sp>
      <p:sp>
        <p:nvSpPr>
          <p:cNvPr id="32" name="Text 29"/>
          <p:cNvSpPr/>
          <p:nvPr/>
        </p:nvSpPr>
        <p:spPr>
          <a:xfrm>
            <a:off x="5344668" y="3083814"/>
            <a:ext cx="1335024" cy="35890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54,249</a:t>
            </a:r>
            <a:endParaRPr lang="en-US" sz="840" dirty="0"/>
          </a:p>
        </p:txBody>
      </p:sp>
      <p:sp>
        <p:nvSpPr>
          <p:cNvPr id="33" name="Text 30"/>
          <p:cNvSpPr/>
          <p:nvPr/>
        </p:nvSpPr>
        <p:spPr>
          <a:xfrm>
            <a:off x="6761988" y="3083814"/>
            <a:ext cx="1517904" cy="35890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2.36%</a:t>
            </a:r>
            <a:endParaRPr lang="en-US" sz="840" dirty="0"/>
          </a:p>
        </p:txBody>
      </p:sp>
      <p:sp>
        <p:nvSpPr>
          <p:cNvPr id="34" name="Text 31"/>
          <p:cNvSpPr/>
          <p:nvPr/>
        </p:nvSpPr>
        <p:spPr>
          <a:xfrm>
            <a:off x="8362188" y="3083814"/>
            <a:ext cx="3026664" cy="35890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Final future-period evaluation</a:t>
            </a:r>
            <a:endParaRPr lang="en-US" sz="840" dirty="0"/>
          </a:p>
        </p:txBody>
      </p:sp>
      <p:sp>
        <p:nvSpPr>
          <p:cNvPr id="35" name="Shape 32"/>
          <p:cNvSpPr/>
          <p:nvPr/>
        </p:nvSpPr>
        <p:spPr>
          <a:xfrm>
            <a:off x="777240" y="3474720"/>
            <a:ext cx="10652760" cy="0"/>
          </a:xfrm>
          <a:prstGeom prst="line">
            <a:avLst/>
          </a:prstGeom>
          <a:noFill/>
          <a:ln w="6350">
            <a:solidFill>
              <a:srgbClr val="2D342F">
                <a:alpha val="75000"/>
              </a:srgbClr>
            </a:solidFill>
            <a:prstDash val="solid"/>
          </a:ln>
        </p:spPr>
      </p:sp>
      <p:sp>
        <p:nvSpPr>
          <p:cNvPr id="36" name="Shape 33"/>
          <p:cNvSpPr/>
          <p:nvPr/>
        </p:nvSpPr>
        <p:spPr>
          <a:xfrm>
            <a:off x="868680" y="3977640"/>
            <a:ext cx="4937760" cy="1234440"/>
          </a:xfrm>
          <a:prstGeom prst="roundRect">
            <a:avLst>
              <a:gd name="adj" fmla="val 5926"/>
            </a:avLst>
          </a:prstGeom>
          <a:solidFill>
            <a:srgbClr val="000000">
              <a:alpha val="82000"/>
            </a:srgbClr>
          </a:solidFill>
          <a:ln w="12700">
            <a:solidFill>
              <a:srgbClr val="9DFF00">
                <a:alpha val="34000"/>
              </a:srgbClr>
            </a:solidFill>
            <a:prstDash val="solid"/>
          </a:ln>
        </p:spPr>
      </p:sp>
      <p:sp>
        <p:nvSpPr>
          <p:cNvPr id="37" name="Text 34"/>
          <p:cNvSpPr/>
          <p:nvPr/>
        </p:nvSpPr>
        <p:spPr>
          <a:xfrm>
            <a:off x="1097280" y="4187952"/>
            <a:ext cx="201168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Why not random split?</a:t>
            </a:r>
            <a:endParaRPr lang="en-US" sz="1360" dirty="0"/>
          </a:p>
        </p:txBody>
      </p:sp>
      <p:sp>
        <p:nvSpPr>
          <p:cNvPr id="38" name="Text 35"/>
          <p:cNvSpPr/>
          <p:nvPr/>
        </p:nvSpPr>
        <p:spPr>
          <a:xfrm>
            <a:off x="1207008" y="4553712"/>
            <a:ext cx="3977640" cy="548640"/>
          </a:xfrm>
          <a:prstGeom prst="rect">
            <a:avLst/>
          </a:prstGeom>
          <a:noFill/>
          <a:ln/>
        </p:spPr>
        <p:txBody>
          <a:bodyPr wrap="square" lIns="254" tIns="254" rIns="254" bIns="254" rtlCol="0" anchor="ctr">
            <a:normAutofit/>
          </a:bodyPr>
          <a:lstStyle/>
          <a:p>
            <a:r>
              <a:rPr lang="en-US" sz="950" dirty="0">
                <a:solidFill>
                  <a:srgbClr val="FFFFFF"/>
                </a:solidFill>
                <a:latin typeface="Aptos" pitchFamily="34" charset="0"/>
                <a:ea typeface="Aptos" pitchFamily="34" charset="-122"/>
                <a:cs typeface="Aptos" pitchFamily="34" charset="-120"/>
              </a:rPr>
              <a:t>Credit-risk patterns drift over time.</a:t>
            </a:r>
            <a:endParaRPr lang="en-US" sz="950" dirty="0"/>
          </a:p>
          <a:p>
            <a:r>
              <a:rPr lang="en-US" sz="950" dirty="0">
                <a:solidFill>
                  <a:srgbClr val="FFFFFF"/>
                </a:solidFill>
                <a:latin typeface="Aptos" pitchFamily="34" charset="0"/>
                <a:ea typeface="Aptos" pitchFamily="34" charset="-122"/>
                <a:cs typeface="Aptos" pitchFamily="34" charset="-120"/>
              </a:rPr>
              <a:t>A future-period test better reflects deployment.</a:t>
            </a:r>
            <a:endParaRPr lang="en-US" sz="950" dirty="0"/>
          </a:p>
          <a:p>
            <a:r>
              <a:rPr lang="en-US" sz="950" dirty="0">
                <a:solidFill>
                  <a:srgbClr val="FFFFFF"/>
                </a:solidFill>
                <a:latin typeface="Aptos" pitchFamily="34" charset="0"/>
                <a:ea typeface="Aptos" pitchFamily="34" charset="-122"/>
                <a:cs typeface="Aptos" pitchFamily="34" charset="-120"/>
              </a:rPr>
              <a:t>The test set stays locked until the end.</a:t>
            </a:r>
            <a:endParaRPr lang="en-US" sz="950" dirty="0"/>
          </a:p>
        </p:txBody>
      </p:sp>
      <p:sp>
        <p:nvSpPr>
          <p:cNvPr id="39" name="Shape 36"/>
          <p:cNvSpPr/>
          <p:nvPr/>
        </p:nvSpPr>
        <p:spPr>
          <a:xfrm>
            <a:off x="6355080" y="3977640"/>
            <a:ext cx="4937760" cy="1234440"/>
          </a:xfrm>
          <a:prstGeom prst="roundRect">
            <a:avLst>
              <a:gd name="adj" fmla="val 5926"/>
            </a:avLst>
          </a:prstGeom>
          <a:solidFill>
            <a:srgbClr val="000000">
              <a:alpha val="82000"/>
            </a:srgbClr>
          </a:solidFill>
          <a:ln w="12700">
            <a:solidFill>
              <a:srgbClr val="9DFF00">
                <a:alpha val="34000"/>
              </a:srgbClr>
            </a:solidFill>
            <a:prstDash val="solid"/>
          </a:ln>
        </p:spPr>
      </p:sp>
      <p:sp>
        <p:nvSpPr>
          <p:cNvPr id="40" name="Text 37"/>
          <p:cNvSpPr/>
          <p:nvPr/>
        </p:nvSpPr>
        <p:spPr>
          <a:xfrm>
            <a:off x="6583680" y="4187952"/>
            <a:ext cx="219456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What changes in test?</a:t>
            </a:r>
            <a:endParaRPr lang="en-US" sz="1360" dirty="0"/>
          </a:p>
        </p:txBody>
      </p:sp>
      <p:sp>
        <p:nvSpPr>
          <p:cNvPr id="41" name="Text 38"/>
          <p:cNvSpPr/>
          <p:nvPr/>
        </p:nvSpPr>
        <p:spPr>
          <a:xfrm>
            <a:off x="6693408" y="4553712"/>
            <a:ext cx="4069080" cy="402336"/>
          </a:xfrm>
          <a:prstGeom prst="rect">
            <a:avLst/>
          </a:prstGeom>
          <a:noFill/>
          <a:ln/>
        </p:spPr>
        <p:txBody>
          <a:bodyPr wrap="square" lIns="254" tIns="254" rIns="254" bIns="254" rtlCol="0" anchor="t">
            <a:normAutofit/>
          </a:bodyPr>
          <a:lstStyle/>
          <a:p>
            <a:pPr algn="l" indent="0" marL="0">
              <a:buNone/>
            </a:pPr>
            <a:r>
              <a:rPr lang="en-US" sz="1020" dirty="0">
                <a:solidFill>
                  <a:srgbClr val="FFFFFF"/>
                </a:solidFill>
                <a:latin typeface="Aptos" pitchFamily="34" charset="0"/>
                <a:ea typeface="Aptos" pitchFamily="34" charset="-122"/>
                <a:cs typeface="Aptos" pitchFamily="34" charset="-120"/>
              </a:rPr>
              <a:t>The test base rate falls to 2.36%, which means future evaluation is harder and more realistic than measuring only older cohorts.</a:t>
            </a:r>
            <a:endParaRPr lang="en-US" sz="1020" dirty="0"/>
          </a:p>
        </p:txBody>
      </p:sp>
      <p:sp>
        <p:nvSpPr>
          <p:cNvPr id="42" name="Text 39"/>
          <p:cNvSpPr/>
          <p:nvPr/>
        </p:nvSpPr>
        <p:spPr>
          <a:xfrm>
            <a:off x="566928" y="6473952"/>
            <a:ext cx="6217920" cy="201168"/>
          </a:xfrm>
          <a:prstGeom prst="rect">
            <a:avLst/>
          </a:prstGeom>
          <a:noFill/>
          <a:ln/>
        </p:spPr>
        <p:txBody>
          <a:bodyPr wrap="square" lIns="0" tIns="0" rIns="0" bIns="0" rtlCol="0" anchor="ctr"/>
          <a:lstStyle/>
          <a:p>
            <a:pPr indent="0" marL="0">
              <a:buNone/>
            </a:pPr>
            <a:r>
              <a:rPr lang="en-US" sz="740" dirty="0">
                <a:solidFill>
                  <a:srgbClr val="C4CDC6"/>
                </a:solidFill>
              </a:rPr>
              <a:t>DATA 400 | SBA 7(a) Credit-Risk Mini Project</a:t>
            </a:r>
            <a:endParaRPr lang="en-US" sz="740" dirty="0"/>
          </a:p>
        </p:txBody>
      </p:sp>
      <p:sp>
        <p:nvSpPr>
          <p:cNvPr id="43" name="Text 40"/>
          <p:cNvSpPr/>
          <p:nvPr/>
        </p:nvSpPr>
        <p:spPr>
          <a:xfrm>
            <a:off x="11082528" y="6455664"/>
            <a:ext cx="502920" cy="201168"/>
          </a:xfrm>
          <a:prstGeom prst="rect">
            <a:avLst/>
          </a:prstGeom>
          <a:noFill/>
          <a:ln/>
        </p:spPr>
        <p:txBody>
          <a:bodyPr wrap="square" lIns="0" tIns="0" rIns="0" bIns="0" rtlCol="0" anchor="ctr"/>
          <a:lstStyle/>
          <a:p>
            <a:pPr algn="r" indent="0" marL="0">
              <a:buNone/>
            </a:pPr>
            <a:r>
              <a:rPr lang="en-US" sz="800" b="1" dirty="0">
                <a:solidFill>
                  <a:srgbClr val="9DFF00"/>
                </a:solidFill>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0607"/>
        </a:solidFill>
      </p:bgPr>
    </p:bg>
    <p:spTree>
      <p:nvGrpSpPr>
        <p:cNvPr id="1" name=""/>
        <p:cNvGrpSpPr/>
        <p:nvPr/>
      </p:nvGrpSpPr>
      <p:grpSpPr>
        <a:xfrm>
          <a:off x="0" y="0"/>
          <a:ext cx="0" cy="0"/>
          <a:chOff x="0" y="0"/>
          <a:chExt cx="0" cy="0"/>
        </a:xfrm>
      </p:grpSpPr>
      <p:pic>
        <p:nvPicPr>
          <p:cNvPr id="2" name="Image 0" descr="/mnt/data/sample_ppt_extract/ppt/media/dark_image1.jpeg">    </p:cNvPr>
          <p:cNvPicPr>
            <a:picLocks noChangeAspect="1"/>
          </p:cNvPicPr>
          <p:nvPr/>
        </p:nvPicPr>
        <p:blipFill>
          <a:blip r:embed="rId1"/>
          <a:srcRect l="0" r="0" t="4004" b="4004"/>
          <a:stretch/>
        </p:blipFill>
        <p:spPr>
          <a:xfrm>
            <a:off x="0" y="0"/>
            <a:ext cx="12191695" cy="6858000"/>
          </a:xfrm>
          <a:prstGeom prst="rect">
            <a:avLst/>
          </a:prstGeom>
        </p:spPr>
      </p:pic>
      <p:sp>
        <p:nvSpPr>
          <p:cNvPr id="3" name="Shape 0"/>
          <p:cNvSpPr/>
          <p:nvPr/>
        </p:nvSpPr>
        <p:spPr>
          <a:xfrm>
            <a:off x="201168" y="256032"/>
            <a:ext cx="50292" cy="6263640"/>
          </a:xfrm>
          <a:prstGeom prst="rect">
            <a:avLst/>
          </a:prstGeom>
          <a:solidFill>
            <a:srgbClr val="9DFF00"/>
          </a:solidFill>
          <a:ln w="12700">
            <a:solidFill>
              <a:srgbClr val="333333">
                <a:alpha val="0"/>
              </a:srgbClr>
            </a:solidFill>
            <a:prstDash val="solid"/>
          </a:ln>
        </p:spPr>
      </p:sp>
      <p:sp>
        <p:nvSpPr>
          <p:cNvPr id="4" name="Text 1"/>
          <p:cNvSpPr/>
          <p:nvPr/>
        </p:nvSpPr>
        <p:spPr>
          <a:xfrm>
            <a:off x="566928" y="310896"/>
            <a:ext cx="4754880" cy="228600"/>
          </a:xfrm>
          <a:prstGeom prst="rect">
            <a:avLst/>
          </a:prstGeom>
          <a:noFill/>
          <a:ln/>
        </p:spPr>
        <p:txBody>
          <a:bodyPr wrap="square" lIns="0" tIns="0" rIns="0" bIns="0" rtlCol="0" anchor="ctr">
            <a:normAutofit/>
          </a:bodyPr>
          <a:lstStyle/>
          <a:p>
            <a:pPr indent="0" marL="0">
              <a:buNone/>
            </a:pPr>
            <a:r>
              <a:rPr lang="en-US" sz="850" b="1" dirty="0">
                <a:solidFill>
                  <a:srgbClr val="9DFF00"/>
                </a:solidFill>
                <a:latin typeface="Aptos" pitchFamily="34" charset="0"/>
                <a:ea typeface="Aptos" pitchFamily="34" charset="-122"/>
                <a:cs typeface="Aptos" pitchFamily="34" charset="-120"/>
              </a:rPr>
              <a:t>EDA: LOAN AMOUNT AND TERM</a:t>
            </a:r>
            <a:endParaRPr lang="en-US" sz="850" dirty="0"/>
          </a:p>
        </p:txBody>
      </p:sp>
      <p:sp>
        <p:nvSpPr>
          <p:cNvPr id="5" name="Text 2"/>
          <p:cNvSpPr/>
          <p:nvPr/>
        </p:nvSpPr>
        <p:spPr>
          <a:xfrm>
            <a:off x="566928" y="621792"/>
            <a:ext cx="10652760" cy="566928"/>
          </a:xfrm>
          <a:prstGeom prst="rect">
            <a:avLst/>
          </a:prstGeom>
          <a:noFill/>
          <a:ln/>
        </p:spPr>
        <p:txBody>
          <a:bodyPr wrap="square" lIns="0" tIns="0" rIns="0" bIns="0" rtlCol="0" anchor="ctr">
            <a:normAutofit/>
          </a:bodyPr>
          <a:lstStyle/>
          <a:p>
            <a:pPr indent="0" marL="0">
              <a:buNone/>
            </a:pPr>
            <a:r>
              <a:rPr lang="en-US" sz="2450" b="1" dirty="0">
                <a:solidFill>
                  <a:srgbClr val="FFFFFF"/>
                </a:solidFill>
                <a:latin typeface="Aptos Display" pitchFamily="34" charset="0"/>
                <a:ea typeface="Aptos Display" pitchFamily="34" charset="-122"/>
                <a:cs typeface="Aptos Display" pitchFamily="34" charset="-120"/>
              </a:rPr>
              <a:t>Loan structure contains clear risk-ranking signal</a:t>
            </a:r>
            <a:endParaRPr lang="en-US" sz="2450" dirty="0"/>
          </a:p>
        </p:txBody>
      </p:sp>
      <p:sp>
        <p:nvSpPr>
          <p:cNvPr id="6" name="Shape 3"/>
          <p:cNvSpPr/>
          <p:nvPr/>
        </p:nvSpPr>
        <p:spPr>
          <a:xfrm>
            <a:off x="566928" y="1307592"/>
            <a:ext cx="10716768" cy="0"/>
          </a:xfrm>
          <a:prstGeom prst="line">
            <a:avLst/>
          </a:prstGeom>
          <a:noFill/>
          <a:ln w="13335">
            <a:solidFill>
              <a:srgbClr val="9DFF00">
                <a:alpha val="95000"/>
              </a:srgbClr>
            </a:solidFill>
            <a:prstDash val="solid"/>
          </a:ln>
        </p:spPr>
      </p:sp>
      <p:sp>
        <p:nvSpPr>
          <p:cNvPr id="7" name="Shape 4"/>
          <p:cNvSpPr/>
          <p:nvPr/>
        </p:nvSpPr>
        <p:spPr>
          <a:xfrm>
            <a:off x="713232" y="1719072"/>
            <a:ext cx="1716173" cy="342900"/>
          </a:xfrm>
          <a:prstGeom prst="rect">
            <a:avLst/>
          </a:prstGeom>
          <a:solidFill>
            <a:srgbClr val="9DFF00">
              <a:alpha val="18000"/>
            </a:srgbClr>
          </a:solidFill>
          <a:ln w="12700">
            <a:solidFill>
              <a:srgbClr val="333333">
                <a:alpha val="0"/>
              </a:srgbClr>
            </a:solidFill>
            <a:prstDash val="solid"/>
          </a:ln>
        </p:spPr>
      </p:sp>
      <p:sp>
        <p:nvSpPr>
          <p:cNvPr id="8" name="Text 5"/>
          <p:cNvSpPr/>
          <p:nvPr/>
        </p:nvSpPr>
        <p:spPr>
          <a:xfrm>
            <a:off x="754380" y="1751076"/>
            <a:ext cx="1633877" cy="278892"/>
          </a:xfrm>
          <a:prstGeom prst="rect">
            <a:avLst/>
          </a:prstGeom>
          <a:noFill/>
          <a:ln/>
        </p:spPr>
        <p:txBody>
          <a:bodyPr wrap="square" lIns="254" tIns="254" rIns="254" bIns="254" rtlCol="0" anchor="t">
            <a:normAutofit/>
          </a:bodyPr>
          <a:lstStyle/>
          <a:p>
            <a:pPr algn="l" indent="0" marL="0">
              <a:buNone/>
            </a:pPr>
            <a:r>
              <a:rPr lang="en-US" sz="810" b="1" dirty="0">
                <a:solidFill>
                  <a:srgbClr val="9DFF00"/>
                </a:solidFill>
                <a:latin typeface="Aptos" pitchFamily="34" charset="0"/>
                <a:ea typeface="Aptos" pitchFamily="34" charset="-122"/>
                <a:cs typeface="Aptos" pitchFamily="34" charset="-120"/>
              </a:rPr>
              <a:t>Loan amount band</a:t>
            </a:r>
            <a:endParaRPr lang="en-US" sz="810" dirty="0"/>
          </a:p>
        </p:txBody>
      </p:sp>
      <p:sp>
        <p:nvSpPr>
          <p:cNvPr id="9" name="Shape 6"/>
          <p:cNvSpPr/>
          <p:nvPr/>
        </p:nvSpPr>
        <p:spPr>
          <a:xfrm>
            <a:off x="2429405" y="1719072"/>
            <a:ext cx="993574" cy="342900"/>
          </a:xfrm>
          <a:prstGeom prst="rect">
            <a:avLst/>
          </a:prstGeom>
          <a:solidFill>
            <a:srgbClr val="9DFF00">
              <a:alpha val="18000"/>
            </a:srgbClr>
          </a:solidFill>
          <a:ln w="12700">
            <a:solidFill>
              <a:srgbClr val="333333">
                <a:alpha val="0"/>
              </a:srgbClr>
            </a:solidFill>
            <a:prstDash val="solid"/>
          </a:ln>
        </p:spPr>
      </p:sp>
      <p:sp>
        <p:nvSpPr>
          <p:cNvPr id="10" name="Text 7"/>
          <p:cNvSpPr/>
          <p:nvPr/>
        </p:nvSpPr>
        <p:spPr>
          <a:xfrm>
            <a:off x="2470553" y="1751076"/>
            <a:ext cx="911278" cy="278892"/>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Count</a:t>
            </a:r>
            <a:endParaRPr lang="en-US" sz="810" dirty="0"/>
          </a:p>
        </p:txBody>
      </p:sp>
      <p:sp>
        <p:nvSpPr>
          <p:cNvPr id="11" name="Shape 8"/>
          <p:cNvSpPr/>
          <p:nvPr/>
        </p:nvSpPr>
        <p:spPr>
          <a:xfrm>
            <a:off x="3422978" y="1719072"/>
            <a:ext cx="993574" cy="342900"/>
          </a:xfrm>
          <a:prstGeom prst="rect">
            <a:avLst/>
          </a:prstGeom>
          <a:solidFill>
            <a:srgbClr val="9DFF00">
              <a:alpha val="18000"/>
            </a:srgbClr>
          </a:solidFill>
          <a:ln w="12700">
            <a:solidFill>
              <a:srgbClr val="333333">
                <a:alpha val="0"/>
              </a:srgbClr>
            </a:solidFill>
            <a:prstDash val="solid"/>
          </a:ln>
        </p:spPr>
      </p:sp>
      <p:sp>
        <p:nvSpPr>
          <p:cNvPr id="12" name="Text 9"/>
          <p:cNvSpPr/>
          <p:nvPr/>
        </p:nvSpPr>
        <p:spPr>
          <a:xfrm>
            <a:off x="3464126" y="1751076"/>
            <a:ext cx="911278" cy="278892"/>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Charge-off rate</a:t>
            </a:r>
            <a:endParaRPr lang="en-US" sz="810" dirty="0"/>
          </a:p>
        </p:txBody>
      </p:sp>
      <p:sp>
        <p:nvSpPr>
          <p:cNvPr id="13" name="Shape 10"/>
          <p:cNvSpPr/>
          <p:nvPr/>
        </p:nvSpPr>
        <p:spPr>
          <a:xfrm>
            <a:off x="713232" y="2061972"/>
            <a:ext cx="3703320" cy="0"/>
          </a:xfrm>
          <a:prstGeom prst="line">
            <a:avLst/>
          </a:prstGeom>
          <a:noFill/>
          <a:ln w="12700">
            <a:solidFill>
              <a:srgbClr val="9DFF00"/>
            </a:solidFill>
            <a:prstDash val="solid"/>
          </a:ln>
        </p:spPr>
      </p:sp>
      <p:sp>
        <p:nvSpPr>
          <p:cNvPr id="14" name="Text 11"/>
          <p:cNvSpPr/>
          <p:nvPr/>
        </p:nvSpPr>
        <p:spPr>
          <a:xfrm>
            <a:off x="754380" y="2093976"/>
            <a:ext cx="1633877" cy="278892"/>
          </a:xfrm>
          <a:prstGeom prst="rect">
            <a:avLst/>
          </a:prstGeom>
          <a:noFill/>
          <a:ln/>
        </p:spPr>
        <p:txBody>
          <a:bodyPr wrap="square" lIns="254" tIns="254" rIns="254" bIns="254" rtlCol="0" anchor="t">
            <a:normAutofit/>
          </a:bodyPr>
          <a:lstStyle/>
          <a:p>
            <a:pPr algn="l" indent="0" marL="0">
              <a:buNone/>
            </a:pPr>
            <a:r>
              <a:rPr lang="en-US" sz="840" dirty="0">
                <a:solidFill>
                  <a:srgbClr val="FFFFFF"/>
                </a:solidFill>
                <a:latin typeface="Aptos" pitchFamily="34" charset="0"/>
                <a:ea typeface="Aptos" pitchFamily="34" charset="-122"/>
                <a:cs typeface="Aptos" pitchFamily="34" charset="-120"/>
              </a:rPr>
              <a:t>&lt;$50K</a:t>
            </a:r>
            <a:endParaRPr lang="en-US" sz="840" dirty="0"/>
          </a:p>
        </p:txBody>
      </p:sp>
      <p:sp>
        <p:nvSpPr>
          <p:cNvPr id="15" name="Text 12"/>
          <p:cNvSpPr/>
          <p:nvPr/>
        </p:nvSpPr>
        <p:spPr>
          <a:xfrm>
            <a:off x="2470553" y="2093976"/>
            <a:ext cx="911278" cy="27889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135,960</a:t>
            </a:r>
            <a:endParaRPr lang="en-US" sz="840" dirty="0"/>
          </a:p>
        </p:txBody>
      </p:sp>
      <p:sp>
        <p:nvSpPr>
          <p:cNvPr id="16" name="Text 13"/>
          <p:cNvSpPr/>
          <p:nvPr/>
        </p:nvSpPr>
        <p:spPr>
          <a:xfrm>
            <a:off x="3464126" y="2093976"/>
            <a:ext cx="911278" cy="27889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5.59%</a:t>
            </a:r>
            <a:endParaRPr lang="en-US" sz="840" dirty="0"/>
          </a:p>
        </p:txBody>
      </p:sp>
      <p:sp>
        <p:nvSpPr>
          <p:cNvPr id="17" name="Shape 14"/>
          <p:cNvSpPr/>
          <p:nvPr/>
        </p:nvSpPr>
        <p:spPr>
          <a:xfrm>
            <a:off x="713232" y="2404872"/>
            <a:ext cx="3703320" cy="0"/>
          </a:xfrm>
          <a:prstGeom prst="line">
            <a:avLst/>
          </a:prstGeom>
          <a:noFill/>
          <a:ln w="6350">
            <a:solidFill>
              <a:srgbClr val="2D342F">
                <a:alpha val="75000"/>
              </a:srgbClr>
            </a:solidFill>
            <a:prstDash val="solid"/>
          </a:ln>
        </p:spPr>
      </p:sp>
      <p:sp>
        <p:nvSpPr>
          <p:cNvPr id="18" name="Text 15"/>
          <p:cNvSpPr/>
          <p:nvPr/>
        </p:nvSpPr>
        <p:spPr>
          <a:xfrm>
            <a:off x="754380" y="2436876"/>
            <a:ext cx="1633877" cy="278892"/>
          </a:xfrm>
          <a:prstGeom prst="rect">
            <a:avLst/>
          </a:prstGeom>
          <a:noFill/>
          <a:ln/>
        </p:spPr>
        <p:txBody>
          <a:bodyPr wrap="square" lIns="254" tIns="254" rIns="254" bIns="254" rtlCol="0" anchor="t">
            <a:normAutofit/>
          </a:bodyPr>
          <a:lstStyle/>
          <a:p>
            <a:pPr algn="l" indent="0" marL="0">
              <a:buNone/>
            </a:pPr>
            <a:r>
              <a:rPr lang="en-US" sz="840" dirty="0">
                <a:solidFill>
                  <a:srgbClr val="FFFFFF"/>
                </a:solidFill>
                <a:latin typeface="Aptos" pitchFamily="34" charset="0"/>
                <a:ea typeface="Aptos" pitchFamily="34" charset="-122"/>
                <a:cs typeface="Aptos" pitchFamily="34" charset="-120"/>
              </a:rPr>
              <a:t>$50K–$150K</a:t>
            </a:r>
            <a:endParaRPr lang="en-US" sz="840" dirty="0"/>
          </a:p>
        </p:txBody>
      </p:sp>
      <p:sp>
        <p:nvSpPr>
          <p:cNvPr id="19" name="Text 16"/>
          <p:cNvSpPr/>
          <p:nvPr/>
        </p:nvSpPr>
        <p:spPr>
          <a:xfrm>
            <a:off x="2470553" y="2436876"/>
            <a:ext cx="911278" cy="27889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91,372</a:t>
            </a:r>
            <a:endParaRPr lang="en-US" sz="840" dirty="0"/>
          </a:p>
        </p:txBody>
      </p:sp>
      <p:sp>
        <p:nvSpPr>
          <p:cNvPr id="20" name="Text 17"/>
          <p:cNvSpPr/>
          <p:nvPr/>
        </p:nvSpPr>
        <p:spPr>
          <a:xfrm>
            <a:off x="3464126" y="2436876"/>
            <a:ext cx="911278" cy="27889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4.49%</a:t>
            </a:r>
            <a:endParaRPr lang="en-US" sz="840" dirty="0"/>
          </a:p>
        </p:txBody>
      </p:sp>
      <p:sp>
        <p:nvSpPr>
          <p:cNvPr id="21" name="Shape 18"/>
          <p:cNvSpPr/>
          <p:nvPr/>
        </p:nvSpPr>
        <p:spPr>
          <a:xfrm>
            <a:off x="713232" y="2747772"/>
            <a:ext cx="3703320" cy="0"/>
          </a:xfrm>
          <a:prstGeom prst="line">
            <a:avLst/>
          </a:prstGeom>
          <a:noFill/>
          <a:ln w="6350">
            <a:solidFill>
              <a:srgbClr val="2D342F">
                <a:alpha val="75000"/>
              </a:srgbClr>
            </a:solidFill>
            <a:prstDash val="solid"/>
          </a:ln>
        </p:spPr>
      </p:sp>
      <p:sp>
        <p:nvSpPr>
          <p:cNvPr id="22" name="Text 19"/>
          <p:cNvSpPr/>
          <p:nvPr/>
        </p:nvSpPr>
        <p:spPr>
          <a:xfrm>
            <a:off x="754380" y="2779776"/>
            <a:ext cx="1633877" cy="278892"/>
          </a:xfrm>
          <a:prstGeom prst="rect">
            <a:avLst/>
          </a:prstGeom>
          <a:noFill/>
          <a:ln/>
        </p:spPr>
        <p:txBody>
          <a:bodyPr wrap="square" lIns="254" tIns="254" rIns="254" bIns="254" rtlCol="0" anchor="t">
            <a:normAutofit/>
          </a:bodyPr>
          <a:lstStyle/>
          <a:p>
            <a:pPr algn="l" indent="0" marL="0">
              <a:buNone/>
            </a:pPr>
            <a:r>
              <a:rPr lang="en-US" sz="840" dirty="0">
                <a:solidFill>
                  <a:srgbClr val="FFFFFF"/>
                </a:solidFill>
                <a:latin typeface="Aptos" pitchFamily="34" charset="0"/>
                <a:ea typeface="Aptos" pitchFamily="34" charset="-122"/>
                <a:cs typeface="Aptos" pitchFamily="34" charset="-120"/>
              </a:rPr>
              <a:t>$150K–$500K</a:t>
            </a:r>
            <a:endParaRPr lang="en-US" sz="840" dirty="0"/>
          </a:p>
        </p:txBody>
      </p:sp>
      <p:sp>
        <p:nvSpPr>
          <p:cNvPr id="23" name="Text 20"/>
          <p:cNvSpPr/>
          <p:nvPr/>
        </p:nvSpPr>
        <p:spPr>
          <a:xfrm>
            <a:off x="2470553" y="2779776"/>
            <a:ext cx="911278" cy="27889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90,933</a:t>
            </a:r>
            <a:endParaRPr lang="en-US" sz="840" dirty="0"/>
          </a:p>
        </p:txBody>
      </p:sp>
      <p:sp>
        <p:nvSpPr>
          <p:cNvPr id="24" name="Text 21"/>
          <p:cNvSpPr/>
          <p:nvPr/>
        </p:nvSpPr>
        <p:spPr>
          <a:xfrm>
            <a:off x="3464126" y="2779776"/>
            <a:ext cx="911278" cy="27889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2.90%</a:t>
            </a:r>
            <a:endParaRPr lang="en-US" sz="840" dirty="0"/>
          </a:p>
        </p:txBody>
      </p:sp>
      <p:sp>
        <p:nvSpPr>
          <p:cNvPr id="25" name="Shape 22"/>
          <p:cNvSpPr/>
          <p:nvPr/>
        </p:nvSpPr>
        <p:spPr>
          <a:xfrm>
            <a:off x="713232" y="3090672"/>
            <a:ext cx="3703320" cy="0"/>
          </a:xfrm>
          <a:prstGeom prst="line">
            <a:avLst/>
          </a:prstGeom>
          <a:noFill/>
          <a:ln w="6350">
            <a:solidFill>
              <a:srgbClr val="2D342F">
                <a:alpha val="75000"/>
              </a:srgbClr>
            </a:solidFill>
            <a:prstDash val="solid"/>
          </a:ln>
        </p:spPr>
      </p:sp>
      <p:sp>
        <p:nvSpPr>
          <p:cNvPr id="26" name="Text 23"/>
          <p:cNvSpPr/>
          <p:nvPr/>
        </p:nvSpPr>
        <p:spPr>
          <a:xfrm>
            <a:off x="754380" y="3122676"/>
            <a:ext cx="1633877" cy="278892"/>
          </a:xfrm>
          <a:prstGeom prst="rect">
            <a:avLst/>
          </a:prstGeom>
          <a:noFill/>
          <a:ln/>
        </p:spPr>
        <p:txBody>
          <a:bodyPr wrap="square" lIns="254" tIns="254" rIns="254" bIns="254" rtlCol="0" anchor="t">
            <a:normAutofit/>
          </a:bodyPr>
          <a:lstStyle/>
          <a:p>
            <a:pPr algn="l" indent="0" marL="0">
              <a:buNone/>
            </a:pPr>
            <a:r>
              <a:rPr lang="en-US" sz="840" dirty="0">
                <a:solidFill>
                  <a:srgbClr val="FFFFFF"/>
                </a:solidFill>
                <a:latin typeface="Aptos" pitchFamily="34" charset="0"/>
                <a:ea typeface="Aptos" pitchFamily="34" charset="-122"/>
                <a:cs typeface="Aptos" pitchFamily="34" charset="-120"/>
              </a:rPr>
              <a:t>$500K–$1M</a:t>
            </a:r>
            <a:endParaRPr lang="en-US" sz="840" dirty="0"/>
          </a:p>
        </p:txBody>
      </p:sp>
      <p:sp>
        <p:nvSpPr>
          <p:cNvPr id="27" name="Text 24"/>
          <p:cNvSpPr/>
          <p:nvPr/>
        </p:nvSpPr>
        <p:spPr>
          <a:xfrm>
            <a:off x="2470553" y="3122676"/>
            <a:ext cx="911278" cy="27889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36,722</a:t>
            </a:r>
            <a:endParaRPr lang="en-US" sz="840" dirty="0"/>
          </a:p>
        </p:txBody>
      </p:sp>
      <p:sp>
        <p:nvSpPr>
          <p:cNvPr id="28" name="Text 25"/>
          <p:cNvSpPr/>
          <p:nvPr/>
        </p:nvSpPr>
        <p:spPr>
          <a:xfrm>
            <a:off x="3464126" y="3122676"/>
            <a:ext cx="911278" cy="27889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1.34%</a:t>
            </a:r>
            <a:endParaRPr lang="en-US" sz="840" dirty="0"/>
          </a:p>
        </p:txBody>
      </p:sp>
      <p:sp>
        <p:nvSpPr>
          <p:cNvPr id="29" name="Shape 26"/>
          <p:cNvSpPr/>
          <p:nvPr/>
        </p:nvSpPr>
        <p:spPr>
          <a:xfrm>
            <a:off x="713232" y="3433572"/>
            <a:ext cx="3703320" cy="0"/>
          </a:xfrm>
          <a:prstGeom prst="line">
            <a:avLst/>
          </a:prstGeom>
          <a:noFill/>
          <a:ln w="6350">
            <a:solidFill>
              <a:srgbClr val="2D342F">
                <a:alpha val="75000"/>
              </a:srgbClr>
            </a:solidFill>
            <a:prstDash val="solid"/>
          </a:ln>
        </p:spPr>
      </p:sp>
      <p:sp>
        <p:nvSpPr>
          <p:cNvPr id="30" name="Text 27"/>
          <p:cNvSpPr/>
          <p:nvPr/>
        </p:nvSpPr>
        <p:spPr>
          <a:xfrm>
            <a:off x="754380" y="3465576"/>
            <a:ext cx="1633877" cy="278892"/>
          </a:xfrm>
          <a:prstGeom prst="rect">
            <a:avLst/>
          </a:prstGeom>
          <a:noFill/>
          <a:ln/>
        </p:spPr>
        <p:txBody>
          <a:bodyPr wrap="square" lIns="254" tIns="254" rIns="254" bIns="254" rtlCol="0" anchor="t">
            <a:normAutofit/>
          </a:bodyPr>
          <a:lstStyle/>
          <a:p>
            <a:pPr algn="l" indent="0" marL="0">
              <a:buNone/>
            </a:pPr>
            <a:r>
              <a:rPr lang="en-US" sz="840" dirty="0">
                <a:solidFill>
                  <a:srgbClr val="FFFFFF"/>
                </a:solidFill>
                <a:latin typeface="Aptos" pitchFamily="34" charset="0"/>
                <a:ea typeface="Aptos" pitchFamily="34" charset="-122"/>
                <a:cs typeface="Aptos" pitchFamily="34" charset="-120"/>
              </a:rPr>
              <a:t>$1M+</a:t>
            </a:r>
            <a:endParaRPr lang="en-US" sz="840" dirty="0"/>
          </a:p>
        </p:txBody>
      </p:sp>
      <p:sp>
        <p:nvSpPr>
          <p:cNvPr id="31" name="Text 28"/>
          <p:cNvSpPr/>
          <p:nvPr/>
        </p:nvSpPr>
        <p:spPr>
          <a:xfrm>
            <a:off x="2470553" y="3465576"/>
            <a:ext cx="911278" cy="27889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38,021</a:t>
            </a:r>
            <a:endParaRPr lang="en-US" sz="840" dirty="0"/>
          </a:p>
        </p:txBody>
      </p:sp>
      <p:sp>
        <p:nvSpPr>
          <p:cNvPr id="32" name="Text 29"/>
          <p:cNvSpPr/>
          <p:nvPr/>
        </p:nvSpPr>
        <p:spPr>
          <a:xfrm>
            <a:off x="3464126" y="3465576"/>
            <a:ext cx="911278" cy="27889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0.85%</a:t>
            </a:r>
            <a:endParaRPr lang="en-US" sz="840" dirty="0"/>
          </a:p>
        </p:txBody>
      </p:sp>
      <p:sp>
        <p:nvSpPr>
          <p:cNvPr id="33" name="Shape 30"/>
          <p:cNvSpPr/>
          <p:nvPr/>
        </p:nvSpPr>
        <p:spPr>
          <a:xfrm>
            <a:off x="713232" y="3776472"/>
            <a:ext cx="3703320" cy="0"/>
          </a:xfrm>
          <a:prstGeom prst="line">
            <a:avLst/>
          </a:prstGeom>
          <a:noFill/>
          <a:ln w="6350">
            <a:solidFill>
              <a:srgbClr val="2D342F">
                <a:alpha val="75000"/>
              </a:srgbClr>
            </a:solidFill>
            <a:prstDash val="solid"/>
          </a:ln>
        </p:spPr>
      </p:sp>
      <p:sp>
        <p:nvSpPr>
          <p:cNvPr id="34" name="Shape 31"/>
          <p:cNvSpPr/>
          <p:nvPr/>
        </p:nvSpPr>
        <p:spPr>
          <a:xfrm>
            <a:off x="4617720" y="1719072"/>
            <a:ext cx="1463040" cy="347472"/>
          </a:xfrm>
          <a:prstGeom prst="rect">
            <a:avLst/>
          </a:prstGeom>
          <a:solidFill>
            <a:srgbClr val="9DFF00">
              <a:alpha val="18000"/>
            </a:srgbClr>
          </a:solidFill>
          <a:ln w="12700">
            <a:solidFill>
              <a:srgbClr val="333333">
                <a:alpha val="0"/>
              </a:srgbClr>
            </a:solidFill>
            <a:prstDash val="solid"/>
          </a:ln>
        </p:spPr>
      </p:sp>
      <p:sp>
        <p:nvSpPr>
          <p:cNvPr id="35" name="Text 32"/>
          <p:cNvSpPr/>
          <p:nvPr/>
        </p:nvSpPr>
        <p:spPr>
          <a:xfrm>
            <a:off x="4658868" y="1751076"/>
            <a:ext cx="1380744" cy="283464"/>
          </a:xfrm>
          <a:prstGeom prst="rect">
            <a:avLst/>
          </a:prstGeom>
          <a:noFill/>
          <a:ln/>
        </p:spPr>
        <p:txBody>
          <a:bodyPr wrap="square" lIns="254" tIns="254" rIns="254" bIns="254" rtlCol="0" anchor="t">
            <a:normAutofit/>
          </a:bodyPr>
          <a:lstStyle/>
          <a:p>
            <a:pPr algn="l" indent="0" marL="0">
              <a:buNone/>
            </a:pPr>
            <a:r>
              <a:rPr lang="en-US" sz="810" b="1" dirty="0">
                <a:solidFill>
                  <a:srgbClr val="9DFF00"/>
                </a:solidFill>
                <a:latin typeface="Aptos" pitchFamily="34" charset="0"/>
                <a:ea typeface="Aptos" pitchFamily="34" charset="-122"/>
                <a:cs typeface="Aptos" pitchFamily="34" charset="-120"/>
              </a:rPr>
              <a:t>Term band</a:t>
            </a:r>
            <a:endParaRPr lang="en-US" sz="810" dirty="0"/>
          </a:p>
        </p:txBody>
      </p:sp>
      <p:sp>
        <p:nvSpPr>
          <p:cNvPr id="36" name="Shape 33"/>
          <p:cNvSpPr/>
          <p:nvPr/>
        </p:nvSpPr>
        <p:spPr>
          <a:xfrm>
            <a:off x="6080760" y="1719072"/>
            <a:ext cx="1005840" cy="347472"/>
          </a:xfrm>
          <a:prstGeom prst="rect">
            <a:avLst/>
          </a:prstGeom>
          <a:solidFill>
            <a:srgbClr val="9DFF00">
              <a:alpha val="18000"/>
            </a:srgbClr>
          </a:solidFill>
          <a:ln w="12700">
            <a:solidFill>
              <a:srgbClr val="333333">
                <a:alpha val="0"/>
              </a:srgbClr>
            </a:solidFill>
            <a:prstDash val="solid"/>
          </a:ln>
        </p:spPr>
      </p:sp>
      <p:sp>
        <p:nvSpPr>
          <p:cNvPr id="37" name="Text 34"/>
          <p:cNvSpPr/>
          <p:nvPr/>
        </p:nvSpPr>
        <p:spPr>
          <a:xfrm>
            <a:off x="6121908" y="1751076"/>
            <a:ext cx="923544" cy="283464"/>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Count</a:t>
            </a:r>
            <a:endParaRPr lang="en-US" sz="810" dirty="0"/>
          </a:p>
        </p:txBody>
      </p:sp>
      <p:sp>
        <p:nvSpPr>
          <p:cNvPr id="38" name="Shape 35"/>
          <p:cNvSpPr/>
          <p:nvPr/>
        </p:nvSpPr>
        <p:spPr>
          <a:xfrm>
            <a:off x="7086600" y="1719072"/>
            <a:ext cx="1005840" cy="347472"/>
          </a:xfrm>
          <a:prstGeom prst="rect">
            <a:avLst/>
          </a:prstGeom>
          <a:solidFill>
            <a:srgbClr val="9DFF00">
              <a:alpha val="18000"/>
            </a:srgbClr>
          </a:solidFill>
          <a:ln w="12700">
            <a:solidFill>
              <a:srgbClr val="333333">
                <a:alpha val="0"/>
              </a:srgbClr>
            </a:solidFill>
            <a:prstDash val="solid"/>
          </a:ln>
        </p:spPr>
      </p:sp>
      <p:sp>
        <p:nvSpPr>
          <p:cNvPr id="39" name="Text 36"/>
          <p:cNvSpPr/>
          <p:nvPr/>
        </p:nvSpPr>
        <p:spPr>
          <a:xfrm>
            <a:off x="7127748" y="1751076"/>
            <a:ext cx="923544" cy="283464"/>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Charge-off rate</a:t>
            </a:r>
            <a:endParaRPr lang="en-US" sz="810" dirty="0"/>
          </a:p>
        </p:txBody>
      </p:sp>
      <p:sp>
        <p:nvSpPr>
          <p:cNvPr id="40" name="Shape 37"/>
          <p:cNvSpPr/>
          <p:nvPr/>
        </p:nvSpPr>
        <p:spPr>
          <a:xfrm>
            <a:off x="4617720" y="2066544"/>
            <a:ext cx="3474720" cy="0"/>
          </a:xfrm>
          <a:prstGeom prst="line">
            <a:avLst/>
          </a:prstGeom>
          <a:noFill/>
          <a:ln w="12700">
            <a:solidFill>
              <a:srgbClr val="9DFF00"/>
            </a:solidFill>
            <a:prstDash val="solid"/>
          </a:ln>
        </p:spPr>
      </p:sp>
      <p:sp>
        <p:nvSpPr>
          <p:cNvPr id="41" name="Text 38"/>
          <p:cNvSpPr/>
          <p:nvPr/>
        </p:nvSpPr>
        <p:spPr>
          <a:xfrm>
            <a:off x="4658868" y="2098548"/>
            <a:ext cx="1380744" cy="283464"/>
          </a:xfrm>
          <a:prstGeom prst="rect">
            <a:avLst/>
          </a:prstGeom>
          <a:noFill/>
          <a:ln/>
        </p:spPr>
        <p:txBody>
          <a:bodyPr wrap="square" lIns="254" tIns="254" rIns="254" bIns="254" rtlCol="0" anchor="t">
            <a:normAutofit/>
          </a:bodyPr>
          <a:lstStyle/>
          <a:p>
            <a:pPr algn="l" indent="0" marL="0">
              <a:buNone/>
            </a:pPr>
            <a:r>
              <a:rPr lang="en-US" sz="840" dirty="0">
                <a:solidFill>
                  <a:srgbClr val="FFFFFF"/>
                </a:solidFill>
                <a:latin typeface="Aptos" pitchFamily="34" charset="0"/>
                <a:ea typeface="Aptos" pitchFamily="34" charset="-122"/>
                <a:cs typeface="Aptos" pitchFamily="34" charset="-120"/>
              </a:rPr>
              <a:t>≤84 mo</a:t>
            </a:r>
            <a:endParaRPr lang="en-US" sz="840" dirty="0"/>
          </a:p>
        </p:txBody>
      </p:sp>
      <p:sp>
        <p:nvSpPr>
          <p:cNvPr id="42" name="Text 39"/>
          <p:cNvSpPr/>
          <p:nvPr/>
        </p:nvSpPr>
        <p:spPr>
          <a:xfrm>
            <a:off x="6121908" y="2098548"/>
            <a:ext cx="923544" cy="283464"/>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219,812</a:t>
            </a:r>
            <a:endParaRPr lang="en-US" sz="840" dirty="0"/>
          </a:p>
        </p:txBody>
      </p:sp>
      <p:sp>
        <p:nvSpPr>
          <p:cNvPr id="43" name="Text 40"/>
          <p:cNvSpPr/>
          <p:nvPr/>
        </p:nvSpPr>
        <p:spPr>
          <a:xfrm>
            <a:off x="7127748" y="2098548"/>
            <a:ext cx="923544" cy="283464"/>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5.11%</a:t>
            </a:r>
            <a:endParaRPr lang="en-US" sz="840" dirty="0"/>
          </a:p>
        </p:txBody>
      </p:sp>
      <p:sp>
        <p:nvSpPr>
          <p:cNvPr id="44" name="Shape 41"/>
          <p:cNvSpPr/>
          <p:nvPr/>
        </p:nvSpPr>
        <p:spPr>
          <a:xfrm>
            <a:off x="4617720" y="2414016"/>
            <a:ext cx="3474720" cy="0"/>
          </a:xfrm>
          <a:prstGeom prst="line">
            <a:avLst/>
          </a:prstGeom>
          <a:noFill/>
          <a:ln w="6350">
            <a:solidFill>
              <a:srgbClr val="2D342F">
                <a:alpha val="75000"/>
              </a:srgbClr>
            </a:solidFill>
            <a:prstDash val="solid"/>
          </a:ln>
        </p:spPr>
      </p:sp>
      <p:sp>
        <p:nvSpPr>
          <p:cNvPr id="45" name="Text 42"/>
          <p:cNvSpPr/>
          <p:nvPr/>
        </p:nvSpPr>
        <p:spPr>
          <a:xfrm>
            <a:off x="4658868" y="2446020"/>
            <a:ext cx="1380744" cy="283464"/>
          </a:xfrm>
          <a:prstGeom prst="rect">
            <a:avLst/>
          </a:prstGeom>
          <a:noFill/>
          <a:ln/>
        </p:spPr>
        <p:txBody>
          <a:bodyPr wrap="square" lIns="254" tIns="254" rIns="254" bIns="254" rtlCol="0" anchor="t">
            <a:normAutofit/>
          </a:bodyPr>
          <a:lstStyle/>
          <a:p>
            <a:pPr algn="l" indent="0" marL="0">
              <a:buNone/>
            </a:pPr>
            <a:r>
              <a:rPr lang="en-US" sz="840" dirty="0">
                <a:solidFill>
                  <a:srgbClr val="FFFFFF"/>
                </a:solidFill>
                <a:latin typeface="Aptos" pitchFamily="34" charset="0"/>
                <a:ea typeface="Aptos" pitchFamily="34" charset="-122"/>
                <a:cs typeface="Aptos" pitchFamily="34" charset="-120"/>
              </a:rPr>
              <a:t>85–120 mo</a:t>
            </a:r>
            <a:endParaRPr lang="en-US" sz="840" dirty="0"/>
          </a:p>
        </p:txBody>
      </p:sp>
      <p:sp>
        <p:nvSpPr>
          <p:cNvPr id="46" name="Text 43"/>
          <p:cNvSpPr/>
          <p:nvPr/>
        </p:nvSpPr>
        <p:spPr>
          <a:xfrm>
            <a:off x="6121908" y="2446020"/>
            <a:ext cx="923544" cy="283464"/>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85,767</a:t>
            </a:r>
            <a:endParaRPr lang="en-US" sz="840" dirty="0"/>
          </a:p>
        </p:txBody>
      </p:sp>
      <p:sp>
        <p:nvSpPr>
          <p:cNvPr id="47" name="Text 44"/>
          <p:cNvSpPr/>
          <p:nvPr/>
        </p:nvSpPr>
        <p:spPr>
          <a:xfrm>
            <a:off x="7127748" y="2446020"/>
            <a:ext cx="923544" cy="283464"/>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4.04%</a:t>
            </a:r>
            <a:endParaRPr lang="en-US" sz="840" dirty="0"/>
          </a:p>
        </p:txBody>
      </p:sp>
      <p:sp>
        <p:nvSpPr>
          <p:cNvPr id="48" name="Shape 45"/>
          <p:cNvSpPr/>
          <p:nvPr/>
        </p:nvSpPr>
        <p:spPr>
          <a:xfrm>
            <a:off x="4617720" y="2761488"/>
            <a:ext cx="3474720" cy="0"/>
          </a:xfrm>
          <a:prstGeom prst="line">
            <a:avLst/>
          </a:prstGeom>
          <a:noFill/>
          <a:ln w="6350">
            <a:solidFill>
              <a:srgbClr val="2D342F">
                <a:alpha val="75000"/>
              </a:srgbClr>
            </a:solidFill>
            <a:prstDash val="solid"/>
          </a:ln>
        </p:spPr>
      </p:sp>
      <p:sp>
        <p:nvSpPr>
          <p:cNvPr id="49" name="Text 46"/>
          <p:cNvSpPr/>
          <p:nvPr/>
        </p:nvSpPr>
        <p:spPr>
          <a:xfrm>
            <a:off x="4658868" y="2793492"/>
            <a:ext cx="1380744" cy="283464"/>
          </a:xfrm>
          <a:prstGeom prst="rect">
            <a:avLst/>
          </a:prstGeom>
          <a:noFill/>
          <a:ln/>
        </p:spPr>
        <p:txBody>
          <a:bodyPr wrap="square" lIns="254" tIns="254" rIns="254" bIns="254" rtlCol="0" anchor="t">
            <a:normAutofit/>
          </a:bodyPr>
          <a:lstStyle/>
          <a:p>
            <a:pPr algn="l" indent="0" marL="0">
              <a:buNone/>
            </a:pPr>
            <a:r>
              <a:rPr lang="en-US" sz="840" dirty="0">
                <a:solidFill>
                  <a:srgbClr val="FFFFFF"/>
                </a:solidFill>
                <a:latin typeface="Aptos" pitchFamily="34" charset="0"/>
                <a:ea typeface="Aptos" pitchFamily="34" charset="-122"/>
                <a:cs typeface="Aptos" pitchFamily="34" charset="-120"/>
              </a:rPr>
              <a:t>121–180 mo</a:t>
            </a:r>
            <a:endParaRPr lang="en-US" sz="840" dirty="0"/>
          </a:p>
        </p:txBody>
      </p:sp>
      <p:sp>
        <p:nvSpPr>
          <p:cNvPr id="50" name="Text 47"/>
          <p:cNvSpPr/>
          <p:nvPr/>
        </p:nvSpPr>
        <p:spPr>
          <a:xfrm>
            <a:off x="6121908" y="2793492"/>
            <a:ext cx="923544" cy="283464"/>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21,537</a:t>
            </a:r>
            <a:endParaRPr lang="en-US" sz="840" dirty="0"/>
          </a:p>
        </p:txBody>
      </p:sp>
      <p:sp>
        <p:nvSpPr>
          <p:cNvPr id="51" name="Text 48"/>
          <p:cNvSpPr/>
          <p:nvPr/>
        </p:nvSpPr>
        <p:spPr>
          <a:xfrm>
            <a:off x="7127748" y="2793492"/>
            <a:ext cx="923544" cy="283464"/>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0.64%</a:t>
            </a:r>
            <a:endParaRPr lang="en-US" sz="840" dirty="0"/>
          </a:p>
        </p:txBody>
      </p:sp>
      <p:sp>
        <p:nvSpPr>
          <p:cNvPr id="52" name="Shape 49"/>
          <p:cNvSpPr/>
          <p:nvPr/>
        </p:nvSpPr>
        <p:spPr>
          <a:xfrm>
            <a:off x="4617720" y="3108960"/>
            <a:ext cx="3474720" cy="0"/>
          </a:xfrm>
          <a:prstGeom prst="line">
            <a:avLst/>
          </a:prstGeom>
          <a:noFill/>
          <a:ln w="6350">
            <a:solidFill>
              <a:srgbClr val="2D342F">
                <a:alpha val="75000"/>
              </a:srgbClr>
            </a:solidFill>
            <a:prstDash val="solid"/>
          </a:ln>
        </p:spPr>
      </p:sp>
      <p:sp>
        <p:nvSpPr>
          <p:cNvPr id="53" name="Text 50"/>
          <p:cNvSpPr/>
          <p:nvPr/>
        </p:nvSpPr>
        <p:spPr>
          <a:xfrm>
            <a:off x="4658868" y="3140964"/>
            <a:ext cx="1380744" cy="283464"/>
          </a:xfrm>
          <a:prstGeom prst="rect">
            <a:avLst/>
          </a:prstGeom>
          <a:noFill/>
          <a:ln/>
        </p:spPr>
        <p:txBody>
          <a:bodyPr wrap="square" lIns="254" tIns="254" rIns="254" bIns="254" rtlCol="0" anchor="t">
            <a:normAutofit/>
          </a:bodyPr>
          <a:lstStyle/>
          <a:p>
            <a:pPr algn="l" indent="0" marL="0">
              <a:buNone/>
            </a:pPr>
            <a:r>
              <a:rPr lang="en-US" sz="840" dirty="0">
                <a:solidFill>
                  <a:srgbClr val="FFFFFF"/>
                </a:solidFill>
                <a:latin typeface="Aptos" pitchFamily="34" charset="0"/>
                <a:ea typeface="Aptos" pitchFamily="34" charset="-122"/>
                <a:cs typeface="Aptos" pitchFamily="34" charset="-120"/>
              </a:rPr>
              <a:t>&gt;180 mo</a:t>
            </a:r>
            <a:endParaRPr lang="en-US" sz="840" dirty="0"/>
          </a:p>
        </p:txBody>
      </p:sp>
      <p:sp>
        <p:nvSpPr>
          <p:cNvPr id="54" name="Text 51"/>
          <p:cNvSpPr/>
          <p:nvPr/>
        </p:nvSpPr>
        <p:spPr>
          <a:xfrm>
            <a:off x="6121908" y="3140964"/>
            <a:ext cx="923544" cy="283464"/>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65,892</a:t>
            </a:r>
            <a:endParaRPr lang="en-US" sz="840" dirty="0"/>
          </a:p>
        </p:txBody>
      </p:sp>
      <p:sp>
        <p:nvSpPr>
          <p:cNvPr id="55" name="Text 52"/>
          <p:cNvSpPr/>
          <p:nvPr/>
        </p:nvSpPr>
        <p:spPr>
          <a:xfrm>
            <a:off x="7127748" y="3140964"/>
            <a:ext cx="923544" cy="283464"/>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0.48%</a:t>
            </a:r>
            <a:endParaRPr lang="en-US" sz="840" dirty="0"/>
          </a:p>
        </p:txBody>
      </p:sp>
      <p:sp>
        <p:nvSpPr>
          <p:cNvPr id="56" name="Shape 53"/>
          <p:cNvSpPr/>
          <p:nvPr/>
        </p:nvSpPr>
        <p:spPr>
          <a:xfrm>
            <a:off x="4617720" y="3456432"/>
            <a:ext cx="3474720" cy="0"/>
          </a:xfrm>
          <a:prstGeom prst="line">
            <a:avLst/>
          </a:prstGeom>
          <a:noFill/>
          <a:ln w="6350">
            <a:solidFill>
              <a:srgbClr val="2D342F">
                <a:alpha val="75000"/>
              </a:srgbClr>
            </a:solidFill>
            <a:prstDash val="solid"/>
          </a:ln>
        </p:spPr>
      </p:sp>
      <p:sp>
        <p:nvSpPr>
          <p:cNvPr id="57" name="Shape 54"/>
          <p:cNvSpPr/>
          <p:nvPr/>
        </p:nvSpPr>
        <p:spPr>
          <a:xfrm>
            <a:off x="8321040" y="1719072"/>
            <a:ext cx="2926080" cy="1737360"/>
          </a:xfrm>
          <a:prstGeom prst="rect">
            <a:avLst/>
          </a:prstGeom>
          <a:solidFill>
            <a:srgbClr val="FFFFFF"/>
          </a:solidFill>
          <a:ln w="11430">
            <a:solidFill>
              <a:srgbClr val="9DFF00">
                <a:alpha val="65000"/>
              </a:srgbClr>
            </a:solidFill>
            <a:prstDash val="solid"/>
          </a:ln>
        </p:spPr>
      </p:sp>
      <p:pic>
        <p:nvPicPr>
          <p:cNvPr id="58" name="Image 1" descr="/mnt/data/sba_v4_assets/cell20_out2_img.png">    </p:cNvPr>
          <p:cNvPicPr>
            <a:picLocks noChangeAspect="1"/>
          </p:cNvPicPr>
          <p:nvPr/>
        </p:nvPicPr>
        <p:blipFill>
          <a:blip r:embed="rId2"/>
          <a:stretch>
            <a:fillRect/>
          </a:stretch>
        </p:blipFill>
        <p:spPr>
          <a:xfrm>
            <a:off x="8440304" y="1792224"/>
            <a:ext cx="2687552" cy="1481328"/>
          </a:xfrm>
          <a:prstGeom prst="rect">
            <a:avLst/>
          </a:prstGeom>
        </p:spPr>
      </p:pic>
      <p:sp>
        <p:nvSpPr>
          <p:cNvPr id="59" name="Text 55"/>
          <p:cNvSpPr/>
          <p:nvPr/>
        </p:nvSpPr>
        <p:spPr>
          <a:xfrm>
            <a:off x="8394192" y="3273552"/>
            <a:ext cx="2779776" cy="118872"/>
          </a:xfrm>
          <a:prstGeom prst="rect">
            <a:avLst/>
          </a:prstGeom>
          <a:noFill/>
          <a:ln/>
        </p:spPr>
        <p:txBody>
          <a:bodyPr wrap="square" lIns="254" tIns="254" rIns="254" bIns="254" rtlCol="0" anchor="t">
            <a:normAutofit/>
          </a:bodyPr>
          <a:lstStyle/>
          <a:p>
            <a:pPr algn="ctr" indent="0" marL="0">
              <a:buNone/>
            </a:pPr>
            <a:r>
              <a:rPr lang="en-US" sz="670" dirty="0">
                <a:solidFill>
                  <a:srgbClr val="333333"/>
                </a:solidFill>
                <a:latin typeface="Aptos" pitchFamily="34" charset="0"/>
                <a:ea typeface="Aptos" pitchFamily="34" charset="-122"/>
                <a:cs typeface="Aptos" pitchFamily="34" charset="-120"/>
              </a:rPr>
              <a:t>Chart: charge-off by loan amount</a:t>
            </a:r>
            <a:endParaRPr lang="en-US" sz="670" dirty="0"/>
          </a:p>
        </p:txBody>
      </p:sp>
      <p:sp>
        <p:nvSpPr>
          <p:cNvPr id="60" name="Shape 56"/>
          <p:cNvSpPr/>
          <p:nvPr/>
        </p:nvSpPr>
        <p:spPr>
          <a:xfrm>
            <a:off x="868680" y="4251960"/>
            <a:ext cx="4297680" cy="1371600"/>
          </a:xfrm>
          <a:prstGeom prst="rect">
            <a:avLst/>
          </a:prstGeom>
          <a:solidFill>
            <a:srgbClr val="FFFFFF"/>
          </a:solidFill>
          <a:ln w="11430">
            <a:solidFill>
              <a:srgbClr val="9DFF00">
                <a:alpha val="65000"/>
              </a:srgbClr>
            </a:solidFill>
            <a:prstDash val="solid"/>
          </a:ln>
        </p:spPr>
      </p:sp>
      <p:pic>
        <p:nvPicPr>
          <p:cNvPr id="61" name="Image 2" descr="/mnt/data/sba_v4_assets/cell20_out1_img.png">    </p:cNvPr>
          <p:cNvPicPr>
            <a:picLocks noChangeAspect="1"/>
          </p:cNvPicPr>
          <p:nvPr/>
        </p:nvPicPr>
        <p:blipFill>
          <a:blip r:embed="rId3"/>
          <a:stretch>
            <a:fillRect/>
          </a:stretch>
        </p:blipFill>
        <p:spPr>
          <a:xfrm>
            <a:off x="2005540" y="4325112"/>
            <a:ext cx="2023959" cy="1115568"/>
          </a:xfrm>
          <a:prstGeom prst="rect">
            <a:avLst/>
          </a:prstGeom>
        </p:spPr>
      </p:pic>
      <p:sp>
        <p:nvSpPr>
          <p:cNvPr id="62" name="Text 57"/>
          <p:cNvSpPr/>
          <p:nvPr/>
        </p:nvSpPr>
        <p:spPr>
          <a:xfrm>
            <a:off x="941832" y="5440680"/>
            <a:ext cx="4151376" cy="118872"/>
          </a:xfrm>
          <a:prstGeom prst="rect">
            <a:avLst/>
          </a:prstGeom>
          <a:noFill/>
          <a:ln/>
        </p:spPr>
        <p:txBody>
          <a:bodyPr wrap="square" lIns="254" tIns="254" rIns="254" bIns="254" rtlCol="0" anchor="t">
            <a:normAutofit/>
          </a:bodyPr>
          <a:lstStyle/>
          <a:p>
            <a:pPr algn="ctr" indent="0" marL="0">
              <a:buNone/>
            </a:pPr>
            <a:r>
              <a:rPr lang="en-US" sz="670" dirty="0">
                <a:solidFill>
                  <a:srgbClr val="333333"/>
                </a:solidFill>
                <a:latin typeface="Aptos" pitchFamily="34" charset="0"/>
                <a:ea typeface="Aptos" pitchFamily="34" charset="-122"/>
                <a:cs typeface="Aptos" pitchFamily="34" charset="-120"/>
              </a:rPr>
              <a:t>Distribution: gross approval amount</a:t>
            </a:r>
            <a:endParaRPr lang="en-US" sz="670" dirty="0"/>
          </a:p>
        </p:txBody>
      </p:sp>
      <p:sp>
        <p:nvSpPr>
          <p:cNvPr id="63" name="Shape 58"/>
          <p:cNvSpPr/>
          <p:nvPr/>
        </p:nvSpPr>
        <p:spPr>
          <a:xfrm>
            <a:off x="5806440" y="4251960"/>
            <a:ext cx="5074920" cy="1371600"/>
          </a:xfrm>
          <a:prstGeom prst="roundRect">
            <a:avLst>
              <a:gd name="adj" fmla="val 5333"/>
            </a:avLst>
          </a:prstGeom>
          <a:solidFill>
            <a:srgbClr val="000000">
              <a:alpha val="82000"/>
            </a:srgbClr>
          </a:solidFill>
          <a:ln w="12700">
            <a:solidFill>
              <a:srgbClr val="9DFF00">
                <a:alpha val="34000"/>
              </a:srgbClr>
            </a:solidFill>
            <a:prstDash val="solid"/>
          </a:ln>
        </p:spPr>
      </p:sp>
      <p:sp>
        <p:nvSpPr>
          <p:cNvPr id="64" name="Text 59"/>
          <p:cNvSpPr/>
          <p:nvPr/>
        </p:nvSpPr>
        <p:spPr>
          <a:xfrm>
            <a:off x="6053328" y="4443984"/>
            <a:ext cx="164592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Interpretation</a:t>
            </a:r>
            <a:endParaRPr lang="en-US" sz="1360" dirty="0"/>
          </a:p>
        </p:txBody>
      </p:sp>
      <p:sp>
        <p:nvSpPr>
          <p:cNvPr id="65" name="Text 60"/>
          <p:cNvSpPr/>
          <p:nvPr/>
        </p:nvSpPr>
        <p:spPr>
          <a:xfrm>
            <a:off x="6172200" y="4773168"/>
            <a:ext cx="4023360" cy="502920"/>
          </a:xfrm>
          <a:prstGeom prst="rect">
            <a:avLst/>
          </a:prstGeom>
          <a:noFill/>
          <a:ln/>
        </p:spPr>
        <p:txBody>
          <a:bodyPr wrap="square" lIns="254" tIns="254" rIns="254" bIns="254" rtlCol="0" anchor="ctr">
            <a:normAutofit/>
          </a:bodyPr>
          <a:lstStyle/>
          <a:p>
            <a:r>
              <a:rPr lang="en-US" sz="920" dirty="0">
                <a:solidFill>
                  <a:srgbClr val="FFFFFF"/>
                </a:solidFill>
                <a:latin typeface="Aptos" pitchFamily="34" charset="0"/>
                <a:ea typeface="Aptos" pitchFamily="34" charset="-122"/>
                <a:cs typeface="Aptos" pitchFamily="34" charset="-120"/>
              </a:rPr>
              <a:t>Smaller and shorter-term loans show higher observed charge-off rates.</a:t>
            </a:r>
            <a:endParaRPr lang="en-US" sz="920" dirty="0"/>
          </a:p>
          <a:p>
            <a:r>
              <a:rPr lang="en-US" sz="920" dirty="0">
                <a:solidFill>
                  <a:srgbClr val="FFFFFF"/>
                </a:solidFill>
                <a:latin typeface="Aptos" pitchFamily="34" charset="0"/>
                <a:ea typeface="Aptos" pitchFamily="34" charset="-122"/>
                <a:cs typeface="Aptos" pitchFamily="34" charset="-120"/>
              </a:rPr>
              <a:t>Amounts are right-skewed, so the model uses log_gross_approval.</a:t>
            </a:r>
            <a:endParaRPr lang="en-US" sz="920" dirty="0"/>
          </a:p>
          <a:p>
            <a:r>
              <a:rPr lang="en-US" sz="920" dirty="0">
                <a:solidFill>
                  <a:srgbClr val="FFFFFF"/>
                </a:solidFill>
                <a:latin typeface="Aptos" pitchFamily="34" charset="0"/>
                <a:ea typeface="Aptos" pitchFamily="34" charset="-122"/>
                <a:cs typeface="Aptos" pitchFamily="34" charset="-120"/>
              </a:rPr>
              <a:t>This is descriptive evidence, not a causal claim.</a:t>
            </a:r>
            <a:endParaRPr lang="en-US" sz="920" dirty="0"/>
          </a:p>
        </p:txBody>
      </p:sp>
      <p:sp>
        <p:nvSpPr>
          <p:cNvPr id="66" name="Text 61"/>
          <p:cNvSpPr/>
          <p:nvPr/>
        </p:nvSpPr>
        <p:spPr>
          <a:xfrm>
            <a:off x="566928" y="6473952"/>
            <a:ext cx="6217920" cy="201168"/>
          </a:xfrm>
          <a:prstGeom prst="rect">
            <a:avLst/>
          </a:prstGeom>
          <a:noFill/>
          <a:ln/>
        </p:spPr>
        <p:txBody>
          <a:bodyPr wrap="square" lIns="0" tIns="0" rIns="0" bIns="0" rtlCol="0" anchor="ctr"/>
          <a:lstStyle/>
          <a:p>
            <a:pPr indent="0" marL="0">
              <a:buNone/>
            </a:pPr>
            <a:r>
              <a:rPr lang="en-US" sz="740" dirty="0">
                <a:solidFill>
                  <a:srgbClr val="C4CDC6"/>
                </a:solidFill>
              </a:rPr>
              <a:t>DATA 400 | SBA 7(a) Credit-Risk Mini Project</a:t>
            </a:r>
            <a:endParaRPr lang="en-US" sz="740" dirty="0"/>
          </a:p>
        </p:txBody>
      </p:sp>
      <p:sp>
        <p:nvSpPr>
          <p:cNvPr id="67" name="Text 62"/>
          <p:cNvSpPr/>
          <p:nvPr/>
        </p:nvSpPr>
        <p:spPr>
          <a:xfrm>
            <a:off x="11082528" y="6455664"/>
            <a:ext cx="502920" cy="201168"/>
          </a:xfrm>
          <a:prstGeom prst="rect">
            <a:avLst/>
          </a:prstGeom>
          <a:noFill/>
          <a:ln/>
        </p:spPr>
        <p:txBody>
          <a:bodyPr wrap="square" lIns="0" tIns="0" rIns="0" bIns="0" rtlCol="0" anchor="ctr"/>
          <a:lstStyle/>
          <a:p>
            <a:pPr algn="r" indent="0" marL="0">
              <a:buNone/>
            </a:pPr>
            <a:r>
              <a:rPr lang="en-US" sz="800" b="1" dirty="0">
                <a:solidFill>
                  <a:srgbClr val="9DFF00"/>
                </a:solidFill>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0607"/>
        </a:solidFill>
      </p:bgPr>
    </p:bg>
    <p:spTree>
      <p:nvGrpSpPr>
        <p:cNvPr id="1" name=""/>
        <p:cNvGrpSpPr/>
        <p:nvPr/>
      </p:nvGrpSpPr>
      <p:grpSpPr>
        <a:xfrm>
          <a:off x="0" y="0"/>
          <a:ext cx="0" cy="0"/>
          <a:chOff x="0" y="0"/>
          <a:chExt cx="0" cy="0"/>
        </a:xfrm>
      </p:grpSpPr>
      <p:pic>
        <p:nvPicPr>
          <p:cNvPr id="2" name="Image 0" descr="/mnt/data/sample_ppt_extract/ppt/media/dark_image7.jpeg">    </p:cNvPr>
          <p:cNvPicPr>
            <a:picLocks noChangeAspect="1"/>
          </p:cNvPicPr>
          <p:nvPr/>
        </p:nvPicPr>
        <p:blipFill>
          <a:blip r:embed="rId1"/>
          <a:srcRect l="0" r="0" t="3135" b="3135"/>
          <a:stretch/>
        </p:blipFill>
        <p:spPr>
          <a:xfrm>
            <a:off x="0" y="0"/>
            <a:ext cx="12191695" cy="6858000"/>
          </a:xfrm>
          <a:prstGeom prst="rect">
            <a:avLst/>
          </a:prstGeom>
        </p:spPr>
      </p:pic>
      <p:sp>
        <p:nvSpPr>
          <p:cNvPr id="3" name="Shape 0"/>
          <p:cNvSpPr/>
          <p:nvPr/>
        </p:nvSpPr>
        <p:spPr>
          <a:xfrm>
            <a:off x="201168" y="256032"/>
            <a:ext cx="50292" cy="6263640"/>
          </a:xfrm>
          <a:prstGeom prst="rect">
            <a:avLst/>
          </a:prstGeom>
          <a:solidFill>
            <a:srgbClr val="9DFF00"/>
          </a:solidFill>
          <a:ln w="12700">
            <a:solidFill>
              <a:srgbClr val="333333">
                <a:alpha val="0"/>
              </a:srgbClr>
            </a:solidFill>
            <a:prstDash val="solid"/>
          </a:ln>
        </p:spPr>
      </p:sp>
      <p:sp>
        <p:nvSpPr>
          <p:cNvPr id="4" name="Text 1"/>
          <p:cNvSpPr/>
          <p:nvPr/>
        </p:nvSpPr>
        <p:spPr>
          <a:xfrm>
            <a:off x="566928" y="310896"/>
            <a:ext cx="4754880" cy="228600"/>
          </a:xfrm>
          <a:prstGeom prst="rect">
            <a:avLst/>
          </a:prstGeom>
          <a:noFill/>
          <a:ln/>
        </p:spPr>
        <p:txBody>
          <a:bodyPr wrap="square" lIns="0" tIns="0" rIns="0" bIns="0" rtlCol="0" anchor="ctr">
            <a:normAutofit/>
          </a:bodyPr>
          <a:lstStyle/>
          <a:p>
            <a:pPr indent="0" marL="0">
              <a:buNone/>
            </a:pPr>
            <a:r>
              <a:rPr lang="en-US" sz="850" b="1" dirty="0">
                <a:solidFill>
                  <a:srgbClr val="9DFF00"/>
                </a:solidFill>
                <a:latin typeface="Aptos" pitchFamily="34" charset="0"/>
                <a:ea typeface="Aptos" pitchFamily="34" charset="-122"/>
                <a:cs typeface="Aptos" pitchFamily="34" charset="-120"/>
              </a:rPr>
              <a:t>EDA: PRICING, GUARANTEE, AND INDUSTRY</a:t>
            </a:r>
            <a:endParaRPr lang="en-US" sz="850" dirty="0"/>
          </a:p>
        </p:txBody>
      </p:sp>
      <p:sp>
        <p:nvSpPr>
          <p:cNvPr id="5" name="Text 2"/>
          <p:cNvSpPr/>
          <p:nvPr/>
        </p:nvSpPr>
        <p:spPr>
          <a:xfrm>
            <a:off x="566928" y="621792"/>
            <a:ext cx="10652760" cy="566928"/>
          </a:xfrm>
          <a:prstGeom prst="rect">
            <a:avLst/>
          </a:prstGeom>
          <a:noFill/>
          <a:ln/>
        </p:spPr>
        <p:txBody>
          <a:bodyPr wrap="square" lIns="0" tIns="0" rIns="0" bIns="0" rtlCol="0" anchor="ctr">
            <a:normAutofit/>
          </a:bodyPr>
          <a:lstStyle/>
          <a:p>
            <a:pPr indent="0" marL="0">
              <a:buNone/>
            </a:pPr>
            <a:r>
              <a:rPr lang="en-US" sz="2450" b="1" dirty="0">
                <a:solidFill>
                  <a:srgbClr val="FFFFFF"/>
                </a:solidFill>
                <a:latin typeface="Aptos Display" pitchFamily="34" charset="0"/>
                <a:ea typeface="Aptos Display" pitchFamily="34" charset="-122"/>
                <a:cs typeface="Aptos Display" pitchFamily="34" charset="-120"/>
              </a:rPr>
              <a:t>Risk patterns also appear in rate and sector variables</a:t>
            </a:r>
            <a:endParaRPr lang="en-US" sz="2450" dirty="0"/>
          </a:p>
        </p:txBody>
      </p:sp>
      <p:sp>
        <p:nvSpPr>
          <p:cNvPr id="6" name="Shape 3"/>
          <p:cNvSpPr/>
          <p:nvPr/>
        </p:nvSpPr>
        <p:spPr>
          <a:xfrm>
            <a:off x="566928" y="1307592"/>
            <a:ext cx="10716768" cy="0"/>
          </a:xfrm>
          <a:prstGeom prst="line">
            <a:avLst/>
          </a:prstGeom>
          <a:noFill/>
          <a:ln w="13335">
            <a:solidFill>
              <a:srgbClr val="9DFF00">
                <a:alpha val="95000"/>
              </a:srgbClr>
            </a:solidFill>
            <a:prstDash val="solid"/>
          </a:ln>
        </p:spPr>
      </p:sp>
      <p:sp>
        <p:nvSpPr>
          <p:cNvPr id="7" name="Shape 4"/>
          <p:cNvSpPr/>
          <p:nvPr/>
        </p:nvSpPr>
        <p:spPr>
          <a:xfrm>
            <a:off x="658368" y="1691640"/>
            <a:ext cx="1325880" cy="338328"/>
          </a:xfrm>
          <a:prstGeom prst="rect">
            <a:avLst/>
          </a:prstGeom>
          <a:solidFill>
            <a:srgbClr val="9DFF00">
              <a:alpha val="18000"/>
            </a:srgbClr>
          </a:solidFill>
          <a:ln w="12700">
            <a:solidFill>
              <a:srgbClr val="333333">
                <a:alpha val="0"/>
              </a:srgbClr>
            </a:solidFill>
            <a:prstDash val="solid"/>
          </a:ln>
        </p:spPr>
      </p:sp>
      <p:sp>
        <p:nvSpPr>
          <p:cNvPr id="8" name="Text 5"/>
          <p:cNvSpPr/>
          <p:nvPr/>
        </p:nvSpPr>
        <p:spPr>
          <a:xfrm>
            <a:off x="699516" y="1723644"/>
            <a:ext cx="1243584" cy="274320"/>
          </a:xfrm>
          <a:prstGeom prst="rect">
            <a:avLst/>
          </a:prstGeom>
          <a:noFill/>
          <a:ln/>
        </p:spPr>
        <p:txBody>
          <a:bodyPr wrap="square" lIns="254" tIns="254" rIns="254" bIns="254" rtlCol="0" anchor="t">
            <a:normAutofit/>
          </a:bodyPr>
          <a:lstStyle/>
          <a:p>
            <a:pPr algn="l" indent="0" marL="0">
              <a:buNone/>
            </a:pPr>
            <a:r>
              <a:rPr lang="en-US" sz="810" b="1" dirty="0">
                <a:solidFill>
                  <a:srgbClr val="9DFF00"/>
                </a:solidFill>
                <a:latin typeface="Aptos" pitchFamily="34" charset="0"/>
                <a:ea typeface="Aptos" pitchFamily="34" charset="-122"/>
                <a:cs typeface="Aptos" pitchFamily="34" charset="-120"/>
              </a:rPr>
              <a:t>Interest band</a:t>
            </a:r>
            <a:endParaRPr lang="en-US" sz="810" dirty="0"/>
          </a:p>
        </p:txBody>
      </p:sp>
      <p:sp>
        <p:nvSpPr>
          <p:cNvPr id="9" name="Shape 6"/>
          <p:cNvSpPr/>
          <p:nvPr/>
        </p:nvSpPr>
        <p:spPr>
          <a:xfrm>
            <a:off x="1984248" y="1691640"/>
            <a:ext cx="960120" cy="338328"/>
          </a:xfrm>
          <a:prstGeom prst="rect">
            <a:avLst/>
          </a:prstGeom>
          <a:solidFill>
            <a:srgbClr val="9DFF00">
              <a:alpha val="18000"/>
            </a:srgbClr>
          </a:solidFill>
          <a:ln w="12700">
            <a:solidFill>
              <a:srgbClr val="333333">
                <a:alpha val="0"/>
              </a:srgbClr>
            </a:solidFill>
            <a:prstDash val="solid"/>
          </a:ln>
        </p:spPr>
      </p:sp>
      <p:sp>
        <p:nvSpPr>
          <p:cNvPr id="10" name="Text 7"/>
          <p:cNvSpPr/>
          <p:nvPr/>
        </p:nvSpPr>
        <p:spPr>
          <a:xfrm>
            <a:off x="2025396" y="1723644"/>
            <a:ext cx="877824" cy="274320"/>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Count</a:t>
            </a:r>
            <a:endParaRPr lang="en-US" sz="810" dirty="0"/>
          </a:p>
        </p:txBody>
      </p:sp>
      <p:sp>
        <p:nvSpPr>
          <p:cNvPr id="11" name="Shape 8"/>
          <p:cNvSpPr/>
          <p:nvPr/>
        </p:nvSpPr>
        <p:spPr>
          <a:xfrm>
            <a:off x="2944368" y="1691640"/>
            <a:ext cx="1051560" cy="338328"/>
          </a:xfrm>
          <a:prstGeom prst="rect">
            <a:avLst/>
          </a:prstGeom>
          <a:solidFill>
            <a:srgbClr val="9DFF00">
              <a:alpha val="18000"/>
            </a:srgbClr>
          </a:solidFill>
          <a:ln w="12700">
            <a:solidFill>
              <a:srgbClr val="333333">
                <a:alpha val="0"/>
              </a:srgbClr>
            </a:solidFill>
            <a:prstDash val="solid"/>
          </a:ln>
        </p:spPr>
      </p:sp>
      <p:sp>
        <p:nvSpPr>
          <p:cNvPr id="12" name="Text 9"/>
          <p:cNvSpPr/>
          <p:nvPr/>
        </p:nvSpPr>
        <p:spPr>
          <a:xfrm>
            <a:off x="2985516" y="1723644"/>
            <a:ext cx="969264" cy="274320"/>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Charge-off rate</a:t>
            </a:r>
            <a:endParaRPr lang="en-US" sz="810" dirty="0"/>
          </a:p>
        </p:txBody>
      </p:sp>
      <p:sp>
        <p:nvSpPr>
          <p:cNvPr id="13" name="Shape 10"/>
          <p:cNvSpPr/>
          <p:nvPr/>
        </p:nvSpPr>
        <p:spPr>
          <a:xfrm>
            <a:off x="658368" y="2029968"/>
            <a:ext cx="3337560" cy="0"/>
          </a:xfrm>
          <a:prstGeom prst="line">
            <a:avLst/>
          </a:prstGeom>
          <a:noFill/>
          <a:ln w="12700">
            <a:solidFill>
              <a:srgbClr val="9DFF00"/>
            </a:solidFill>
            <a:prstDash val="solid"/>
          </a:ln>
        </p:spPr>
      </p:sp>
      <p:sp>
        <p:nvSpPr>
          <p:cNvPr id="14" name="Text 11"/>
          <p:cNvSpPr/>
          <p:nvPr/>
        </p:nvSpPr>
        <p:spPr>
          <a:xfrm>
            <a:off x="699516" y="2061972"/>
            <a:ext cx="1243584" cy="274320"/>
          </a:xfrm>
          <a:prstGeom prst="rect">
            <a:avLst/>
          </a:prstGeom>
          <a:noFill/>
          <a:ln/>
        </p:spPr>
        <p:txBody>
          <a:bodyPr wrap="square" lIns="254" tIns="254" rIns="254" bIns="254" rtlCol="0" anchor="t">
            <a:normAutofit/>
          </a:bodyPr>
          <a:lstStyle/>
          <a:p>
            <a:pPr algn="l" indent="0" marL="0">
              <a:buNone/>
            </a:pPr>
            <a:r>
              <a:rPr lang="en-US" sz="820" dirty="0">
                <a:solidFill>
                  <a:srgbClr val="FFFFFF"/>
                </a:solidFill>
                <a:latin typeface="Aptos" pitchFamily="34" charset="0"/>
                <a:ea typeface="Aptos" pitchFamily="34" charset="-122"/>
                <a:cs typeface="Aptos" pitchFamily="34" charset="-120"/>
              </a:rPr>
              <a:t>8–11%</a:t>
            </a:r>
            <a:endParaRPr lang="en-US" sz="820" dirty="0"/>
          </a:p>
        </p:txBody>
      </p:sp>
      <p:sp>
        <p:nvSpPr>
          <p:cNvPr id="15" name="Text 12"/>
          <p:cNvSpPr/>
          <p:nvPr/>
        </p:nvSpPr>
        <p:spPr>
          <a:xfrm>
            <a:off x="2025396" y="2061972"/>
            <a:ext cx="877824" cy="274320"/>
          </a:xfrm>
          <a:prstGeom prst="rect">
            <a:avLst/>
          </a:prstGeom>
          <a:noFill/>
          <a:ln/>
        </p:spPr>
        <p:txBody>
          <a:bodyPr wrap="square" lIns="254" tIns="254" rIns="254" bIns="254" rtlCol="0" anchor="t">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48,910</a:t>
            </a:r>
            <a:endParaRPr lang="en-US" sz="820" dirty="0"/>
          </a:p>
        </p:txBody>
      </p:sp>
      <p:sp>
        <p:nvSpPr>
          <p:cNvPr id="16" name="Text 13"/>
          <p:cNvSpPr/>
          <p:nvPr/>
        </p:nvSpPr>
        <p:spPr>
          <a:xfrm>
            <a:off x="2985516" y="2061972"/>
            <a:ext cx="969264" cy="274320"/>
          </a:xfrm>
          <a:prstGeom prst="rect">
            <a:avLst/>
          </a:prstGeom>
          <a:noFill/>
          <a:ln/>
        </p:spPr>
        <p:txBody>
          <a:bodyPr wrap="square" lIns="254" tIns="254" rIns="254" bIns="254" rtlCol="0" anchor="t">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7.30%</a:t>
            </a:r>
            <a:endParaRPr lang="en-US" sz="820" dirty="0"/>
          </a:p>
        </p:txBody>
      </p:sp>
      <p:sp>
        <p:nvSpPr>
          <p:cNvPr id="17" name="Shape 14"/>
          <p:cNvSpPr/>
          <p:nvPr/>
        </p:nvSpPr>
        <p:spPr>
          <a:xfrm>
            <a:off x="658368" y="2368296"/>
            <a:ext cx="3337560" cy="0"/>
          </a:xfrm>
          <a:prstGeom prst="line">
            <a:avLst/>
          </a:prstGeom>
          <a:noFill/>
          <a:ln w="6350">
            <a:solidFill>
              <a:srgbClr val="2D342F">
                <a:alpha val="75000"/>
              </a:srgbClr>
            </a:solidFill>
            <a:prstDash val="solid"/>
          </a:ln>
        </p:spPr>
      </p:sp>
      <p:sp>
        <p:nvSpPr>
          <p:cNvPr id="18" name="Text 15"/>
          <p:cNvSpPr/>
          <p:nvPr/>
        </p:nvSpPr>
        <p:spPr>
          <a:xfrm>
            <a:off x="699516" y="2400300"/>
            <a:ext cx="1243584" cy="274320"/>
          </a:xfrm>
          <a:prstGeom prst="rect">
            <a:avLst/>
          </a:prstGeom>
          <a:noFill/>
          <a:ln/>
        </p:spPr>
        <p:txBody>
          <a:bodyPr wrap="square" lIns="254" tIns="254" rIns="254" bIns="254" rtlCol="0" anchor="t">
            <a:normAutofit/>
          </a:bodyPr>
          <a:lstStyle/>
          <a:p>
            <a:pPr algn="l" indent="0" marL="0">
              <a:buNone/>
            </a:pPr>
            <a:r>
              <a:rPr lang="en-US" sz="820" dirty="0">
                <a:solidFill>
                  <a:srgbClr val="FFFFFF"/>
                </a:solidFill>
                <a:latin typeface="Aptos" pitchFamily="34" charset="0"/>
                <a:ea typeface="Aptos" pitchFamily="34" charset="-122"/>
                <a:cs typeface="Aptos" pitchFamily="34" charset="-120"/>
              </a:rPr>
              <a:t>5–8%</a:t>
            </a:r>
            <a:endParaRPr lang="en-US" sz="820" dirty="0"/>
          </a:p>
        </p:txBody>
      </p:sp>
      <p:sp>
        <p:nvSpPr>
          <p:cNvPr id="19" name="Text 16"/>
          <p:cNvSpPr/>
          <p:nvPr/>
        </p:nvSpPr>
        <p:spPr>
          <a:xfrm>
            <a:off x="2025396" y="2400300"/>
            <a:ext cx="877824" cy="274320"/>
          </a:xfrm>
          <a:prstGeom prst="rect">
            <a:avLst/>
          </a:prstGeom>
          <a:noFill/>
          <a:ln/>
        </p:spPr>
        <p:txBody>
          <a:bodyPr wrap="square" lIns="254" tIns="254" rIns="254" bIns="254" rtlCol="0" anchor="t">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282,854</a:t>
            </a:r>
            <a:endParaRPr lang="en-US" sz="820" dirty="0"/>
          </a:p>
        </p:txBody>
      </p:sp>
      <p:sp>
        <p:nvSpPr>
          <p:cNvPr id="20" name="Text 17"/>
          <p:cNvSpPr/>
          <p:nvPr/>
        </p:nvSpPr>
        <p:spPr>
          <a:xfrm>
            <a:off x="2985516" y="2400300"/>
            <a:ext cx="969264" cy="274320"/>
          </a:xfrm>
          <a:prstGeom prst="rect">
            <a:avLst/>
          </a:prstGeom>
          <a:noFill/>
          <a:ln/>
        </p:spPr>
        <p:txBody>
          <a:bodyPr wrap="square" lIns="254" tIns="254" rIns="254" bIns="254" rtlCol="0" anchor="t">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3.80%</a:t>
            </a:r>
            <a:endParaRPr lang="en-US" sz="820" dirty="0"/>
          </a:p>
        </p:txBody>
      </p:sp>
      <p:sp>
        <p:nvSpPr>
          <p:cNvPr id="21" name="Shape 18"/>
          <p:cNvSpPr/>
          <p:nvPr/>
        </p:nvSpPr>
        <p:spPr>
          <a:xfrm>
            <a:off x="658368" y="2706624"/>
            <a:ext cx="3337560" cy="0"/>
          </a:xfrm>
          <a:prstGeom prst="line">
            <a:avLst/>
          </a:prstGeom>
          <a:noFill/>
          <a:ln w="6350">
            <a:solidFill>
              <a:srgbClr val="2D342F">
                <a:alpha val="75000"/>
              </a:srgbClr>
            </a:solidFill>
            <a:prstDash val="solid"/>
          </a:ln>
        </p:spPr>
      </p:sp>
      <p:sp>
        <p:nvSpPr>
          <p:cNvPr id="22" name="Text 19"/>
          <p:cNvSpPr/>
          <p:nvPr/>
        </p:nvSpPr>
        <p:spPr>
          <a:xfrm>
            <a:off x="699516" y="2738628"/>
            <a:ext cx="1243584" cy="274320"/>
          </a:xfrm>
          <a:prstGeom prst="rect">
            <a:avLst/>
          </a:prstGeom>
          <a:noFill/>
          <a:ln/>
        </p:spPr>
        <p:txBody>
          <a:bodyPr wrap="square" lIns="254" tIns="254" rIns="254" bIns="254" rtlCol="0" anchor="t">
            <a:normAutofit/>
          </a:bodyPr>
          <a:lstStyle/>
          <a:p>
            <a:pPr algn="l" indent="0" marL="0">
              <a:buNone/>
            </a:pPr>
            <a:r>
              <a:rPr lang="en-US" sz="820" dirty="0">
                <a:solidFill>
                  <a:srgbClr val="FFFFFF"/>
                </a:solidFill>
                <a:latin typeface="Aptos" pitchFamily="34" charset="0"/>
                <a:ea typeface="Aptos" pitchFamily="34" charset="-122"/>
                <a:cs typeface="Aptos" pitchFamily="34" charset="-120"/>
              </a:rPr>
              <a:t>&lt;5%</a:t>
            </a:r>
            <a:endParaRPr lang="en-US" sz="820" dirty="0"/>
          </a:p>
        </p:txBody>
      </p:sp>
      <p:sp>
        <p:nvSpPr>
          <p:cNvPr id="23" name="Text 20"/>
          <p:cNvSpPr/>
          <p:nvPr/>
        </p:nvSpPr>
        <p:spPr>
          <a:xfrm>
            <a:off x="2025396" y="2738628"/>
            <a:ext cx="877824" cy="274320"/>
          </a:xfrm>
          <a:prstGeom prst="rect">
            <a:avLst/>
          </a:prstGeom>
          <a:noFill/>
          <a:ln/>
        </p:spPr>
        <p:txBody>
          <a:bodyPr wrap="square" lIns="254" tIns="254" rIns="254" bIns="254" rtlCol="0" anchor="t">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61,241</a:t>
            </a:r>
            <a:endParaRPr lang="en-US" sz="820" dirty="0"/>
          </a:p>
        </p:txBody>
      </p:sp>
      <p:sp>
        <p:nvSpPr>
          <p:cNvPr id="24" name="Text 21"/>
          <p:cNvSpPr/>
          <p:nvPr/>
        </p:nvSpPr>
        <p:spPr>
          <a:xfrm>
            <a:off x="2985516" y="2738628"/>
            <a:ext cx="969264" cy="274320"/>
          </a:xfrm>
          <a:prstGeom prst="rect">
            <a:avLst/>
          </a:prstGeom>
          <a:noFill/>
          <a:ln/>
        </p:spPr>
        <p:txBody>
          <a:bodyPr wrap="square" lIns="254" tIns="254" rIns="254" bIns="254" rtlCol="0" anchor="t">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1.35%</a:t>
            </a:r>
            <a:endParaRPr lang="en-US" sz="820" dirty="0"/>
          </a:p>
        </p:txBody>
      </p:sp>
      <p:sp>
        <p:nvSpPr>
          <p:cNvPr id="25" name="Shape 22"/>
          <p:cNvSpPr/>
          <p:nvPr/>
        </p:nvSpPr>
        <p:spPr>
          <a:xfrm>
            <a:off x="658368" y="3044952"/>
            <a:ext cx="3337560" cy="0"/>
          </a:xfrm>
          <a:prstGeom prst="line">
            <a:avLst/>
          </a:prstGeom>
          <a:noFill/>
          <a:ln w="6350">
            <a:solidFill>
              <a:srgbClr val="2D342F">
                <a:alpha val="75000"/>
              </a:srgbClr>
            </a:solidFill>
            <a:prstDash val="solid"/>
          </a:ln>
        </p:spPr>
      </p:sp>
      <p:sp>
        <p:nvSpPr>
          <p:cNvPr id="26" name="Shape 23"/>
          <p:cNvSpPr/>
          <p:nvPr/>
        </p:nvSpPr>
        <p:spPr>
          <a:xfrm>
            <a:off x="4160520" y="1691640"/>
            <a:ext cx="1435261" cy="338328"/>
          </a:xfrm>
          <a:prstGeom prst="rect">
            <a:avLst/>
          </a:prstGeom>
          <a:solidFill>
            <a:srgbClr val="9DFF00">
              <a:alpha val="18000"/>
            </a:srgbClr>
          </a:solidFill>
          <a:ln w="12700">
            <a:solidFill>
              <a:srgbClr val="333333">
                <a:alpha val="0"/>
              </a:srgbClr>
            </a:solidFill>
            <a:prstDash val="solid"/>
          </a:ln>
        </p:spPr>
      </p:sp>
      <p:sp>
        <p:nvSpPr>
          <p:cNvPr id="27" name="Text 24"/>
          <p:cNvSpPr/>
          <p:nvPr/>
        </p:nvSpPr>
        <p:spPr>
          <a:xfrm>
            <a:off x="4201668" y="1723644"/>
            <a:ext cx="1352965" cy="274320"/>
          </a:xfrm>
          <a:prstGeom prst="rect">
            <a:avLst/>
          </a:prstGeom>
          <a:noFill/>
          <a:ln/>
        </p:spPr>
        <p:txBody>
          <a:bodyPr wrap="square" lIns="254" tIns="254" rIns="254" bIns="254" rtlCol="0" anchor="t">
            <a:normAutofit/>
          </a:bodyPr>
          <a:lstStyle/>
          <a:p>
            <a:pPr algn="l" indent="0" marL="0">
              <a:buNone/>
            </a:pPr>
            <a:r>
              <a:rPr lang="en-US" sz="810" b="1" dirty="0">
                <a:solidFill>
                  <a:srgbClr val="9DFF00"/>
                </a:solidFill>
                <a:latin typeface="Aptos" pitchFamily="34" charset="0"/>
                <a:ea typeface="Aptos" pitchFamily="34" charset="-122"/>
                <a:cs typeface="Aptos" pitchFamily="34" charset="-120"/>
              </a:rPr>
              <a:t>Guarantee band</a:t>
            </a:r>
            <a:endParaRPr lang="en-US" sz="810" dirty="0"/>
          </a:p>
        </p:txBody>
      </p:sp>
      <p:sp>
        <p:nvSpPr>
          <p:cNvPr id="28" name="Shape 25"/>
          <p:cNvSpPr/>
          <p:nvPr/>
        </p:nvSpPr>
        <p:spPr>
          <a:xfrm>
            <a:off x="5595781" y="1691640"/>
            <a:ext cx="1064871" cy="338328"/>
          </a:xfrm>
          <a:prstGeom prst="rect">
            <a:avLst/>
          </a:prstGeom>
          <a:solidFill>
            <a:srgbClr val="9DFF00">
              <a:alpha val="18000"/>
            </a:srgbClr>
          </a:solidFill>
          <a:ln w="12700">
            <a:solidFill>
              <a:srgbClr val="333333">
                <a:alpha val="0"/>
              </a:srgbClr>
            </a:solidFill>
            <a:prstDash val="solid"/>
          </a:ln>
        </p:spPr>
      </p:sp>
      <p:sp>
        <p:nvSpPr>
          <p:cNvPr id="29" name="Text 26"/>
          <p:cNvSpPr/>
          <p:nvPr/>
        </p:nvSpPr>
        <p:spPr>
          <a:xfrm>
            <a:off x="5636929" y="1723644"/>
            <a:ext cx="982575" cy="274320"/>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Count</a:t>
            </a:r>
            <a:endParaRPr lang="en-US" sz="810" dirty="0"/>
          </a:p>
        </p:txBody>
      </p:sp>
      <p:sp>
        <p:nvSpPr>
          <p:cNvPr id="30" name="Shape 27"/>
          <p:cNvSpPr/>
          <p:nvPr/>
        </p:nvSpPr>
        <p:spPr>
          <a:xfrm>
            <a:off x="6660652" y="1691640"/>
            <a:ext cx="1157468" cy="338328"/>
          </a:xfrm>
          <a:prstGeom prst="rect">
            <a:avLst/>
          </a:prstGeom>
          <a:solidFill>
            <a:srgbClr val="9DFF00">
              <a:alpha val="18000"/>
            </a:srgbClr>
          </a:solidFill>
          <a:ln w="12700">
            <a:solidFill>
              <a:srgbClr val="333333">
                <a:alpha val="0"/>
              </a:srgbClr>
            </a:solidFill>
            <a:prstDash val="solid"/>
          </a:ln>
        </p:spPr>
      </p:sp>
      <p:sp>
        <p:nvSpPr>
          <p:cNvPr id="31" name="Text 28"/>
          <p:cNvSpPr/>
          <p:nvPr/>
        </p:nvSpPr>
        <p:spPr>
          <a:xfrm>
            <a:off x="6701800" y="1723644"/>
            <a:ext cx="1075172" cy="274320"/>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Charge-off rate</a:t>
            </a:r>
            <a:endParaRPr lang="en-US" sz="810" dirty="0"/>
          </a:p>
        </p:txBody>
      </p:sp>
      <p:sp>
        <p:nvSpPr>
          <p:cNvPr id="32" name="Shape 29"/>
          <p:cNvSpPr/>
          <p:nvPr/>
        </p:nvSpPr>
        <p:spPr>
          <a:xfrm>
            <a:off x="4160520" y="2029968"/>
            <a:ext cx="3657600" cy="0"/>
          </a:xfrm>
          <a:prstGeom prst="line">
            <a:avLst/>
          </a:prstGeom>
          <a:noFill/>
          <a:ln w="12700">
            <a:solidFill>
              <a:srgbClr val="9DFF00"/>
            </a:solidFill>
            <a:prstDash val="solid"/>
          </a:ln>
        </p:spPr>
      </p:sp>
      <p:sp>
        <p:nvSpPr>
          <p:cNvPr id="33" name="Text 30"/>
          <p:cNvSpPr/>
          <p:nvPr/>
        </p:nvSpPr>
        <p:spPr>
          <a:xfrm>
            <a:off x="4201668" y="2061972"/>
            <a:ext cx="1352965" cy="274320"/>
          </a:xfrm>
          <a:prstGeom prst="rect">
            <a:avLst/>
          </a:prstGeom>
          <a:noFill/>
          <a:ln/>
        </p:spPr>
        <p:txBody>
          <a:bodyPr wrap="square" lIns="254" tIns="254" rIns="254" bIns="254" rtlCol="0" anchor="t">
            <a:normAutofit/>
          </a:bodyPr>
          <a:lstStyle/>
          <a:p>
            <a:pPr algn="l" indent="0" marL="0">
              <a:buNone/>
            </a:pPr>
            <a:r>
              <a:rPr lang="en-US" sz="820" dirty="0">
                <a:solidFill>
                  <a:srgbClr val="FFFFFF"/>
                </a:solidFill>
                <a:latin typeface="Aptos" pitchFamily="34" charset="0"/>
                <a:ea typeface="Aptos" pitchFamily="34" charset="-122"/>
                <a:cs typeface="Aptos" pitchFamily="34" charset="-120"/>
              </a:rPr>
              <a:t>75–85%</a:t>
            </a:r>
            <a:endParaRPr lang="en-US" sz="820" dirty="0"/>
          </a:p>
        </p:txBody>
      </p:sp>
      <p:sp>
        <p:nvSpPr>
          <p:cNvPr id="34" name="Text 31"/>
          <p:cNvSpPr/>
          <p:nvPr/>
        </p:nvSpPr>
        <p:spPr>
          <a:xfrm>
            <a:off x="5636929" y="2061972"/>
            <a:ext cx="982575" cy="274320"/>
          </a:xfrm>
          <a:prstGeom prst="rect">
            <a:avLst/>
          </a:prstGeom>
          <a:noFill/>
          <a:ln/>
        </p:spPr>
        <p:txBody>
          <a:bodyPr wrap="square" lIns="254" tIns="254" rIns="254" bIns="254" rtlCol="0" anchor="t">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46,098</a:t>
            </a:r>
            <a:endParaRPr lang="en-US" sz="820" dirty="0"/>
          </a:p>
        </p:txBody>
      </p:sp>
      <p:sp>
        <p:nvSpPr>
          <p:cNvPr id="35" name="Text 32"/>
          <p:cNvSpPr/>
          <p:nvPr/>
        </p:nvSpPr>
        <p:spPr>
          <a:xfrm>
            <a:off x="6701800" y="2061972"/>
            <a:ext cx="1075172" cy="274320"/>
          </a:xfrm>
          <a:prstGeom prst="rect">
            <a:avLst/>
          </a:prstGeom>
          <a:noFill/>
          <a:ln/>
        </p:spPr>
        <p:txBody>
          <a:bodyPr wrap="square" lIns="254" tIns="254" rIns="254" bIns="254" rtlCol="0" anchor="t">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7.38%</a:t>
            </a:r>
            <a:endParaRPr lang="en-US" sz="820" dirty="0"/>
          </a:p>
        </p:txBody>
      </p:sp>
      <p:sp>
        <p:nvSpPr>
          <p:cNvPr id="36" name="Shape 33"/>
          <p:cNvSpPr/>
          <p:nvPr/>
        </p:nvSpPr>
        <p:spPr>
          <a:xfrm>
            <a:off x="4160520" y="2368296"/>
            <a:ext cx="3657600" cy="0"/>
          </a:xfrm>
          <a:prstGeom prst="line">
            <a:avLst/>
          </a:prstGeom>
          <a:noFill/>
          <a:ln w="6350">
            <a:solidFill>
              <a:srgbClr val="2D342F">
                <a:alpha val="75000"/>
              </a:srgbClr>
            </a:solidFill>
            <a:prstDash val="solid"/>
          </a:ln>
        </p:spPr>
      </p:sp>
      <p:sp>
        <p:nvSpPr>
          <p:cNvPr id="37" name="Text 34"/>
          <p:cNvSpPr/>
          <p:nvPr/>
        </p:nvSpPr>
        <p:spPr>
          <a:xfrm>
            <a:off x="4201668" y="2400300"/>
            <a:ext cx="1352965" cy="274320"/>
          </a:xfrm>
          <a:prstGeom prst="rect">
            <a:avLst/>
          </a:prstGeom>
          <a:noFill/>
          <a:ln/>
        </p:spPr>
        <p:txBody>
          <a:bodyPr wrap="square" lIns="254" tIns="254" rIns="254" bIns="254" rtlCol="0" anchor="t">
            <a:normAutofit/>
          </a:bodyPr>
          <a:lstStyle/>
          <a:p>
            <a:pPr algn="l" indent="0" marL="0">
              <a:buNone/>
            </a:pPr>
            <a:r>
              <a:rPr lang="en-US" sz="820" dirty="0">
                <a:solidFill>
                  <a:srgbClr val="FFFFFF"/>
                </a:solidFill>
                <a:latin typeface="Aptos" pitchFamily="34" charset="0"/>
                <a:ea typeface="Aptos" pitchFamily="34" charset="-122"/>
                <a:cs typeface="Aptos" pitchFamily="34" charset="-120"/>
              </a:rPr>
              <a:t>≤50%</a:t>
            </a:r>
            <a:endParaRPr lang="en-US" sz="820" dirty="0"/>
          </a:p>
        </p:txBody>
      </p:sp>
      <p:sp>
        <p:nvSpPr>
          <p:cNvPr id="38" name="Text 35"/>
          <p:cNvSpPr/>
          <p:nvPr/>
        </p:nvSpPr>
        <p:spPr>
          <a:xfrm>
            <a:off x="5636929" y="2400300"/>
            <a:ext cx="982575" cy="274320"/>
          </a:xfrm>
          <a:prstGeom prst="rect">
            <a:avLst/>
          </a:prstGeom>
          <a:noFill/>
          <a:ln/>
        </p:spPr>
        <p:txBody>
          <a:bodyPr wrap="square" lIns="254" tIns="254" rIns="254" bIns="254" rtlCol="0" anchor="t">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192,700</a:t>
            </a:r>
            <a:endParaRPr lang="en-US" sz="820" dirty="0"/>
          </a:p>
        </p:txBody>
      </p:sp>
      <p:sp>
        <p:nvSpPr>
          <p:cNvPr id="39" name="Text 36"/>
          <p:cNvSpPr/>
          <p:nvPr/>
        </p:nvSpPr>
        <p:spPr>
          <a:xfrm>
            <a:off x="6701800" y="2400300"/>
            <a:ext cx="1075172" cy="274320"/>
          </a:xfrm>
          <a:prstGeom prst="rect">
            <a:avLst/>
          </a:prstGeom>
          <a:noFill/>
          <a:ln/>
        </p:spPr>
        <p:txBody>
          <a:bodyPr wrap="square" lIns="254" tIns="254" rIns="254" bIns="254" rtlCol="0" anchor="t">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4.11%</a:t>
            </a:r>
            <a:endParaRPr lang="en-US" sz="820" dirty="0"/>
          </a:p>
        </p:txBody>
      </p:sp>
      <p:sp>
        <p:nvSpPr>
          <p:cNvPr id="40" name="Shape 37"/>
          <p:cNvSpPr/>
          <p:nvPr/>
        </p:nvSpPr>
        <p:spPr>
          <a:xfrm>
            <a:off x="4160520" y="2706624"/>
            <a:ext cx="3657600" cy="0"/>
          </a:xfrm>
          <a:prstGeom prst="line">
            <a:avLst/>
          </a:prstGeom>
          <a:noFill/>
          <a:ln w="6350">
            <a:solidFill>
              <a:srgbClr val="2D342F">
                <a:alpha val="75000"/>
              </a:srgbClr>
            </a:solidFill>
            <a:prstDash val="solid"/>
          </a:ln>
        </p:spPr>
      </p:sp>
      <p:sp>
        <p:nvSpPr>
          <p:cNvPr id="41" name="Text 38"/>
          <p:cNvSpPr/>
          <p:nvPr/>
        </p:nvSpPr>
        <p:spPr>
          <a:xfrm>
            <a:off x="4201668" y="2738628"/>
            <a:ext cx="1352965" cy="274320"/>
          </a:xfrm>
          <a:prstGeom prst="rect">
            <a:avLst/>
          </a:prstGeom>
          <a:noFill/>
          <a:ln/>
        </p:spPr>
        <p:txBody>
          <a:bodyPr wrap="square" lIns="254" tIns="254" rIns="254" bIns="254" rtlCol="0" anchor="t">
            <a:normAutofit/>
          </a:bodyPr>
          <a:lstStyle/>
          <a:p>
            <a:pPr algn="l" indent="0" marL="0">
              <a:buNone/>
            </a:pPr>
            <a:r>
              <a:rPr lang="en-US" sz="820" dirty="0">
                <a:solidFill>
                  <a:srgbClr val="FFFFFF"/>
                </a:solidFill>
                <a:latin typeface="Aptos" pitchFamily="34" charset="0"/>
                <a:ea typeface="Aptos" pitchFamily="34" charset="-122"/>
                <a:cs typeface="Aptos" pitchFamily="34" charset="-120"/>
              </a:rPr>
              <a:t>&gt;85%</a:t>
            </a:r>
            <a:endParaRPr lang="en-US" sz="820" dirty="0"/>
          </a:p>
        </p:txBody>
      </p:sp>
      <p:sp>
        <p:nvSpPr>
          <p:cNvPr id="42" name="Text 39"/>
          <p:cNvSpPr/>
          <p:nvPr/>
        </p:nvSpPr>
        <p:spPr>
          <a:xfrm>
            <a:off x="5636929" y="2738628"/>
            <a:ext cx="982575" cy="274320"/>
          </a:xfrm>
          <a:prstGeom prst="rect">
            <a:avLst/>
          </a:prstGeom>
          <a:noFill/>
          <a:ln/>
        </p:spPr>
        <p:txBody>
          <a:bodyPr wrap="square" lIns="254" tIns="254" rIns="254" bIns="254" rtlCol="0" anchor="t">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27,701</a:t>
            </a:r>
            <a:endParaRPr lang="en-US" sz="820" dirty="0"/>
          </a:p>
        </p:txBody>
      </p:sp>
      <p:sp>
        <p:nvSpPr>
          <p:cNvPr id="43" name="Text 40"/>
          <p:cNvSpPr/>
          <p:nvPr/>
        </p:nvSpPr>
        <p:spPr>
          <a:xfrm>
            <a:off x="6701800" y="2738628"/>
            <a:ext cx="1075172" cy="274320"/>
          </a:xfrm>
          <a:prstGeom prst="rect">
            <a:avLst/>
          </a:prstGeom>
          <a:noFill/>
          <a:ln/>
        </p:spPr>
        <p:txBody>
          <a:bodyPr wrap="square" lIns="254" tIns="254" rIns="254" bIns="254" rtlCol="0" anchor="t">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4.03%</a:t>
            </a:r>
            <a:endParaRPr lang="en-US" sz="820" dirty="0"/>
          </a:p>
        </p:txBody>
      </p:sp>
      <p:sp>
        <p:nvSpPr>
          <p:cNvPr id="44" name="Shape 41"/>
          <p:cNvSpPr/>
          <p:nvPr/>
        </p:nvSpPr>
        <p:spPr>
          <a:xfrm>
            <a:off x="4160520" y="3044952"/>
            <a:ext cx="3657600" cy="0"/>
          </a:xfrm>
          <a:prstGeom prst="line">
            <a:avLst/>
          </a:prstGeom>
          <a:noFill/>
          <a:ln w="6350">
            <a:solidFill>
              <a:srgbClr val="2D342F">
                <a:alpha val="75000"/>
              </a:srgbClr>
            </a:solidFill>
            <a:prstDash val="solid"/>
          </a:ln>
        </p:spPr>
      </p:sp>
      <p:sp>
        <p:nvSpPr>
          <p:cNvPr id="45" name="Text 42"/>
          <p:cNvSpPr/>
          <p:nvPr/>
        </p:nvSpPr>
        <p:spPr>
          <a:xfrm>
            <a:off x="4201668" y="3076956"/>
            <a:ext cx="1352965" cy="274320"/>
          </a:xfrm>
          <a:prstGeom prst="rect">
            <a:avLst/>
          </a:prstGeom>
          <a:noFill/>
          <a:ln/>
        </p:spPr>
        <p:txBody>
          <a:bodyPr wrap="square" lIns="254" tIns="254" rIns="254" bIns="254" rtlCol="0" anchor="t">
            <a:normAutofit/>
          </a:bodyPr>
          <a:lstStyle/>
          <a:p>
            <a:pPr algn="l" indent="0" marL="0">
              <a:buNone/>
            </a:pPr>
            <a:r>
              <a:rPr lang="en-US" sz="820" dirty="0">
                <a:solidFill>
                  <a:srgbClr val="FFFFFF"/>
                </a:solidFill>
                <a:latin typeface="Aptos" pitchFamily="34" charset="0"/>
                <a:ea typeface="Aptos" pitchFamily="34" charset="-122"/>
                <a:cs typeface="Aptos" pitchFamily="34" charset="-120"/>
              </a:rPr>
              <a:t>50–75%</a:t>
            </a:r>
            <a:endParaRPr lang="en-US" sz="820" dirty="0"/>
          </a:p>
        </p:txBody>
      </p:sp>
      <p:sp>
        <p:nvSpPr>
          <p:cNvPr id="46" name="Text 43"/>
          <p:cNvSpPr/>
          <p:nvPr/>
        </p:nvSpPr>
        <p:spPr>
          <a:xfrm>
            <a:off x="5636929" y="3076956"/>
            <a:ext cx="982575" cy="274320"/>
          </a:xfrm>
          <a:prstGeom prst="rect">
            <a:avLst/>
          </a:prstGeom>
          <a:noFill/>
          <a:ln/>
        </p:spPr>
        <p:txBody>
          <a:bodyPr wrap="square" lIns="254" tIns="254" rIns="254" bIns="254" rtlCol="0" anchor="t">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126,509</a:t>
            </a:r>
            <a:endParaRPr lang="en-US" sz="820" dirty="0"/>
          </a:p>
        </p:txBody>
      </p:sp>
      <p:sp>
        <p:nvSpPr>
          <p:cNvPr id="47" name="Text 44"/>
          <p:cNvSpPr/>
          <p:nvPr/>
        </p:nvSpPr>
        <p:spPr>
          <a:xfrm>
            <a:off x="6701800" y="3076956"/>
            <a:ext cx="1075172" cy="274320"/>
          </a:xfrm>
          <a:prstGeom prst="rect">
            <a:avLst/>
          </a:prstGeom>
          <a:noFill/>
          <a:ln/>
        </p:spPr>
        <p:txBody>
          <a:bodyPr wrap="square" lIns="254" tIns="254" rIns="254" bIns="254" rtlCol="0" anchor="t">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2.15%</a:t>
            </a:r>
            <a:endParaRPr lang="en-US" sz="820" dirty="0"/>
          </a:p>
        </p:txBody>
      </p:sp>
      <p:sp>
        <p:nvSpPr>
          <p:cNvPr id="48" name="Shape 45"/>
          <p:cNvSpPr/>
          <p:nvPr/>
        </p:nvSpPr>
        <p:spPr>
          <a:xfrm>
            <a:off x="4160520" y="3383280"/>
            <a:ext cx="3657600" cy="0"/>
          </a:xfrm>
          <a:prstGeom prst="line">
            <a:avLst/>
          </a:prstGeom>
          <a:noFill/>
          <a:ln w="6350">
            <a:solidFill>
              <a:srgbClr val="2D342F">
                <a:alpha val="75000"/>
              </a:srgbClr>
            </a:solidFill>
            <a:prstDash val="solid"/>
          </a:ln>
        </p:spPr>
      </p:sp>
      <p:sp>
        <p:nvSpPr>
          <p:cNvPr id="49" name="Shape 46"/>
          <p:cNvSpPr/>
          <p:nvPr/>
        </p:nvSpPr>
        <p:spPr>
          <a:xfrm>
            <a:off x="8001000" y="1691640"/>
            <a:ext cx="1161826" cy="335280"/>
          </a:xfrm>
          <a:prstGeom prst="rect">
            <a:avLst/>
          </a:prstGeom>
          <a:solidFill>
            <a:srgbClr val="9DFF00">
              <a:alpha val="18000"/>
            </a:srgbClr>
          </a:solidFill>
          <a:ln w="12700">
            <a:solidFill>
              <a:srgbClr val="333333">
                <a:alpha val="0"/>
              </a:srgbClr>
            </a:solidFill>
            <a:prstDash val="solid"/>
          </a:ln>
        </p:spPr>
      </p:sp>
      <p:sp>
        <p:nvSpPr>
          <p:cNvPr id="50" name="Text 47"/>
          <p:cNvSpPr/>
          <p:nvPr/>
        </p:nvSpPr>
        <p:spPr>
          <a:xfrm>
            <a:off x="8042148" y="1723644"/>
            <a:ext cx="1079530" cy="271272"/>
          </a:xfrm>
          <a:prstGeom prst="rect">
            <a:avLst/>
          </a:prstGeom>
          <a:noFill/>
          <a:ln/>
        </p:spPr>
        <p:txBody>
          <a:bodyPr wrap="square" lIns="254" tIns="254" rIns="254" bIns="254" rtlCol="0" anchor="t">
            <a:normAutofit/>
          </a:bodyPr>
          <a:lstStyle/>
          <a:p>
            <a:pPr algn="l" indent="0" marL="0">
              <a:buNone/>
            </a:pPr>
            <a:r>
              <a:rPr lang="en-US" sz="810" b="1" dirty="0">
                <a:solidFill>
                  <a:srgbClr val="9DFF00"/>
                </a:solidFill>
                <a:latin typeface="Aptos" pitchFamily="34" charset="0"/>
                <a:ea typeface="Aptos" pitchFamily="34" charset="-122"/>
                <a:cs typeface="Aptos" pitchFamily="34" charset="-120"/>
              </a:rPr>
              <a:t>NAICS2</a:t>
            </a:r>
            <a:endParaRPr lang="en-US" sz="810" dirty="0"/>
          </a:p>
        </p:txBody>
      </p:sp>
      <p:sp>
        <p:nvSpPr>
          <p:cNvPr id="51" name="Shape 48"/>
          <p:cNvSpPr/>
          <p:nvPr/>
        </p:nvSpPr>
        <p:spPr>
          <a:xfrm>
            <a:off x="9162826" y="1691640"/>
            <a:ext cx="1113416" cy="335280"/>
          </a:xfrm>
          <a:prstGeom prst="rect">
            <a:avLst/>
          </a:prstGeom>
          <a:solidFill>
            <a:srgbClr val="9DFF00">
              <a:alpha val="18000"/>
            </a:srgbClr>
          </a:solidFill>
          <a:ln w="12700">
            <a:solidFill>
              <a:srgbClr val="333333">
                <a:alpha val="0"/>
              </a:srgbClr>
            </a:solidFill>
            <a:prstDash val="solid"/>
          </a:ln>
        </p:spPr>
      </p:sp>
      <p:sp>
        <p:nvSpPr>
          <p:cNvPr id="52" name="Text 49"/>
          <p:cNvSpPr/>
          <p:nvPr/>
        </p:nvSpPr>
        <p:spPr>
          <a:xfrm>
            <a:off x="9203974" y="1723644"/>
            <a:ext cx="1031120" cy="271272"/>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Count</a:t>
            </a:r>
            <a:endParaRPr lang="en-US" sz="810" dirty="0"/>
          </a:p>
        </p:txBody>
      </p:sp>
      <p:sp>
        <p:nvSpPr>
          <p:cNvPr id="53" name="Shape 50"/>
          <p:cNvSpPr/>
          <p:nvPr/>
        </p:nvSpPr>
        <p:spPr>
          <a:xfrm>
            <a:off x="10276242" y="1691640"/>
            <a:ext cx="1016598" cy="335280"/>
          </a:xfrm>
          <a:prstGeom prst="rect">
            <a:avLst/>
          </a:prstGeom>
          <a:solidFill>
            <a:srgbClr val="9DFF00">
              <a:alpha val="18000"/>
            </a:srgbClr>
          </a:solidFill>
          <a:ln w="12700">
            <a:solidFill>
              <a:srgbClr val="333333">
                <a:alpha val="0"/>
              </a:srgbClr>
            </a:solidFill>
            <a:prstDash val="solid"/>
          </a:ln>
        </p:spPr>
      </p:sp>
      <p:sp>
        <p:nvSpPr>
          <p:cNvPr id="54" name="Text 51"/>
          <p:cNvSpPr/>
          <p:nvPr/>
        </p:nvSpPr>
        <p:spPr>
          <a:xfrm>
            <a:off x="10317390" y="1723644"/>
            <a:ext cx="934302" cy="271272"/>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Rate</a:t>
            </a:r>
            <a:endParaRPr lang="en-US" sz="810" dirty="0"/>
          </a:p>
        </p:txBody>
      </p:sp>
      <p:sp>
        <p:nvSpPr>
          <p:cNvPr id="55" name="Shape 52"/>
          <p:cNvSpPr/>
          <p:nvPr/>
        </p:nvSpPr>
        <p:spPr>
          <a:xfrm>
            <a:off x="8001000" y="2026920"/>
            <a:ext cx="3291840" cy="0"/>
          </a:xfrm>
          <a:prstGeom prst="line">
            <a:avLst/>
          </a:prstGeom>
          <a:noFill/>
          <a:ln w="12700">
            <a:solidFill>
              <a:srgbClr val="9DFF00"/>
            </a:solidFill>
            <a:prstDash val="solid"/>
          </a:ln>
        </p:spPr>
      </p:sp>
      <p:sp>
        <p:nvSpPr>
          <p:cNvPr id="56" name="Text 53"/>
          <p:cNvSpPr/>
          <p:nvPr/>
        </p:nvSpPr>
        <p:spPr>
          <a:xfrm>
            <a:off x="8042148" y="2058924"/>
            <a:ext cx="1079530" cy="271272"/>
          </a:xfrm>
          <a:prstGeom prst="rect">
            <a:avLst/>
          </a:prstGeom>
          <a:noFill/>
          <a:ln/>
        </p:spPr>
        <p:txBody>
          <a:bodyPr wrap="square" lIns="254" tIns="254" rIns="254" bIns="254" rtlCol="0" anchor="t">
            <a:normAutofit/>
          </a:bodyPr>
          <a:lstStyle/>
          <a:p>
            <a:pPr algn="l" indent="0" marL="0">
              <a:buNone/>
            </a:pPr>
            <a:r>
              <a:rPr lang="en-US" sz="820" dirty="0">
                <a:solidFill>
                  <a:srgbClr val="FFFFFF"/>
                </a:solidFill>
                <a:latin typeface="Aptos" pitchFamily="34" charset="0"/>
                <a:ea typeface="Aptos" pitchFamily="34" charset="-122"/>
                <a:cs typeface="Aptos" pitchFamily="34" charset="-120"/>
              </a:rPr>
              <a:t>45</a:t>
            </a:r>
            <a:endParaRPr lang="en-US" sz="820" dirty="0"/>
          </a:p>
        </p:txBody>
      </p:sp>
      <p:sp>
        <p:nvSpPr>
          <p:cNvPr id="57" name="Text 54"/>
          <p:cNvSpPr/>
          <p:nvPr/>
        </p:nvSpPr>
        <p:spPr>
          <a:xfrm>
            <a:off x="9203974" y="2058924"/>
            <a:ext cx="1031120" cy="271272"/>
          </a:xfrm>
          <a:prstGeom prst="rect">
            <a:avLst/>
          </a:prstGeom>
          <a:noFill/>
          <a:ln/>
        </p:spPr>
        <p:txBody>
          <a:bodyPr wrap="square" lIns="254" tIns="254" rIns="254" bIns="254" rtlCol="0" anchor="t">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14,918</a:t>
            </a:r>
            <a:endParaRPr lang="en-US" sz="820" dirty="0"/>
          </a:p>
        </p:txBody>
      </p:sp>
      <p:sp>
        <p:nvSpPr>
          <p:cNvPr id="58" name="Text 55"/>
          <p:cNvSpPr/>
          <p:nvPr/>
        </p:nvSpPr>
        <p:spPr>
          <a:xfrm>
            <a:off x="10317390" y="2058924"/>
            <a:ext cx="934302" cy="271272"/>
          </a:xfrm>
          <a:prstGeom prst="rect">
            <a:avLst/>
          </a:prstGeom>
          <a:noFill/>
          <a:ln/>
        </p:spPr>
        <p:txBody>
          <a:bodyPr wrap="square" lIns="254" tIns="254" rIns="254" bIns="254" rtlCol="0" anchor="t">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5.66%</a:t>
            </a:r>
            <a:endParaRPr lang="en-US" sz="820" dirty="0"/>
          </a:p>
        </p:txBody>
      </p:sp>
      <p:sp>
        <p:nvSpPr>
          <p:cNvPr id="59" name="Shape 56"/>
          <p:cNvSpPr/>
          <p:nvPr/>
        </p:nvSpPr>
        <p:spPr>
          <a:xfrm>
            <a:off x="8001000" y="2362200"/>
            <a:ext cx="3291840" cy="0"/>
          </a:xfrm>
          <a:prstGeom prst="line">
            <a:avLst/>
          </a:prstGeom>
          <a:noFill/>
          <a:ln w="6350">
            <a:solidFill>
              <a:srgbClr val="2D342F">
                <a:alpha val="75000"/>
              </a:srgbClr>
            </a:solidFill>
            <a:prstDash val="solid"/>
          </a:ln>
        </p:spPr>
      </p:sp>
      <p:sp>
        <p:nvSpPr>
          <p:cNvPr id="60" name="Text 57"/>
          <p:cNvSpPr/>
          <p:nvPr/>
        </p:nvSpPr>
        <p:spPr>
          <a:xfrm>
            <a:off x="8042148" y="2394204"/>
            <a:ext cx="1079530" cy="271272"/>
          </a:xfrm>
          <a:prstGeom prst="rect">
            <a:avLst/>
          </a:prstGeom>
          <a:noFill/>
          <a:ln/>
        </p:spPr>
        <p:txBody>
          <a:bodyPr wrap="square" lIns="254" tIns="254" rIns="254" bIns="254" rtlCol="0" anchor="t">
            <a:normAutofit/>
          </a:bodyPr>
          <a:lstStyle/>
          <a:p>
            <a:pPr algn="l" indent="0" marL="0">
              <a:buNone/>
            </a:pPr>
            <a:r>
              <a:rPr lang="en-US" sz="820" dirty="0">
                <a:solidFill>
                  <a:srgbClr val="FFFFFF"/>
                </a:solidFill>
                <a:latin typeface="Aptos" pitchFamily="34" charset="0"/>
                <a:ea typeface="Aptos" pitchFamily="34" charset="-122"/>
                <a:cs typeface="Aptos" pitchFamily="34" charset="-120"/>
              </a:rPr>
              <a:t>48</a:t>
            </a:r>
            <a:endParaRPr lang="en-US" sz="820" dirty="0"/>
          </a:p>
        </p:txBody>
      </p:sp>
      <p:sp>
        <p:nvSpPr>
          <p:cNvPr id="61" name="Text 58"/>
          <p:cNvSpPr/>
          <p:nvPr/>
        </p:nvSpPr>
        <p:spPr>
          <a:xfrm>
            <a:off x="9203974" y="2394204"/>
            <a:ext cx="1031120" cy="271272"/>
          </a:xfrm>
          <a:prstGeom prst="rect">
            <a:avLst/>
          </a:prstGeom>
          <a:noFill/>
          <a:ln/>
        </p:spPr>
        <p:txBody>
          <a:bodyPr wrap="square" lIns="254" tIns="254" rIns="254" bIns="254" rtlCol="0" anchor="t">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18,105</a:t>
            </a:r>
            <a:endParaRPr lang="en-US" sz="820" dirty="0"/>
          </a:p>
        </p:txBody>
      </p:sp>
      <p:sp>
        <p:nvSpPr>
          <p:cNvPr id="62" name="Text 59"/>
          <p:cNvSpPr/>
          <p:nvPr/>
        </p:nvSpPr>
        <p:spPr>
          <a:xfrm>
            <a:off x="10317390" y="2394204"/>
            <a:ext cx="934302" cy="271272"/>
          </a:xfrm>
          <a:prstGeom prst="rect">
            <a:avLst/>
          </a:prstGeom>
          <a:noFill/>
          <a:ln/>
        </p:spPr>
        <p:txBody>
          <a:bodyPr wrap="square" lIns="254" tIns="254" rIns="254" bIns="254" rtlCol="0" anchor="t">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5.58%</a:t>
            </a:r>
            <a:endParaRPr lang="en-US" sz="820" dirty="0"/>
          </a:p>
        </p:txBody>
      </p:sp>
      <p:sp>
        <p:nvSpPr>
          <p:cNvPr id="63" name="Shape 60"/>
          <p:cNvSpPr/>
          <p:nvPr/>
        </p:nvSpPr>
        <p:spPr>
          <a:xfrm>
            <a:off x="8001000" y="2697480"/>
            <a:ext cx="3291840" cy="0"/>
          </a:xfrm>
          <a:prstGeom prst="line">
            <a:avLst/>
          </a:prstGeom>
          <a:noFill/>
          <a:ln w="6350">
            <a:solidFill>
              <a:srgbClr val="2D342F">
                <a:alpha val="75000"/>
              </a:srgbClr>
            </a:solidFill>
            <a:prstDash val="solid"/>
          </a:ln>
        </p:spPr>
      </p:sp>
      <p:sp>
        <p:nvSpPr>
          <p:cNvPr id="64" name="Text 61"/>
          <p:cNvSpPr/>
          <p:nvPr/>
        </p:nvSpPr>
        <p:spPr>
          <a:xfrm>
            <a:off x="8042148" y="2729484"/>
            <a:ext cx="1079530" cy="271272"/>
          </a:xfrm>
          <a:prstGeom prst="rect">
            <a:avLst/>
          </a:prstGeom>
          <a:noFill/>
          <a:ln/>
        </p:spPr>
        <p:txBody>
          <a:bodyPr wrap="square" lIns="254" tIns="254" rIns="254" bIns="254" rtlCol="0" anchor="t">
            <a:normAutofit/>
          </a:bodyPr>
          <a:lstStyle/>
          <a:p>
            <a:pPr algn="l" indent="0" marL="0">
              <a:buNone/>
            </a:pPr>
            <a:r>
              <a:rPr lang="en-US" sz="820" dirty="0">
                <a:solidFill>
                  <a:srgbClr val="FFFFFF"/>
                </a:solidFill>
                <a:latin typeface="Aptos" pitchFamily="34" charset="0"/>
                <a:ea typeface="Aptos" pitchFamily="34" charset="-122"/>
                <a:cs typeface="Aptos" pitchFamily="34" charset="-120"/>
              </a:rPr>
              <a:t>42</a:t>
            </a:r>
            <a:endParaRPr lang="en-US" sz="820" dirty="0"/>
          </a:p>
        </p:txBody>
      </p:sp>
      <p:sp>
        <p:nvSpPr>
          <p:cNvPr id="65" name="Text 62"/>
          <p:cNvSpPr/>
          <p:nvPr/>
        </p:nvSpPr>
        <p:spPr>
          <a:xfrm>
            <a:off x="9203974" y="2729484"/>
            <a:ext cx="1031120" cy="271272"/>
          </a:xfrm>
          <a:prstGeom prst="rect">
            <a:avLst/>
          </a:prstGeom>
          <a:noFill/>
          <a:ln/>
        </p:spPr>
        <p:txBody>
          <a:bodyPr wrap="square" lIns="254" tIns="254" rIns="254" bIns="254" rtlCol="0" anchor="t">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21,367</a:t>
            </a:r>
            <a:endParaRPr lang="en-US" sz="820" dirty="0"/>
          </a:p>
        </p:txBody>
      </p:sp>
      <p:sp>
        <p:nvSpPr>
          <p:cNvPr id="66" name="Text 63"/>
          <p:cNvSpPr/>
          <p:nvPr/>
        </p:nvSpPr>
        <p:spPr>
          <a:xfrm>
            <a:off x="10317390" y="2729484"/>
            <a:ext cx="934302" cy="271272"/>
          </a:xfrm>
          <a:prstGeom prst="rect">
            <a:avLst/>
          </a:prstGeom>
          <a:noFill/>
          <a:ln/>
        </p:spPr>
        <p:txBody>
          <a:bodyPr wrap="square" lIns="254" tIns="254" rIns="254" bIns="254" rtlCol="0" anchor="t">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4.61%</a:t>
            </a:r>
            <a:endParaRPr lang="en-US" sz="820" dirty="0"/>
          </a:p>
        </p:txBody>
      </p:sp>
      <p:sp>
        <p:nvSpPr>
          <p:cNvPr id="67" name="Shape 64"/>
          <p:cNvSpPr/>
          <p:nvPr/>
        </p:nvSpPr>
        <p:spPr>
          <a:xfrm>
            <a:off x="8001000" y="3032760"/>
            <a:ext cx="3291840" cy="0"/>
          </a:xfrm>
          <a:prstGeom prst="line">
            <a:avLst/>
          </a:prstGeom>
          <a:noFill/>
          <a:ln w="6350">
            <a:solidFill>
              <a:srgbClr val="2D342F">
                <a:alpha val="75000"/>
              </a:srgbClr>
            </a:solidFill>
            <a:prstDash val="solid"/>
          </a:ln>
        </p:spPr>
      </p:sp>
      <p:sp>
        <p:nvSpPr>
          <p:cNvPr id="68" name="Text 65"/>
          <p:cNvSpPr/>
          <p:nvPr/>
        </p:nvSpPr>
        <p:spPr>
          <a:xfrm>
            <a:off x="8042148" y="3064764"/>
            <a:ext cx="1079530" cy="271272"/>
          </a:xfrm>
          <a:prstGeom prst="rect">
            <a:avLst/>
          </a:prstGeom>
          <a:noFill/>
          <a:ln/>
        </p:spPr>
        <p:txBody>
          <a:bodyPr wrap="square" lIns="254" tIns="254" rIns="254" bIns="254" rtlCol="0" anchor="t">
            <a:normAutofit/>
          </a:bodyPr>
          <a:lstStyle/>
          <a:p>
            <a:pPr algn="l" indent="0" marL="0">
              <a:buNone/>
            </a:pPr>
            <a:r>
              <a:rPr lang="en-US" sz="820" dirty="0">
                <a:solidFill>
                  <a:srgbClr val="FFFFFF"/>
                </a:solidFill>
                <a:latin typeface="Aptos" pitchFamily="34" charset="0"/>
                <a:ea typeface="Aptos" pitchFamily="34" charset="-122"/>
                <a:cs typeface="Aptos" pitchFamily="34" charset="-120"/>
              </a:rPr>
              <a:t>71</a:t>
            </a:r>
            <a:endParaRPr lang="en-US" sz="820" dirty="0"/>
          </a:p>
        </p:txBody>
      </p:sp>
      <p:sp>
        <p:nvSpPr>
          <p:cNvPr id="69" name="Text 66"/>
          <p:cNvSpPr/>
          <p:nvPr/>
        </p:nvSpPr>
        <p:spPr>
          <a:xfrm>
            <a:off x="9203974" y="3064764"/>
            <a:ext cx="1031120" cy="271272"/>
          </a:xfrm>
          <a:prstGeom prst="rect">
            <a:avLst/>
          </a:prstGeom>
          <a:noFill/>
          <a:ln/>
        </p:spPr>
        <p:txBody>
          <a:bodyPr wrap="square" lIns="254" tIns="254" rIns="254" bIns="254" rtlCol="0" anchor="t">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10,813</a:t>
            </a:r>
            <a:endParaRPr lang="en-US" sz="820" dirty="0"/>
          </a:p>
        </p:txBody>
      </p:sp>
      <p:sp>
        <p:nvSpPr>
          <p:cNvPr id="70" name="Text 67"/>
          <p:cNvSpPr/>
          <p:nvPr/>
        </p:nvSpPr>
        <p:spPr>
          <a:xfrm>
            <a:off x="10317390" y="3064764"/>
            <a:ext cx="934302" cy="271272"/>
          </a:xfrm>
          <a:prstGeom prst="rect">
            <a:avLst/>
          </a:prstGeom>
          <a:noFill/>
          <a:ln/>
        </p:spPr>
        <p:txBody>
          <a:bodyPr wrap="square" lIns="254" tIns="254" rIns="254" bIns="254" rtlCol="0" anchor="t">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4.58%</a:t>
            </a:r>
            <a:endParaRPr lang="en-US" sz="820" dirty="0"/>
          </a:p>
        </p:txBody>
      </p:sp>
      <p:sp>
        <p:nvSpPr>
          <p:cNvPr id="71" name="Shape 68"/>
          <p:cNvSpPr/>
          <p:nvPr/>
        </p:nvSpPr>
        <p:spPr>
          <a:xfrm>
            <a:off x="8001000" y="3368040"/>
            <a:ext cx="3291840" cy="0"/>
          </a:xfrm>
          <a:prstGeom prst="line">
            <a:avLst/>
          </a:prstGeom>
          <a:noFill/>
          <a:ln w="6350">
            <a:solidFill>
              <a:srgbClr val="2D342F">
                <a:alpha val="75000"/>
              </a:srgbClr>
            </a:solidFill>
            <a:prstDash val="solid"/>
          </a:ln>
        </p:spPr>
      </p:sp>
      <p:sp>
        <p:nvSpPr>
          <p:cNvPr id="72" name="Text 69"/>
          <p:cNvSpPr/>
          <p:nvPr/>
        </p:nvSpPr>
        <p:spPr>
          <a:xfrm>
            <a:off x="8042148" y="3400044"/>
            <a:ext cx="1079530" cy="271272"/>
          </a:xfrm>
          <a:prstGeom prst="rect">
            <a:avLst/>
          </a:prstGeom>
          <a:noFill/>
          <a:ln/>
        </p:spPr>
        <p:txBody>
          <a:bodyPr wrap="square" lIns="254" tIns="254" rIns="254" bIns="254" rtlCol="0" anchor="t">
            <a:normAutofit/>
          </a:bodyPr>
          <a:lstStyle/>
          <a:p>
            <a:pPr algn="l" indent="0" marL="0">
              <a:buNone/>
            </a:pPr>
            <a:r>
              <a:rPr lang="en-US" sz="820" dirty="0">
                <a:solidFill>
                  <a:srgbClr val="FFFFFF"/>
                </a:solidFill>
                <a:latin typeface="Aptos" pitchFamily="34" charset="0"/>
                <a:ea typeface="Aptos" pitchFamily="34" charset="-122"/>
                <a:cs typeface="Aptos" pitchFamily="34" charset="-120"/>
              </a:rPr>
              <a:t>72</a:t>
            </a:r>
            <a:endParaRPr lang="en-US" sz="820" dirty="0"/>
          </a:p>
        </p:txBody>
      </p:sp>
      <p:sp>
        <p:nvSpPr>
          <p:cNvPr id="73" name="Text 70"/>
          <p:cNvSpPr/>
          <p:nvPr/>
        </p:nvSpPr>
        <p:spPr>
          <a:xfrm>
            <a:off x="9203974" y="3400044"/>
            <a:ext cx="1031120" cy="271272"/>
          </a:xfrm>
          <a:prstGeom prst="rect">
            <a:avLst/>
          </a:prstGeom>
          <a:noFill/>
          <a:ln/>
        </p:spPr>
        <p:txBody>
          <a:bodyPr wrap="square" lIns="254" tIns="254" rIns="254" bIns="254" rtlCol="0" anchor="t">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50,426</a:t>
            </a:r>
            <a:endParaRPr lang="en-US" sz="820" dirty="0"/>
          </a:p>
        </p:txBody>
      </p:sp>
      <p:sp>
        <p:nvSpPr>
          <p:cNvPr id="74" name="Text 71"/>
          <p:cNvSpPr/>
          <p:nvPr/>
        </p:nvSpPr>
        <p:spPr>
          <a:xfrm>
            <a:off x="10317390" y="3400044"/>
            <a:ext cx="934302" cy="271272"/>
          </a:xfrm>
          <a:prstGeom prst="rect">
            <a:avLst/>
          </a:prstGeom>
          <a:noFill/>
          <a:ln/>
        </p:spPr>
        <p:txBody>
          <a:bodyPr wrap="square" lIns="254" tIns="254" rIns="254" bIns="254" rtlCol="0" anchor="t">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4.24%</a:t>
            </a:r>
            <a:endParaRPr lang="en-US" sz="820" dirty="0"/>
          </a:p>
        </p:txBody>
      </p:sp>
      <p:sp>
        <p:nvSpPr>
          <p:cNvPr id="75" name="Shape 72"/>
          <p:cNvSpPr/>
          <p:nvPr/>
        </p:nvSpPr>
        <p:spPr>
          <a:xfrm>
            <a:off x="8001000" y="3703320"/>
            <a:ext cx="3291840" cy="0"/>
          </a:xfrm>
          <a:prstGeom prst="line">
            <a:avLst/>
          </a:prstGeom>
          <a:noFill/>
          <a:ln w="6350">
            <a:solidFill>
              <a:srgbClr val="2D342F">
                <a:alpha val="75000"/>
              </a:srgbClr>
            </a:solidFill>
            <a:prstDash val="solid"/>
          </a:ln>
        </p:spPr>
      </p:sp>
      <p:sp>
        <p:nvSpPr>
          <p:cNvPr id="76" name="Shape 73"/>
          <p:cNvSpPr/>
          <p:nvPr/>
        </p:nvSpPr>
        <p:spPr>
          <a:xfrm>
            <a:off x="868680" y="4233672"/>
            <a:ext cx="4526280" cy="1389888"/>
          </a:xfrm>
          <a:prstGeom prst="rect">
            <a:avLst/>
          </a:prstGeom>
          <a:solidFill>
            <a:srgbClr val="FFFFFF"/>
          </a:solidFill>
          <a:ln w="11430">
            <a:solidFill>
              <a:srgbClr val="9DFF00">
                <a:alpha val="65000"/>
              </a:srgbClr>
            </a:solidFill>
            <a:prstDash val="solid"/>
          </a:ln>
        </p:spPr>
      </p:sp>
      <p:pic>
        <p:nvPicPr>
          <p:cNvPr id="77" name="Image 1" descr="/mnt/data/sba_v4_assets/cell20_out0_img.png">    </p:cNvPr>
          <p:cNvPicPr>
            <a:picLocks noChangeAspect="1"/>
          </p:cNvPicPr>
          <p:nvPr/>
        </p:nvPicPr>
        <p:blipFill>
          <a:blip r:embed="rId2"/>
          <a:stretch>
            <a:fillRect/>
          </a:stretch>
        </p:blipFill>
        <p:spPr>
          <a:xfrm>
            <a:off x="2103251" y="4306824"/>
            <a:ext cx="2057139" cy="1133856"/>
          </a:xfrm>
          <a:prstGeom prst="rect">
            <a:avLst/>
          </a:prstGeom>
        </p:spPr>
      </p:pic>
      <p:sp>
        <p:nvSpPr>
          <p:cNvPr id="78" name="Text 74"/>
          <p:cNvSpPr/>
          <p:nvPr/>
        </p:nvSpPr>
        <p:spPr>
          <a:xfrm>
            <a:off x="941832" y="5440680"/>
            <a:ext cx="4379976" cy="118872"/>
          </a:xfrm>
          <a:prstGeom prst="rect">
            <a:avLst/>
          </a:prstGeom>
          <a:noFill/>
          <a:ln/>
        </p:spPr>
        <p:txBody>
          <a:bodyPr wrap="square" lIns="254" tIns="254" rIns="254" bIns="254" rtlCol="0" anchor="t">
            <a:normAutofit/>
          </a:bodyPr>
          <a:lstStyle/>
          <a:p>
            <a:pPr algn="ctr" indent="0" marL="0">
              <a:buNone/>
            </a:pPr>
            <a:r>
              <a:rPr lang="en-US" sz="670" dirty="0">
                <a:solidFill>
                  <a:srgbClr val="333333"/>
                </a:solidFill>
                <a:latin typeface="Aptos" pitchFamily="34" charset="0"/>
                <a:ea typeface="Aptos" pitchFamily="34" charset="-122"/>
                <a:cs typeface="Aptos" pitchFamily="34" charset="-120"/>
              </a:rPr>
              <a:t>Time trend: charge-off by approval year</a:t>
            </a:r>
            <a:endParaRPr lang="en-US" sz="670" dirty="0"/>
          </a:p>
        </p:txBody>
      </p:sp>
      <p:sp>
        <p:nvSpPr>
          <p:cNvPr id="79" name="Shape 75"/>
          <p:cNvSpPr/>
          <p:nvPr/>
        </p:nvSpPr>
        <p:spPr>
          <a:xfrm>
            <a:off x="6263640" y="4233672"/>
            <a:ext cx="4526280" cy="1389888"/>
          </a:xfrm>
          <a:prstGeom prst="rect">
            <a:avLst/>
          </a:prstGeom>
          <a:solidFill>
            <a:srgbClr val="FFFFFF"/>
          </a:solidFill>
          <a:ln w="11430">
            <a:solidFill>
              <a:srgbClr val="9DFF00">
                <a:alpha val="65000"/>
              </a:srgbClr>
            </a:solidFill>
            <a:prstDash val="solid"/>
          </a:ln>
        </p:spPr>
      </p:sp>
      <p:pic>
        <p:nvPicPr>
          <p:cNvPr id="80" name="Image 2" descr="/mnt/data/sba_v4_assets/cell22_out1_img.png">    </p:cNvPr>
          <p:cNvPicPr>
            <a:picLocks noChangeAspect="1"/>
          </p:cNvPicPr>
          <p:nvPr/>
        </p:nvPicPr>
        <p:blipFill>
          <a:blip r:embed="rId3"/>
          <a:stretch>
            <a:fillRect/>
          </a:stretch>
        </p:blipFill>
        <p:spPr>
          <a:xfrm>
            <a:off x="7612753" y="4306824"/>
            <a:ext cx="1828054" cy="1133856"/>
          </a:xfrm>
          <a:prstGeom prst="rect">
            <a:avLst/>
          </a:prstGeom>
        </p:spPr>
      </p:pic>
      <p:sp>
        <p:nvSpPr>
          <p:cNvPr id="81" name="Text 76"/>
          <p:cNvSpPr/>
          <p:nvPr/>
        </p:nvSpPr>
        <p:spPr>
          <a:xfrm>
            <a:off x="6336792" y="5440680"/>
            <a:ext cx="4379976" cy="118872"/>
          </a:xfrm>
          <a:prstGeom prst="rect">
            <a:avLst/>
          </a:prstGeom>
          <a:noFill/>
          <a:ln/>
        </p:spPr>
        <p:txBody>
          <a:bodyPr wrap="square" lIns="254" tIns="254" rIns="254" bIns="254" rtlCol="0" anchor="t">
            <a:normAutofit/>
          </a:bodyPr>
          <a:lstStyle/>
          <a:p>
            <a:pPr algn="ctr" indent="0" marL="0">
              <a:buNone/>
            </a:pPr>
            <a:r>
              <a:rPr lang="en-US" sz="670" dirty="0">
                <a:solidFill>
                  <a:srgbClr val="333333"/>
                </a:solidFill>
                <a:latin typeface="Aptos" pitchFamily="34" charset="0"/>
                <a:ea typeface="Aptos" pitchFamily="34" charset="-122"/>
                <a:cs typeface="Aptos" pitchFamily="34" charset="-120"/>
              </a:rPr>
              <a:t>Numerical correlations with chargeoff_5yr</a:t>
            </a:r>
            <a:endParaRPr lang="en-US" sz="670" dirty="0"/>
          </a:p>
        </p:txBody>
      </p:sp>
      <p:sp>
        <p:nvSpPr>
          <p:cNvPr id="82" name="Text 77"/>
          <p:cNvSpPr/>
          <p:nvPr/>
        </p:nvSpPr>
        <p:spPr>
          <a:xfrm>
            <a:off x="566928" y="6473952"/>
            <a:ext cx="6217920" cy="201168"/>
          </a:xfrm>
          <a:prstGeom prst="rect">
            <a:avLst/>
          </a:prstGeom>
          <a:noFill/>
          <a:ln/>
        </p:spPr>
        <p:txBody>
          <a:bodyPr wrap="square" lIns="0" tIns="0" rIns="0" bIns="0" rtlCol="0" anchor="ctr"/>
          <a:lstStyle/>
          <a:p>
            <a:pPr indent="0" marL="0">
              <a:buNone/>
            </a:pPr>
            <a:r>
              <a:rPr lang="en-US" sz="740" dirty="0">
                <a:solidFill>
                  <a:srgbClr val="C4CDC6"/>
                </a:solidFill>
              </a:rPr>
              <a:t>DATA 400 | SBA 7(a) Credit-Risk Mini Project</a:t>
            </a:r>
            <a:endParaRPr lang="en-US" sz="740" dirty="0"/>
          </a:p>
        </p:txBody>
      </p:sp>
      <p:sp>
        <p:nvSpPr>
          <p:cNvPr id="83" name="Text 78"/>
          <p:cNvSpPr/>
          <p:nvPr/>
        </p:nvSpPr>
        <p:spPr>
          <a:xfrm>
            <a:off x="11082528" y="6455664"/>
            <a:ext cx="502920" cy="201168"/>
          </a:xfrm>
          <a:prstGeom prst="rect">
            <a:avLst/>
          </a:prstGeom>
          <a:noFill/>
          <a:ln/>
        </p:spPr>
        <p:txBody>
          <a:bodyPr wrap="square" lIns="0" tIns="0" rIns="0" bIns="0" rtlCol="0" anchor="ctr"/>
          <a:lstStyle/>
          <a:p>
            <a:pPr algn="r" indent="0" marL="0">
              <a:buNone/>
            </a:pPr>
            <a:r>
              <a:rPr lang="en-US" sz="800" b="1" dirty="0">
                <a:solidFill>
                  <a:srgbClr val="9DFF00"/>
                </a:solidFill>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0607"/>
        </a:solidFill>
      </p:bgPr>
    </p:bg>
    <p:spTree>
      <p:nvGrpSpPr>
        <p:cNvPr id="1" name=""/>
        <p:cNvGrpSpPr/>
        <p:nvPr/>
      </p:nvGrpSpPr>
      <p:grpSpPr>
        <a:xfrm>
          <a:off x="0" y="0"/>
          <a:ext cx="0" cy="0"/>
          <a:chOff x="0" y="0"/>
          <a:chExt cx="0" cy="0"/>
        </a:xfrm>
      </p:grpSpPr>
      <p:pic>
        <p:nvPicPr>
          <p:cNvPr id="2" name="Image 0" descr="/mnt/data/sample_ppt_extract/ppt/media/dark_image1.jpeg">    </p:cNvPr>
          <p:cNvPicPr>
            <a:picLocks noChangeAspect="1"/>
          </p:cNvPicPr>
          <p:nvPr/>
        </p:nvPicPr>
        <p:blipFill>
          <a:blip r:embed="rId1"/>
          <a:srcRect l="0" r="0" t="4004" b="4004"/>
          <a:stretch/>
        </p:blipFill>
        <p:spPr>
          <a:xfrm>
            <a:off x="0" y="0"/>
            <a:ext cx="12191695" cy="6858000"/>
          </a:xfrm>
          <a:prstGeom prst="rect">
            <a:avLst/>
          </a:prstGeom>
        </p:spPr>
      </p:pic>
      <p:sp>
        <p:nvSpPr>
          <p:cNvPr id="3" name="Shape 0"/>
          <p:cNvSpPr/>
          <p:nvPr/>
        </p:nvSpPr>
        <p:spPr>
          <a:xfrm>
            <a:off x="201168" y="256032"/>
            <a:ext cx="50292" cy="6263640"/>
          </a:xfrm>
          <a:prstGeom prst="rect">
            <a:avLst/>
          </a:prstGeom>
          <a:solidFill>
            <a:srgbClr val="9DFF00"/>
          </a:solidFill>
          <a:ln w="12700">
            <a:solidFill>
              <a:srgbClr val="333333">
                <a:alpha val="0"/>
              </a:srgbClr>
            </a:solidFill>
            <a:prstDash val="solid"/>
          </a:ln>
        </p:spPr>
      </p:sp>
      <p:sp>
        <p:nvSpPr>
          <p:cNvPr id="4" name="Text 1"/>
          <p:cNvSpPr/>
          <p:nvPr/>
        </p:nvSpPr>
        <p:spPr>
          <a:xfrm>
            <a:off x="566928" y="310896"/>
            <a:ext cx="4754880" cy="228600"/>
          </a:xfrm>
          <a:prstGeom prst="rect">
            <a:avLst/>
          </a:prstGeom>
          <a:noFill/>
          <a:ln/>
        </p:spPr>
        <p:txBody>
          <a:bodyPr wrap="square" lIns="0" tIns="0" rIns="0" bIns="0" rtlCol="0" anchor="ctr">
            <a:normAutofit/>
          </a:bodyPr>
          <a:lstStyle/>
          <a:p>
            <a:pPr indent="0" marL="0">
              <a:buNone/>
            </a:pPr>
            <a:r>
              <a:rPr lang="en-US" sz="850" b="1" dirty="0">
                <a:solidFill>
                  <a:srgbClr val="9DFF00"/>
                </a:solidFill>
                <a:latin typeface="Aptos" pitchFamily="34" charset="0"/>
                <a:ea typeface="Aptos" pitchFamily="34" charset="-122"/>
                <a:cs typeface="Aptos" pitchFamily="34" charset="-120"/>
              </a:rPr>
              <a:t>DATA QUALITY AND TRANSFORMATIONS</a:t>
            </a:r>
            <a:endParaRPr lang="en-US" sz="850" dirty="0"/>
          </a:p>
        </p:txBody>
      </p:sp>
      <p:sp>
        <p:nvSpPr>
          <p:cNvPr id="5" name="Text 2"/>
          <p:cNvSpPr/>
          <p:nvPr/>
        </p:nvSpPr>
        <p:spPr>
          <a:xfrm>
            <a:off x="566928" y="621792"/>
            <a:ext cx="10652760" cy="566928"/>
          </a:xfrm>
          <a:prstGeom prst="rect">
            <a:avLst/>
          </a:prstGeom>
          <a:noFill/>
          <a:ln/>
        </p:spPr>
        <p:txBody>
          <a:bodyPr wrap="square" lIns="0" tIns="0" rIns="0" bIns="0" rtlCol="0" anchor="ctr">
            <a:normAutofit/>
          </a:bodyPr>
          <a:lstStyle/>
          <a:p>
            <a:pPr indent="0" marL="0">
              <a:buNone/>
            </a:pPr>
            <a:r>
              <a:rPr lang="en-US" sz="2450" b="1" dirty="0">
                <a:solidFill>
                  <a:srgbClr val="FFFFFF"/>
                </a:solidFill>
                <a:latin typeface="Aptos Display" pitchFamily="34" charset="0"/>
                <a:ea typeface="Aptos Display" pitchFamily="34" charset="-122"/>
                <a:cs typeface="Aptos Display" pitchFamily="34" charset="-120"/>
              </a:rPr>
              <a:t>The notebook checks unusual values before modeling</a:t>
            </a:r>
            <a:endParaRPr lang="en-US" sz="2450" dirty="0"/>
          </a:p>
        </p:txBody>
      </p:sp>
      <p:sp>
        <p:nvSpPr>
          <p:cNvPr id="6" name="Shape 3"/>
          <p:cNvSpPr/>
          <p:nvPr/>
        </p:nvSpPr>
        <p:spPr>
          <a:xfrm>
            <a:off x="566928" y="1307592"/>
            <a:ext cx="10716768" cy="0"/>
          </a:xfrm>
          <a:prstGeom prst="line">
            <a:avLst/>
          </a:prstGeom>
          <a:noFill/>
          <a:ln w="13335">
            <a:solidFill>
              <a:srgbClr val="9DFF00">
                <a:alpha val="95000"/>
              </a:srgbClr>
            </a:solidFill>
            <a:prstDash val="solid"/>
          </a:ln>
        </p:spPr>
      </p:sp>
      <p:sp>
        <p:nvSpPr>
          <p:cNvPr id="7" name="Shape 4"/>
          <p:cNvSpPr/>
          <p:nvPr/>
        </p:nvSpPr>
        <p:spPr>
          <a:xfrm>
            <a:off x="749808" y="1691640"/>
            <a:ext cx="1828800" cy="374904"/>
          </a:xfrm>
          <a:prstGeom prst="rect">
            <a:avLst/>
          </a:prstGeom>
          <a:solidFill>
            <a:srgbClr val="9DFF00">
              <a:alpha val="18000"/>
            </a:srgbClr>
          </a:solidFill>
          <a:ln w="12700">
            <a:solidFill>
              <a:srgbClr val="333333">
                <a:alpha val="0"/>
              </a:srgbClr>
            </a:solidFill>
            <a:prstDash val="solid"/>
          </a:ln>
        </p:spPr>
      </p:sp>
      <p:sp>
        <p:nvSpPr>
          <p:cNvPr id="8" name="Text 5"/>
          <p:cNvSpPr/>
          <p:nvPr/>
        </p:nvSpPr>
        <p:spPr>
          <a:xfrm>
            <a:off x="790956" y="1723644"/>
            <a:ext cx="1746504" cy="310896"/>
          </a:xfrm>
          <a:prstGeom prst="rect">
            <a:avLst/>
          </a:prstGeom>
          <a:noFill/>
          <a:ln/>
        </p:spPr>
        <p:txBody>
          <a:bodyPr wrap="square" lIns="254" tIns="254" rIns="254" bIns="254" rtlCol="0" anchor="t">
            <a:normAutofit/>
          </a:bodyPr>
          <a:lstStyle/>
          <a:p>
            <a:pPr algn="l" indent="0" marL="0">
              <a:buNone/>
            </a:pPr>
            <a:r>
              <a:rPr lang="en-US" sz="810" b="1" dirty="0">
                <a:solidFill>
                  <a:srgbClr val="9DFF00"/>
                </a:solidFill>
                <a:latin typeface="Aptos" pitchFamily="34" charset="0"/>
                <a:ea typeface="Aptos" pitchFamily="34" charset="-122"/>
                <a:cs typeface="Aptos" pitchFamily="34" charset="-120"/>
              </a:rPr>
              <a:t>Variable</a:t>
            </a:r>
            <a:endParaRPr lang="en-US" sz="810" dirty="0"/>
          </a:p>
        </p:txBody>
      </p:sp>
      <p:sp>
        <p:nvSpPr>
          <p:cNvPr id="9" name="Shape 6"/>
          <p:cNvSpPr/>
          <p:nvPr/>
        </p:nvSpPr>
        <p:spPr>
          <a:xfrm>
            <a:off x="2578608" y="1691640"/>
            <a:ext cx="1371600" cy="374904"/>
          </a:xfrm>
          <a:prstGeom prst="rect">
            <a:avLst/>
          </a:prstGeom>
          <a:solidFill>
            <a:srgbClr val="9DFF00">
              <a:alpha val="18000"/>
            </a:srgbClr>
          </a:solidFill>
          <a:ln w="12700">
            <a:solidFill>
              <a:srgbClr val="333333">
                <a:alpha val="0"/>
              </a:srgbClr>
            </a:solidFill>
            <a:prstDash val="solid"/>
          </a:ln>
        </p:spPr>
      </p:sp>
      <p:sp>
        <p:nvSpPr>
          <p:cNvPr id="10" name="Text 7"/>
          <p:cNvSpPr/>
          <p:nvPr/>
        </p:nvSpPr>
        <p:spPr>
          <a:xfrm>
            <a:off x="2619756" y="1723644"/>
            <a:ext cx="1289304" cy="310896"/>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Flagged rows</a:t>
            </a:r>
            <a:endParaRPr lang="en-US" sz="810" dirty="0"/>
          </a:p>
        </p:txBody>
      </p:sp>
      <p:sp>
        <p:nvSpPr>
          <p:cNvPr id="11" name="Shape 8"/>
          <p:cNvSpPr/>
          <p:nvPr/>
        </p:nvSpPr>
        <p:spPr>
          <a:xfrm>
            <a:off x="3950208" y="1691640"/>
            <a:ext cx="2377440" cy="374904"/>
          </a:xfrm>
          <a:prstGeom prst="rect">
            <a:avLst/>
          </a:prstGeom>
          <a:solidFill>
            <a:srgbClr val="9DFF00">
              <a:alpha val="18000"/>
            </a:srgbClr>
          </a:solidFill>
          <a:ln w="12700">
            <a:solidFill>
              <a:srgbClr val="333333">
                <a:alpha val="0"/>
              </a:srgbClr>
            </a:solidFill>
            <a:prstDash val="solid"/>
          </a:ln>
        </p:spPr>
      </p:sp>
      <p:sp>
        <p:nvSpPr>
          <p:cNvPr id="12" name="Text 9"/>
          <p:cNvSpPr/>
          <p:nvPr/>
        </p:nvSpPr>
        <p:spPr>
          <a:xfrm>
            <a:off x="3991356" y="1723644"/>
            <a:ext cx="2295144" cy="310896"/>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Why it matters</a:t>
            </a:r>
            <a:endParaRPr lang="en-US" sz="810" dirty="0"/>
          </a:p>
        </p:txBody>
      </p:sp>
      <p:sp>
        <p:nvSpPr>
          <p:cNvPr id="13" name="Shape 10"/>
          <p:cNvSpPr/>
          <p:nvPr/>
        </p:nvSpPr>
        <p:spPr>
          <a:xfrm>
            <a:off x="749808" y="2066544"/>
            <a:ext cx="5577840" cy="0"/>
          </a:xfrm>
          <a:prstGeom prst="line">
            <a:avLst/>
          </a:prstGeom>
          <a:noFill/>
          <a:ln w="12700">
            <a:solidFill>
              <a:srgbClr val="9DFF00"/>
            </a:solidFill>
            <a:prstDash val="solid"/>
          </a:ln>
        </p:spPr>
      </p:sp>
      <p:sp>
        <p:nvSpPr>
          <p:cNvPr id="14" name="Text 11"/>
          <p:cNvSpPr/>
          <p:nvPr/>
        </p:nvSpPr>
        <p:spPr>
          <a:xfrm>
            <a:off x="790956" y="2098548"/>
            <a:ext cx="1746504" cy="310896"/>
          </a:xfrm>
          <a:prstGeom prst="rect">
            <a:avLst/>
          </a:prstGeom>
          <a:noFill/>
          <a:ln/>
        </p:spPr>
        <p:txBody>
          <a:bodyPr wrap="square" lIns="254" tIns="254" rIns="254" bIns="254" rtlCol="0" anchor="t">
            <a:normAutofit/>
          </a:bodyPr>
          <a:lstStyle/>
          <a:p>
            <a:pPr algn="l" indent="0" marL="0">
              <a:buNone/>
            </a:pPr>
            <a:r>
              <a:rPr lang="en-US" sz="810" dirty="0">
                <a:solidFill>
                  <a:srgbClr val="FFFFFF"/>
                </a:solidFill>
                <a:latin typeface="Aptos" pitchFamily="34" charset="0"/>
                <a:ea typeface="Aptos" pitchFamily="34" charset="-122"/>
                <a:cs typeface="Aptos" pitchFamily="34" charset="-120"/>
              </a:rPr>
              <a:t>gross_approval</a:t>
            </a:r>
            <a:endParaRPr lang="en-US" sz="810" dirty="0"/>
          </a:p>
        </p:txBody>
      </p:sp>
      <p:sp>
        <p:nvSpPr>
          <p:cNvPr id="15" name="Text 12"/>
          <p:cNvSpPr/>
          <p:nvPr/>
        </p:nvSpPr>
        <p:spPr>
          <a:xfrm>
            <a:off x="2619756" y="2098548"/>
            <a:ext cx="1289304" cy="310896"/>
          </a:xfrm>
          <a:prstGeom prst="rect">
            <a:avLst/>
          </a:prstGeom>
          <a:noFill/>
          <a:ln/>
        </p:spPr>
        <p:txBody>
          <a:bodyPr wrap="square" lIns="254" tIns="254" rIns="254" bIns="254" rtlCol="0" anchor="t">
            <a:normAutofit/>
          </a:bodyPr>
          <a:lstStyle/>
          <a:p>
            <a:pPr algn="ctr" indent="0" marL="0">
              <a:buNone/>
            </a:pPr>
            <a:r>
              <a:rPr lang="en-US" sz="810" dirty="0">
                <a:solidFill>
                  <a:srgbClr val="FFFFFF"/>
                </a:solidFill>
                <a:latin typeface="Aptos" pitchFamily="34" charset="0"/>
                <a:ea typeface="Aptos" pitchFamily="34" charset="-122"/>
                <a:cs typeface="Aptos" pitchFamily="34" charset="-120"/>
              </a:rPr>
              <a:t>48,355</a:t>
            </a:r>
            <a:endParaRPr lang="en-US" sz="810" dirty="0"/>
          </a:p>
        </p:txBody>
      </p:sp>
      <p:sp>
        <p:nvSpPr>
          <p:cNvPr id="16" name="Text 13"/>
          <p:cNvSpPr/>
          <p:nvPr/>
        </p:nvSpPr>
        <p:spPr>
          <a:xfrm>
            <a:off x="3991356" y="2098548"/>
            <a:ext cx="2295144" cy="310896"/>
          </a:xfrm>
          <a:prstGeom prst="rect">
            <a:avLst/>
          </a:prstGeom>
          <a:noFill/>
          <a:ln/>
        </p:spPr>
        <p:txBody>
          <a:bodyPr wrap="square" lIns="254" tIns="254" rIns="254" bIns="254" rtlCol="0" anchor="t">
            <a:normAutofit/>
          </a:bodyPr>
          <a:lstStyle/>
          <a:p>
            <a:pPr algn="ctr" indent="0" marL="0">
              <a:buNone/>
            </a:pPr>
            <a:r>
              <a:rPr lang="en-US" sz="810" dirty="0">
                <a:solidFill>
                  <a:srgbClr val="FFFFFF"/>
                </a:solidFill>
                <a:latin typeface="Aptos" pitchFamily="34" charset="0"/>
                <a:ea typeface="Aptos" pitchFamily="34" charset="-122"/>
                <a:cs typeface="Aptos" pitchFamily="34" charset="-120"/>
              </a:rPr>
              <a:t>Loan size is highly skewed → log transform</a:t>
            </a:r>
            <a:endParaRPr lang="en-US" sz="810" dirty="0"/>
          </a:p>
        </p:txBody>
      </p:sp>
      <p:sp>
        <p:nvSpPr>
          <p:cNvPr id="17" name="Shape 14"/>
          <p:cNvSpPr/>
          <p:nvPr/>
        </p:nvSpPr>
        <p:spPr>
          <a:xfrm>
            <a:off x="749808" y="2441448"/>
            <a:ext cx="5577840" cy="0"/>
          </a:xfrm>
          <a:prstGeom prst="line">
            <a:avLst/>
          </a:prstGeom>
          <a:noFill/>
          <a:ln w="6350">
            <a:solidFill>
              <a:srgbClr val="2D342F">
                <a:alpha val="75000"/>
              </a:srgbClr>
            </a:solidFill>
            <a:prstDash val="solid"/>
          </a:ln>
        </p:spPr>
      </p:sp>
      <p:sp>
        <p:nvSpPr>
          <p:cNvPr id="18" name="Text 15"/>
          <p:cNvSpPr/>
          <p:nvPr/>
        </p:nvSpPr>
        <p:spPr>
          <a:xfrm>
            <a:off x="790956" y="2473452"/>
            <a:ext cx="1746504" cy="310896"/>
          </a:xfrm>
          <a:prstGeom prst="rect">
            <a:avLst/>
          </a:prstGeom>
          <a:noFill/>
          <a:ln/>
        </p:spPr>
        <p:txBody>
          <a:bodyPr wrap="square" lIns="254" tIns="254" rIns="254" bIns="254" rtlCol="0" anchor="t">
            <a:normAutofit/>
          </a:bodyPr>
          <a:lstStyle/>
          <a:p>
            <a:pPr algn="l" indent="0" marL="0">
              <a:buNone/>
            </a:pPr>
            <a:r>
              <a:rPr lang="en-US" sz="810" dirty="0">
                <a:solidFill>
                  <a:srgbClr val="FFFFFF"/>
                </a:solidFill>
                <a:latin typeface="Aptos" pitchFamily="34" charset="0"/>
                <a:ea typeface="Aptos" pitchFamily="34" charset="-122"/>
                <a:cs typeface="Aptos" pitchFamily="34" charset="-120"/>
              </a:rPr>
              <a:t>term_months</a:t>
            </a:r>
            <a:endParaRPr lang="en-US" sz="810" dirty="0"/>
          </a:p>
        </p:txBody>
      </p:sp>
      <p:sp>
        <p:nvSpPr>
          <p:cNvPr id="19" name="Text 16"/>
          <p:cNvSpPr/>
          <p:nvPr/>
        </p:nvSpPr>
        <p:spPr>
          <a:xfrm>
            <a:off x="2619756" y="2473452"/>
            <a:ext cx="1289304" cy="310896"/>
          </a:xfrm>
          <a:prstGeom prst="rect">
            <a:avLst/>
          </a:prstGeom>
          <a:noFill/>
          <a:ln/>
        </p:spPr>
        <p:txBody>
          <a:bodyPr wrap="square" lIns="254" tIns="254" rIns="254" bIns="254" rtlCol="0" anchor="t">
            <a:normAutofit/>
          </a:bodyPr>
          <a:lstStyle/>
          <a:p>
            <a:pPr algn="ctr" indent="0" marL="0">
              <a:buNone/>
            </a:pPr>
            <a:r>
              <a:rPr lang="en-US" sz="810" dirty="0">
                <a:solidFill>
                  <a:srgbClr val="FFFFFF"/>
                </a:solidFill>
                <a:latin typeface="Aptos" pitchFamily="34" charset="0"/>
                <a:ea typeface="Aptos" pitchFamily="34" charset="-122"/>
                <a:cs typeface="Aptos" pitchFamily="34" charset="-120"/>
              </a:rPr>
              <a:t>90,235</a:t>
            </a:r>
            <a:endParaRPr lang="en-US" sz="810" dirty="0"/>
          </a:p>
        </p:txBody>
      </p:sp>
      <p:sp>
        <p:nvSpPr>
          <p:cNvPr id="20" name="Text 17"/>
          <p:cNvSpPr/>
          <p:nvPr/>
        </p:nvSpPr>
        <p:spPr>
          <a:xfrm>
            <a:off x="3991356" y="2473452"/>
            <a:ext cx="2295144" cy="310896"/>
          </a:xfrm>
          <a:prstGeom prst="rect">
            <a:avLst/>
          </a:prstGeom>
          <a:noFill/>
          <a:ln/>
        </p:spPr>
        <p:txBody>
          <a:bodyPr wrap="square" lIns="254" tIns="254" rIns="254" bIns="254" rtlCol="0" anchor="t">
            <a:normAutofit/>
          </a:bodyPr>
          <a:lstStyle/>
          <a:p>
            <a:pPr algn="ctr" indent="0" marL="0">
              <a:buNone/>
            </a:pPr>
            <a:r>
              <a:rPr lang="en-US" sz="810" dirty="0">
                <a:solidFill>
                  <a:srgbClr val="FFFFFF"/>
                </a:solidFill>
                <a:latin typeface="Aptos" pitchFamily="34" charset="0"/>
                <a:ea typeface="Aptos" pitchFamily="34" charset="-122"/>
                <a:cs typeface="Aptos" pitchFamily="34" charset="-120"/>
              </a:rPr>
              <a:t>Long/short terms are real but influential</a:t>
            </a:r>
            <a:endParaRPr lang="en-US" sz="810" dirty="0"/>
          </a:p>
        </p:txBody>
      </p:sp>
      <p:sp>
        <p:nvSpPr>
          <p:cNvPr id="21" name="Shape 18"/>
          <p:cNvSpPr/>
          <p:nvPr/>
        </p:nvSpPr>
        <p:spPr>
          <a:xfrm>
            <a:off x="749808" y="2816352"/>
            <a:ext cx="5577840" cy="0"/>
          </a:xfrm>
          <a:prstGeom prst="line">
            <a:avLst/>
          </a:prstGeom>
          <a:noFill/>
          <a:ln w="6350">
            <a:solidFill>
              <a:srgbClr val="2D342F">
                <a:alpha val="75000"/>
              </a:srgbClr>
            </a:solidFill>
            <a:prstDash val="solid"/>
          </a:ln>
        </p:spPr>
      </p:sp>
      <p:sp>
        <p:nvSpPr>
          <p:cNvPr id="22" name="Text 19"/>
          <p:cNvSpPr/>
          <p:nvPr/>
        </p:nvSpPr>
        <p:spPr>
          <a:xfrm>
            <a:off x="790956" y="2848356"/>
            <a:ext cx="1746504" cy="310896"/>
          </a:xfrm>
          <a:prstGeom prst="rect">
            <a:avLst/>
          </a:prstGeom>
          <a:noFill/>
          <a:ln/>
        </p:spPr>
        <p:txBody>
          <a:bodyPr wrap="square" lIns="254" tIns="254" rIns="254" bIns="254" rtlCol="0" anchor="t">
            <a:normAutofit/>
          </a:bodyPr>
          <a:lstStyle/>
          <a:p>
            <a:pPr algn="l" indent="0" marL="0">
              <a:buNone/>
            </a:pPr>
            <a:r>
              <a:rPr lang="en-US" sz="810" dirty="0">
                <a:solidFill>
                  <a:srgbClr val="FFFFFF"/>
                </a:solidFill>
                <a:latin typeface="Aptos" pitchFamily="34" charset="0"/>
                <a:ea typeface="Aptos" pitchFamily="34" charset="-122"/>
                <a:cs typeface="Aptos" pitchFamily="34" charset="-120"/>
              </a:rPr>
              <a:t>initial_interest_rate</a:t>
            </a:r>
            <a:endParaRPr lang="en-US" sz="810" dirty="0"/>
          </a:p>
        </p:txBody>
      </p:sp>
      <p:sp>
        <p:nvSpPr>
          <p:cNvPr id="23" name="Text 20"/>
          <p:cNvSpPr/>
          <p:nvPr/>
        </p:nvSpPr>
        <p:spPr>
          <a:xfrm>
            <a:off x="2619756" y="2848356"/>
            <a:ext cx="1289304" cy="310896"/>
          </a:xfrm>
          <a:prstGeom prst="rect">
            <a:avLst/>
          </a:prstGeom>
          <a:noFill/>
          <a:ln/>
        </p:spPr>
        <p:txBody>
          <a:bodyPr wrap="square" lIns="254" tIns="254" rIns="254" bIns="254" rtlCol="0" anchor="t">
            <a:normAutofit/>
          </a:bodyPr>
          <a:lstStyle/>
          <a:p>
            <a:pPr algn="ctr" indent="0" marL="0">
              <a:buNone/>
            </a:pPr>
            <a:r>
              <a:rPr lang="en-US" sz="810" dirty="0">
                <a:solidFill>
                  <a:srgbClr val="FFFFFF"/>
                </a:solidFill>
                <a:latin typeface="Aptos" pitchFamily="34" charset="0"/>
                <a:ea typeface="Aptos" pitchFamily="34" charset="-122"/>
                <a:cs typeface="Aptos" pitchFamily="34" charset="-120"/>
              </a:rPr>
              <a:t>23,988</a:t>
            </a:r>
            <a:endParaRPr lang="en-US" sz="810" dirty="0"/>
          </a:p>
        </p:txBody>
      </p:sp>
      <p:sp>
        <p:nvSpPr>
          <p:cNvPr id="24" name="Text 21"/>
          <p:cNvSpPr/>
          <p:nvPr/>
        </p:nvSpPr>
        <p:spPr>
          <a:xfrm>
            <a:off x="3991356" y="2848356"/>
            <a:ext cx="2295144" cy="310896"/>
          </a:xfrm>
          <a:prstGeom prst="rect">
            <a:avLst/>
          </a:prstGeom>
          <a:noFill/>
          <a:ln/>
        </p:spPr>
        <p:txBody>
          <a:bodyPr wrap="square" lIns="254" tIns="254" rIns="254" bIns="254" rtlCol="0" anchor="t">
            <a:normAutofit/>
          </a:bodyPr>
          <a:lstStyle/>
          <a:p>
            <a:pPr algn="ctr" indent="0" marL="0">
              <a:buNone/>
            </a:pPr>
            <a:r>
              <a:rPr lang="en-US" sz="810" dirty="0">
                <a:solidFill>
                  <a:srgbClr val="FFFFFF"/>
                </a:solidFill>
                <a:latin typeface="Aptos" pitchFamily="34" charset="0"/>
                <a:ea typeface="Aptos" pitchFamily="34" charset="-122"/>
                <a:cs typeface="Aptos" pitchFamily="34" charset="-120"/>
              </a:rPr>
              <a:t>High rates may identify riskier loans</a:t>
            </a:r>
            <a:endParaRPr lang="en-US" sz="810" dirty="0"/>
          </a:p>
        </p:txBody>
      </p:sp>
      <p:sp>
        <p:nvSpPr>
          <p:cNvPr id="25" name="Shape 22"/>
          <p:cNvSpPr/>
          <p:nvPr/>
        </p:nvSpPr>
        <p:spPr>
          <a:xfrm>
            <a:off x="749808" y="3191256"/>
            <a:ext cx="5577840" cy="0"/>
          </a:xfrm>
          <a:prstGeom prst="line">
            <a:avLst/>
          </a:prstGeom>
          <a:noFill/>
          <a:ln w="6350">
            <a:solidFill>
              <a:srgbClr val="2D342F">
                <a:alpha val="75000"/>
              </a:srgbClr>
            </a:solidFill>
            <a:prstDash val="solid"/>
          </a:ln>
        </p:spPr>
      </p:sp>
      <p:sp>
        <p:nvSpPr>
          <p:cNvPr id="26" name="Text 23"/>
          <p:cNvSpPr/>
          <p:nvPr/>
        </p:nvSpPr>
        <p:spPr>
          <a:xfrm>
            <a:off x="790956" y="3223260"/>
            <a:ext cx="1746504" cy="310896"/>
          </a:xfrm>
          <a:prstGeom prst="rect">
            <a:avLst/>
          </a:prstGeom>
          <a:noFill/>
          <a:ln/>
        </p:spPr>
        <p:txBody>
          <a:bodyPr wrap="square" lIns="254" tIns="254" rIns="254" bIns="254" rtlCol="0" anchor="t">
            <a:normAutofit/>
          </a:bodyPr>
          <a:lstStyle/>
          <a:p>
            <a:pPr algn="l" indent="0" marL="0">
              <a:buNone/>
            </a:pPr>
            <a:r>
              <a:rPr lang="en-US" sz="810" dirty="0">
                <a:solidFill>
                  <a:srgbClr val="FFFFFF"/>
                </a:solidFill>
                <a:latin typeface="Aptos" pitchFamily="34" charset="0"/>
                <a:ea typeface="Aptos" pitchFamily="34" charset="-122"/>
                <a:cs typeface="Aptos" pitchFamily="34" charset="-120"/>
              </a:rPr>
              <a:t>jobs_supported</a:t>
            </a:r>
            <a:endParaRPr lang="en-US" sz="810" dirty="0"/>
          </a:p>
        </p:txBody>
      </p:sp>
      <p:sp>
        <p:nvSpPr>
          <p:cNvPr id="27" name="Text 24"/>
          <p:cNvSpPr/>
          <p:nvPr/>
        </p:nvSpPr>
        <p:spPr>
          <a:xfrm>
            <a:off x="2619756" y="3223260"/>
            <a:ext cx="1289304" cy="310896"/>
          </a:xfrm>
          <a:prstGeom prst="rect">
            <a:avLst/>
          </a:prstGeom>
          <a:noFill/>
          <a:ln/>
        </p:spPr>
        <p:txBody>
          <a:bodyPr wrap="square" lIns="254" tIns="254" rIns="254" bIns="254" rtlCol="0" anchor="t">
            <a:normAutofit/>
          </a:bodyPr>
          <a:lstStyle/>
          <a:p>
            <a:pPr algn="ctr" indent="0" marL="0">
              <a:buNone/>
            </a:pPr>
            <a:r>
              <a:rPr lang="en-US" sz="810" dirty="0">
                <a:solidFill>
                  <a:srgbClr val="FFFFFF"/>
                </a:solidFill>
                <a:latin typeface="Aptos" pitchFamily="34" charset="0"/>
                <a:ea typeface="Aptos" pitchFamily="34" charset="-122"/>
                <a:cs typeface="Aptos" pitchFamily="34" charset="-120"/>
              </a:rPr>
              <a:t>36,709</a:t>
            </a:r>
            <a:endParaRPr lang="en-US" sz="810" dirty="0"/>
          </a:p>
        </p:txBody>
      </p:sp>
      <p:sp>
        <p:nvSpPr>
          <p:cNvPr id="28" name="Text 25"/>
          <p:cNvSpPr/>
          <p:nvPr/>
        </p:nvSpPr>
        <p:spPr>
          <a:xfrm>
            <a:off x="3991356" y="3223260"/>
            <a:ext cx="2295144" cy="310896"/>
          </a:xfrm>
          <a:prstGeom prst="rect">
            <a:avLst/>
          </a:prstGeom>
          <a:noFill/>
          <a:ln/>
        </p:spPr>
        <p:txBody>
          <a:bodyPr wrap="square" lIns="254" tIns="254" rIns="254" bIns="254" rtlCol="0" anchor="t">
            <a:normAutofit/>
          </a:bodyPr>
          <a:lstStyle/>
          <a:p>
            <a:pPr algn="ctr" indent="0" marL="0">
              <a:buNone/>
            </a:pPr>
            <a:r>
              <a:rPr lang="en-US" sz="810" dirty="0">
                <a:solidFill>
                  <a:srgbClr val="FFFFFF"/>
                </a:solidFill>
                <a:latin typeface="Aptos" pitchFamily="34" charset="0"/>
                <a:ea typeface="Aptos" pitchFamily="34" charset="-122"/>
                <a:cs typeface="Aptos" pitchFamily="34" charset="-120"/>
              </a:rPr>
              <a:t>Heavy tail; keep but impute/scale</a:t>
            </a:r>
            <a:endParaRPr lang="en-US" sz="810" dirty="0"/>
          </a:p>
        </p:txBody>
      </p:sp>
      <p:sp>
        <p:nvSpPr>
          <p:cNvPr id="29" name="Shape 26"/>
          <p:cNvSpPr/>
          <p:nvPr/>
        </p:nvSpPr>
        <p:spPr>
          <a:xfrm>
            <a:off x="749808" y="3566160"/>
            <a:ext cx="5577840" cy="0"/>
          </a:xfrm>
          <a:prstGeom prst="line">
            <a:avLst/>
          </a:prstGeom>
          <a:noFill/>
          <a:ln w="6350">
            <a:solidFill>
              <a:srgbClr val="2D342F">
                <a:alpha val="75000"/>
              </a:srgbClr>
            </a:solidFill>
            <a:prstDash val="solid"/>
          </a:ln>
        </p:spPr>
      </p:sp>
      <p:sp>
        <p:nvSpPr>
          <p:cNvPr id="30" name="Shape 27"/>
          <p:cNvSpPr/>
          <p:nvPr/>
        </p:nvSpPr>
        <p:spPr>
          <a:xfrm>
            <a:off x="6629400" y="1691640"/>
            <a:ext cx="3158836" cy="320040"/>
          </a:xfrm>
          <a:prstGeom prst="rect">
            <a:avLst/>
          </a:prstGeom>
          <a:solidFill>
            <a:srgbClr val="9DFF00">
              <a:alpha val="18000"/>
            </a:srgbClr>
          </a:solidFill>
          <a:ln w="12700">
            <a:solidFill>
              <a:srgbClr val="333333">
                <a:alpha val="0"/>
              </a:srgbClr>
            </a:solidFill>
            <a:prstDash val="solid"/>
          </a:ln>
        </p:spPr>
      </p:sp>
      <p:sp>
        <p:nvSpPr>
          <p:cNvPr id="31" name="Text 28"/>
          <p:cNvSpPr/>
          <p:nvPr/>
        </p:nvSpPr>
        <p:spPr>
          <a:xfrm>
            <a:off x="6670548" y="1723644"/>
            <a:ext cx="3076540" cy="256032"/>
          </a:xfrm>
          <a:prstGeom prst="rect">
            <a:avLst/>
          </a:prstGeom>
          <a:noFill/>
          <a:ln/>
        </p:spPr>
        <p:txBody>
          <a:bodyPr wrap="square" lIns="254" tIns="254" rIns="254" bIns="254" rtlCol="0" anchor="t">
            <a:normAutofit/>
          </a:bodyPr>
          <a:lstStyle/>
          <a:p>
            <a:pPr algn="l" indent="0" marL="0">
              <a:buNone/>
            </a:pPr>
            <a:r>
              <a:rPr lang="en-US" sz="810" b="1" dirty="0">
                <a:solidFill>
                  <a:srgbClr val="9DFF00"/>
                </a:solidFill>
                <a:latin typeface="Aptos" pitchFamily="34" charset="0"/>
                <a:ea typeface="Aptos" pitchFamily="34" charset="-122"/>
                <a:cs typeface="Aptos" pitchFamily="34" charset="-120"/>
              </a:rPr>
              <a:t>Quality check</a:t>
            </a:r>
            <a:endParaRPr lang="en-US" sz="810" dirty="0"/>
          </a:p>
        </p:txBody>
      </p:sp>
      <p:sp>
        <p:nvSpPr>
          <p:cNvPr id="32" name="Shape 29"/>
          <p:cNvSpPr/>
          <p:nvPr/>
        </p:nvSpPr>
        <p:spPr>
          <a:xfrm>
            <a:off x="9788236" y="1691640"/>
            <a:ext cx="1184564" cy="320040"/>
          </a:xfrm>
          <a:prstGeom prst="rect">
            <a:avLst/>
          </a:prstGeom>
          <a:solidFill>
            <a:srgbClr val="9DFF00">
              <a:alpha val="18000"/>
            </a:srgbClr>
          </a:solidFill>
          <a:ln w="12700">
            <a:solidFill>
              <a:srgbClr val="333333">
                <a:alpha val="0"/>
              </a:srgbClr>
            </a:solidFill>
            <a:prstDash val="solid"/>
          </a:ln>
        </p:spPr>
      </p:sp>
      <p:sp>
        <p:nvSpPr>
          <p:cNvPr id="33" name="Text 30"/>
          <p:cNvSpPr/>
          <p:nvPr/>
        </p:nvSpPr>
        <p:spPr>
          <a:xfrm>
            <a:off x="9829384" y="1723644"/>
            <a:ext cx="1102268" cy="256032"/>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Rows</a:t>
            </a:r>
            <a:endParaRPr lang="en-US" sz="810" dirty="0"/>
          </a:p>
        </p:txBody>
      </p:sp>
      <p:sp>
        <p:nvSpPr>
          <p:cNvPr id="34" name="Shape 31"/>
          <p:cNvSpPr/>
          <p:nvPr/>
        </p:nvSpPr>
        <p:spPr>
          <a:xfrm>
            <a:off x="6629400" y="2011680"/>
            <a:ext cx="4343400" cy="0"/>
          </a:xfrm>
          <a:prstGeom prst="line">
            <a:avLst/>
          </a:prstGeom>
          <a:noFill/>
          <a:ln w="12700">
            <a:solidFill>
              <a:srgbClr val="9DFF00"/>
            </a:solidFill>
            <a:prstDash val="solid"/>
          </a:ln>
        </p:spPr>
      </p:sp>
      <p:sp>
        <p:nvSpPr>
          <p:cNvPr id="35" name="Text 32"/>
          <p:cNvSpPr/>
          <p:nvPr/>
        </p:nvSpPr>
        <p:spPr>
          <a:xfrm>
            <a:off x="6670548" y="2043684"/>
            <a:ext cx="3076540" cy="256032"/>
          </a:xfrm>
          <a:prstGeom prst="rect">
            <a:avLst/>
          </a:prstGeom>
          <a:noFill/>
          <a:ln/>
        </p:spPr>
        <p:txBody>
          <a:bodyPr wrap="square" lIns="254" tIns="254" rIns="254" bIns="254" rtlCol="0" anchor="t">
            <a:normAutofit/>
          </a:bodyPr>
          <a:lstStyle/>
          <a:p>
            <a:pPr algn="l" indent="0" marL="0">
              <a:buNone/>
            </a:pPr>
            <a:r>
              <a:rPr lang="en-US" sz="830" dirty="0">
                <a:solidFill>
                  <a:srgbClr val="FFFFFF"/>
                </a:solidFill>
                <a:latin typeface="Aptos" pitchFamily="34" charset="0"/>
                <a:ea typeface="Aptos" pitchFamily="34" charset="-122"/>
                <a:cs typeface="Aptos" pitchFamily="34" charset="-120"/>
              </a:rPr>
              <a:t>gross_approval &lt;= 0</a:t>
            </a:r>
            <a:endParaRPr lang="en-US" sz="830" dirty="0"/>
          </a:p>
        </p:txBody>
      </p:sp>
      <p:sp>
        <p:nvSpPr>
          <p:cNvPr id="36" name="Text 33"/>
          <p:cNvSpPr/>
          <p:nvPr/>
        </p:nvSpPr>
        <p:spPr>
          <a:xfrm>
            <a:off x="9829384" y="2043684"/>
            <a:ext cx="1102268" cy="256032"/>
          </a:xfrm>
          <a:prstGeom prst="rect">
            <a:avLst/>
          </a:prstGeom>
          <a:noFill/>
          <a:ln/>
        </p:spPr>
        <p:txBody>
          <a:bodyPr wrap="square" lIns="254" tIns="254" rIns="254" bIns="254" rtlCol="0" anchor="t">
            <a:normAutofit/>
          </a:bodyPr>
          <a:lstStyle/>
          <a:p>
            <a:pPr algn="ctr" indent="0" marL="0">
              <a:buNone/>
            </a:pPr>
            <a:r>
              <a:rPr lang="en-US" sz="830" dirty="0">
                <a:solidFill>
                  <a:srgbClr val="FFFFFF"/>
                </a:solidFill>
                <a:latin typeface="Aptos" pitchFamily="34" charset="0"/>
                <a:ea typeface="Aptos" pitchFamily="34" charset="-122"/>
                <a:cs typeface="Aptos" pitchFamily="34" charset="-120"/>
              </a:rPr>
              <a:t>0</a:t>
            </a:r>
            <a:endParaRPr lang="en-US" sz="830" dirty="0"/>
          </a:p>
        </p:txBody>
      </p:sp>
      <p:sp>
        <p:nvSpPr>
          <p:cNvPr id="37" name="Shape 34"/>
          <p:cNvSpPr/>
          <p:nvPr/>
        </p:nvSpPr>
        <p:spPr>
          <a:xfrm>
            <a:off x="6629400" y="2331720"/>
            <a:ext cx="4343400" cy="0"/>
          </a:xfrm>
          <a:prstGeom prst="line">
            <a:avLst/>
          </a:prstGeom>
          <a:noFill/>
          <a:ln w="6350">
            <a:solidFill>
              <a:srgbClr val="2D342F">
                <a:alpha val="75000"/>
              </a:srgbClr>
            </a:solidFill>
            <a:prstDash val="solid"/>
          </a:ln>
        </p:spPr>
      </p:sp>
      <p:sp>
        <p:nvSpPr>
          <p:cNvPr id="38" name="Text 35"/>
          <p:cNvSpPr/>
          <p:nvPr/>
        </p:nvSpPr>
        <p:spPr>
          <a:xfrm>
            <a:off x="6670548" y="2363724"/>
            <a:ext cx="3076540" cy="256032"/>
          </a:xfrm>
          <a:prstGeom prst="rect">
            <a:avLst/>
          </a:prstGeom>
          <a:noFill/>
          <a:ln/>
        </p:spPr>
        <p:txBody>
          <a:bodyPr wrap="square" lIns="254" tIns="254" rIns="254" bIns="254" rtlCol="0" anchor="t">
            <a:normAutofit/>
          </a:bodyPr>
          <a:lstStyle/>
          <a:p>
            <a:pPr algn="l" indent="0" marL="0">
              <a:buNone/>
            </a:pPr>
            <a:r>
              <a:rPr lang="en-US" sz="830" dirty="0">
                <a:solidFill>
                  <a:srgbClr val="FFFFFF"/>
                </a:solidFill>
                <a:latin typeface="Aptos" pitchFamily="34" charset="0"/>
                <a:ea typeface="Aptos" pitchFamily="34" charset="-122"/>
                <a:cs typeface="Aptos" pitchFamily="34" charset="-120"/>
              </a:rPr>
              <a:t>term_months &lt;= 0</a:t>
            </a:r>
            <a:endParaRPr lang="en-US" sz="830" dirty="0"/>
          </a:p>
        </p:txBody>
      </p:sp>
      <p:sp>
        <p:nvSpPr>
          <p:cNvPr id="39" name="Text 36"/>
          <p:cNvSpPr/>
          <p:nvPr/>
        </p:nvSpPr>
        <p:spPr>
          <a:xfrm>
            <a:off x="9829384" y="2363724"/>
            <a:ext cx="1102268" cy="256032"/>
          </a:xfrm>
          <a:prstGeom prst="rect">
            <a:avLst/>
          </a:prstGeom>
          <a:noFill/>
          <a:ln/>
        </p:spPr>
        <p:txBody>
          <a:bodyPr wrap="square" lIns="254" tIns="254" rIns="254" bIns="254" rtlCol="0" anchor="t">
            <a:normAutofit/>
          </a:bodyPr>
          <a:lstStyle/>
          <a:p>
            <a:pPr algn="ctr" indent="0" marL="0">
              <a:buNone/>
            </a:pPr>
            <a:r>
              <a:rPr lang="en-US" sz="830" dirty="0">
                <a:solidFill>
                  <a:srgbClr val="FFFFFF"/>
                </a:solidFill>
                <a:latin typeface="Aptos" pitchFamily="34" charset="0"/>
                <a:ea typeface="Aptos" pitchFamily="34" charset="-122"/>
                <a:cs typeface="Aptos" pitchFamily="34" charset="-120"/>
              </a:rPr>
              <a:t>208</a:t>
            </a:r>
            <a:endParaRPr lang="en-US" sz="830" dirty="0"/>
          </a:p>
        </p:txBody>
      </p:sp>
      <p:sp>
        <p:nvSpPr>
          <p:cNvPr id="40" name="Shape 37"/>
          <p:cNvSpPr/>
          <p:nvPr/>
        </p:nvSpPr>
        <p:spPr>
          <a:xfrm>
            <a:off x="6629400" y="2651760"/>
            <a:ext cx="4343400" cy="0"/>
          </a:xfrm>
          <a:prstGeom prst="line">
            <a:avLst/>
          </a:prstGeom>
          <a:noFill/>
          <a:ln w="6350">
            <a:solidFill>
              <a:srgbClr val="2D342F">
                <a:alpha val="75000"/>
              </a:srgbClr>
            </a:solidFill>
            <a:prstDash val="solid"/>
          </a:ln>
        </p:spPr>
      </p:sp>
      <p:sp>
        <p:nvSpPr>
          <p:cNvPr id="41" name="Text 38"/>
          <p:cNvSpPr/>
          <p:nvPr/>
        </p:nvSpPr>
        <p:spPr>
          <a:xfrm>
            <a:off x="6670548" y="2683764"/>
            <a:ext cx="3076540" cy="256032"/>
          </a:xfrm>
          <a:prstGeom prst="rect">
            <a:avLst/>
          </a:prstGeom>
          <a:noFill/>
          <a:ln/>
        </p:spPr>
        <p:txBody>
          <a:bodyPr wrap="square" lIns="254" tIns="254" rIns="254" bIns="254" rtlCol="0" anchor="t">
            <a:normAutofit/>
          </a:bodyPr>
          <a:lstStyle/>
          <a:p>
            <a:pPr algn="l" indent="0" marL="0">
              <a:buNone/>
            </a:pPr>
            <a:r>
              <a:rPr lang="en-US" sz="830" dirty="0">
                <a:solidFill>
                  <a:srgbClr val="FFFFFF"/>
                </a:solidFill>
                <a:latin typeface="Aptos" pitchFamily="34" charset="0"/>
                <a:ea typeface="Aptos" pitchFamily="34" charset="-122"/>
                <a:cs typeface="Aptos" pitchFamily="34" charset="-120"/>
              </a:rPr>
              <a:t>interest_rate &lt; 0</a:t>
            </a:r>
            <a:endParaRPr lang="en-US" sz="830" dirty="0"/>
          </a:p>
        </p:txBody>
      </p:sp>
      <p:sp>
        <p:nvSpPr>
          <p:cNvPr id="42" name="Text 39"/>
          <p:cNvSpPr/>
          <p:nvPr/>
        </p:nvSpPr>
        <p:spPr>
          <a:xfrm>
            <a:off x="9829384" y="2683764"/>
            <a:ext cx="1102268" cy="256032"/>
          </a:xfrm>
          <a:prstGeom prst="rect">
            <a:avLst/>
          </a:prstGeom>
          <a:noFill/>
          <a:ln/>
        </p:spPr>
        <p:txBody>
          <a:bodyPr wrap="square" lIns="254" tIns="254" rIns="254" bIns="254" rtlCol="0" anchor="t">
            <a:normAutofit/>
          </a:bodyPr>
          <a:lstStyle/>
          <a:p>
            <a:pPr algn="ctr" indent="0" marL="0">
              <a:buNone/>
            </a:pPr>
            <a:r>
              <a:rPr lang="en-US" sz="830" dirty="0">
                <a:solidFill>
                  <a:srgbClr val="FFFFFF"/>
                </a:solidFill>
                <a:latin typeface="Aptos" pitchFamily="34" charset="0"/>
                <a:ea typeface="Aptos" pitchFamily="34" charset="-122"/>
                <a:cs typeface="Aptos" pitchFamily="34" charset="-120"/>
              </a:rPr>
              <a:t>0</a:t>
            </a:r>
            <a:endParaRPr lang="en-US" sz="830" dirty="0"/>
          </a:p>
        </p:txBody>
      </p:sp>
      <p:sp>
        <p:nvSpPr>
          <p:cNvPr id="43" name="Shape 40"/>
          <p:cNvSpPr/>
          <p:nvPr/>
        </p:nvSpPr>
        <p:spPr>
          <a:xfrm>
            <a:off x="6629400" y="2971800"/>
            <a:ext cx="4343400" cy="0"/>
          </a:xfrm>
          <a:prstGeom prst="line">
            <a:avLst/>
          </a:prstGeom>
          <a:noFill/>
          <a:ln w="6350">
            <a:solidFill>
              <a:srgbClr val="2D342F">
                <a:alpha val="75000"/>
              </a:srgbClr>
            </a:solidFill>
            <a:prstDash val="solid"/>
          </a:ln>
        </p:spPr>
      </p:sp>
      <p:sp>
        <p:nvSpPr>
          <p:cNvPr id="44" name="Text 41"/>
          <p:cNvSpPr/>
          <p:nvPr/>
        </p:nvSpPr>
        <p:spPr>
          <a:xfrm>
            <a:off x="6670548" y="3003804"/>
            <a:ext cx="3076540" cy="256032"/>
          </a:xfrm>
          <a:prstGeom prst="rect">
            <a:avLst/>
          </a:prstGeom>
          <a:noFill/>
          <a:ln/>
        </p:spPr>
        <p:txBody>
          <a:bodyPr wrap="square" lIns="254" tIns="254" rIns="254" bIns="254" rtlCol="0" anchor="t">
            <a:normAutofit/>
          </a:bodyPr>
          <a:lstStyle/>
          <a:p>
            <a:pPr algn="l" indent="0" marL="0">
              <a:buNone/>
            </a:pPr>
            <a:r>
              <a:rPr lang="en-US" sz="830" dirty="0">
                <a:solidFill>
                  <a:srgbClr val="FFFFFF"/>
                </a:solidFill>
                <a:latin typeface="Aptos" pitchFamily="34" charset="0"/>
                <a:ea typeface="Aptos" pitchFamily="34" charset="-122"/>
                <a:cs typeface="Aptos" pitchFamily="34" charset="-120"/>
              </a:rPr>
              <a:t>guarantee_pct &gt; 1.05</a:t>
            </a:r>
            <a:endParaRPr lang="en-US" sz="830" dirty="0"/>
          </a:p>
        </p:txBody>
      </p:sp>
      <p:sp>
        <p:nvSpPr>
          <p:cNvPr id="45" name="Text 42"/>
          <p:cNvSpPr/>
          <p:nvPr/>
        </p:nvSpPr>
        <p:spPr>
          <a:xfrm>
            <a:off x="9829384" y="3003804"/>
            <a:ext cx="1102268" cy="256032"/>
          </a:xfrm>
          <a:prstGeom prst="rect">
            <a:avLst/>
          </a:prstGeom>
          <a:noFill/>
          <a:ln/>
        </p:spPr>
        <p:txBody>
          <a:bodyPr wrap="square" lIns="254" tIns="254" rIns="254" bIns="254" rtlCol="0" anchor="t">
            <a:normAutofit/>
          </a:bodyPr>
          <a:lstStyle/>
          <a:p>
            <a:pPr algn="ctr" indent="0" marL="0">
              <a:buNone/>
            </a:pPr>
            <a:r>
              <a:rPr lang="en-US" sz="830" dirty="0">
                <a:solidFill>
                  <a:srgbClr val="FFFFFF"/>
                </a:solidFill>
                <a:latin typeface="Aptos" pitchFamily="34" charset="0"/>
                <a:ea typeface="Aptos" pitchFamily="34" charset="-122"/>
                <a:cs typeface="Aptos" pitchFamily="34" charset="-120"/>
              </a:rPr>
              <a:t>0</a:t>
            </a:r>
            <a:endParaRPr lang="en-US" sz="830" dirty="0"/>
          </a:p>
        </p:txBody>
      </p:sp>
      <p:sp>
        <p:nvSpPr>
          <p:cNvPr id="46" name="Shape 43"/>
          <p:cNvSpPr/>
          <p:nvPr/>
        </p:nvSpPr>
        <p:spPr>
          <a:xfrm>
            <a:off x="6629400" y="3291840"/>
            <a:ext cx="4343400" cy="0"/>
          </a:xfrm>
          <a:prstGeom prst="line">
            <a:avLst/>
          </a:prstGeom>
          <a:noFill/>
          <a:ln w="6350">
            <a:solidFill>
              <a:srgbClr val="2D342F">
                <a:alpha val="75000"/>
              </a:srgbClr>
            </a:solidFill>
            <a:prstDash val="solid"/>
          </a:ln>
        </p:spPr>
      </p:sp>
      <p:sp>
        <p:nvSpPr>
          <p:cNvPr id="47" name="Shape 44"/>
          <p:cNvSpPr/>
          <p:nvPr/>
        </p:nvSpPr>
        <p:spPr>
          <a:xfrm>
            <a:off x="868680" y="4160520"/>
            <a:ext cx="10149840" cy="1005840"/>
          </a:xfrm>
          <a:prstGeom prst="roundRect">
            <a:avLst>
              <a:gd name="adj" fmla="val 7273"/>
            </a:avLst>
          </a:prstGeom>
          <a:solidFill>
            <a:srgbClr val="000000">
              <a:alpha val="82000"/>
            </a:srgbClr>
          </a:solidFill>
          <a:ln w="12700">
            <a:solidFill>
              <a:srgbClr val="9DFF00">
                <a:alpha val="34000"/>
              </a:srgbClr>
            </a:solidFill>
            <a:prstDash val="solid"/>
          </a:ln>
        </p:spPr>
      </p:sp>
      <p:sp>
        <p:nvSpPr>
          <p:cNvPr id="48" name="Text 45"/>
          <p:cNvSpPr/>
          <p:nvPr/>
        </p:nvSpPr>
        <p:spPr>
          <a:xfrm>
            <a:off x="1143000" y="4370832"/>
            <a:ext cx="201168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Modeling decision</a:t>
            </a:r>
            <a:endParaRPr lang="en-US" sz="1360" dirty="0"/>
          </a:p>
        </p:txBody>
      </p:sp>
      <p:sp>
        <p:nvSpPr>
          <p:cNvPr id="49" name="Text 46"/>
          <p:cNvSpPr/>
          <p:nvPr/>
        </p:nvSpPr>
        <p:spPr>
          <a:xfrm>
            <a:off x="1143000" y="4718304"/>
            <a:ext cx="9464040" cy="347472"/>
          </a:xfrm>
          <a:prstGeom prst="rect">
            <a:avLst/>
          </a:prstGeom>
          <a:noFill/>
          <a:ln/>
        </p:spPr>
        <p:txBody>
          <a:bodyPr wrap="square" lIns="254" tIns="254" rIns="254" bIns="254" rtlCol="0" anchor="t">
            <a:normAutofit/>
          </a:bodyPr>
          <a:lstStyle/>
          <a:p>
            <a:pPr algn="l" indent="0" marL="0">
              <a:buNone/>
            </a:pPr>
            <a:r>
              <a:rPr lang="en-US" sz="1150" dirty="0">
                <a:solidFill>
                  <a:srgbClr val="FFFFFF"/>
                </a:solidFill>
                <a:latin typeface="Aptos" pitchFamily="34" charset="0"/>
                <a:ea typeface="Aptos" pitchFamily="34" charset="-122"/>
                <a:cs typeface="Aptos" pitchFamily="34" charset="-120"/>
              </a:rPr>
              <a:t>Unlike a simple IQR-cleaning exercise, I did not automatically delete large SBA loans. A $3M loan can be unusual and still real. Instead, I used transformations, imputation, scaling, and model controls.</a:t>
            </a:r>
            <a:endParaRPr lang="en-US" sz="1150" dirty="0"/>
          </a:p>
        </p:txBody>
      </p:sp>
      <p:sp>
        <p:nvSpPr>
          <p:cNvPr id="50" name="Text 47"/>
          <p:cNvSpPr/>
          <p:nvPr/>
        </p:nvSpPr>
        <p:spPr>
          <a:xfrm>
            <a:off x="566928" y="6473952"/>
            <a:ext cx="6217920" cy="201168"/>
          </a:xfrm>
          <a:prstGeom prst="rect">
            <a:avLst/>
          </a:prstGeom>
          <a:noFill/>
          <a:ln/>
        </p:spPr>
        <p:txBody>
          <a:bodyPr wrap="square" lIns="0" tIns="0" rIns="0" bIns="0" rtlCol="0" anchor="ctr"/>
          <a:lstStyle/>
          <a:p>
            <a:pPr indent="0" marL="0">
              <a:buNone/>
            </a:pPr>
            <a:r>
              <a:rPr lang="en-US" sz="740" dirty="0">
                <a:solidFill>
                  <a:srgbClr val="C4CDC6"/>
                </a:solidFill>
              </a:rPr>
              <a:t>DATA 400 | SBA 7(a) Credit-Risk Mini Project</a:t>
            </a:r>
            <a:endParaRPr lang="en-US" sz="740" dirty="0"/>
          </a:p>
        </p:txBody>
      </p:sp>
      <p:sp>
        <p:nvSpPr>
          <p:cNvPr id="51" name="Text 48"/>
          <p:cNvSpPr/>
          <p:nvPr/>
        </p:nvSpPr>
        <p:spPr>
          <a:xfrm>
            <a:off x="11082528" y="6455664"/>
            <a:ext cx="502920" cy="201168"/>
          </a:xfrm>
          <a:prstGeom prst="rect">
            <a:avLst/>
          </a:prstGeom>
          <a:noFill/>
          <a:ln/>
        </p:spPr>
        <p:txBody>
          <a:bodyPr wrap="square" lIns="0" tIns="0" rIns="0" bIns="0" rtlCol="0" anchor="ctr"/>
          <a:lstStyle/>
          <a:p>
            <a:pPr algn="r" indent="0" marL="0">
              <a:buNone/>
            </a:pPr>
            <a:r>
              <a:rPr lang="en-US" sz="800" b="1" dirty="0">
                <a:solidFill>
                  <a:srgbClr val="9DFF00"/>
                </a:solidFill>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0607"/>
        </a:solidFill>
      </p:bgPr>
    </p:bg>
    <p:spTree>
      <p:nvGrpSpPr>
        <p:cNvPr id="1" name=""/>
        <p:cNvGrpSpPr/>
        <p:nvPr/>
      </p:nvGrpSpPr>
      <p:grpSpPr>
        <a:xfrm>
          <a:off x="0" y="0"/>
          <a:ext cx="0" cy="0"/>
          <a:chOff x="0" y="0"/>
          <a:chExt cx="0" cy="0"/>
        </a:xfrm>
      </p:grpSpPr>
      <p:pic>
        <p:nvPicPr>
          <p:cNvPr id="2" name="Image 0" descr="/mnt/data/sample_ppt_extract/ppt/media/dark_image5.jpeg">    </p:cNvPr>
          <p:cNvPicPr>
            <a:picLocks noChangeAspect="1"/>
          </p:cNvPicPr>
          <p:nvPr/>
        </p:nvPicPr>
        <p:blipFill>
          <a:blip r:embed="rId1"/>
          <a:srcRect l="0" r="0" t="7811" b="7811"/>
          <a:stretch/>
        </p:blipFill>
        <p:spPr>
          <a:xfrm>
            <a:off x="0" y="0"/>
            <a:ext cx="12191695" cy="6858000"/>
          </a:xfrm>
          <a:prstGeom prst="rect">
            <a:avLst/>
          </a:prstGeom>
        </p:spPr>
      </p:pic>
      <p:sp>
        <p:nvSpPr>
          <p:cNvPr id="3" name="Shape 0"/>
          <p:cNvSpPr/>
          <p:nvPr/>
        </p:nvSpPr>
        <p:spPr>
          <a:xfrm>
            <a:off x="201168" y="256032"/>
            <a:ext cx="50292" cy="6263640"/>
          </a:xfrm>
          <a:prstGeom prst="rect">
            <a:avLst/>
          </a:prstGeom>
          <a:solidFill>
            <a:srgbClr val="9DFF00"/>
          </a:solidFill>
          <a:ln w="12700">
            <a:solidFill>
              <a:srgbClr val="333333">
                <a:alpha val="0"/>
              </a:srgbClr>
            </a:solidFill>
            <a:prstDash val="solid"/>
          </a:ln>
        </p:spPr>
      </p:sp>
      <p:sp>
        <p:nvSpPr>
          <p:cNvPr id="4" name="Text 1"/>
          <p:cNvSpPr/>
          <p:nvPr/>
        </p:nvSpPr>
        <p:spPr>
          <a:xfrm>
            <a:off x="566928" y="310896"/>
            <a:ext cx="4754880" cy="228600"/>
          </a:xfrm>
          <a:prstGeom prst="rect">
            <a:avLst/>
          </a:prstGeom>
          <a:noFill/>
          <a:ln/>
        </p:spPr>
        <p:txBody>
          <a:bodyPr wrap="square" lIns="0" tIns="0" rIns="0" bIns="0" rtlCol="0" anchor="ctr">
            <a:normAutofit/>
          </a:bodyPr>
          <a:lstStyle/>
          <a:p>
            <a:pPr indent="0" marL="0">
              <a:buNone/>
            </a:pPr>
            <a:r>
              <a:rPr lang="en-US" sz="850" b="1" dirty="0">
                <a:solidFill>
                  <a:srgbClr val="9DFF00"/>
                </a:solidFill>
                <a:latin typeface="Aptos" pitchFamily="34" charset="0"/>
                <a:ea typeface="Aptos" pitchFamily="34" charset="-122"/>
                <a:cs typeface="Aptos" pitchFamily="34" charset="-120"/>
              </a:rPr>
              <a:t>FEATURE SET</a:t>
            </a:r>
            <a:endParaRPr lang="en-US" sz="850" dirty="0"/>
          </a:p>
        </p:txBody>
      </p:sp>
      <p:sp>
        <p:nvSpPr>
          <p:cNvPr id="5" name="Text 2"/>
          <p:cNvSpPr/>
          <p:nvPr/>
        </p:nvSpPr>
        <p:spPr>
          <a:xfrm>
            <a:off x="566928" y="621792"/>
            <a:ext cx="10652760" cy="566928"/>
          </a:xfrm>
          <a:prstGeom prst="rect">
            <a:avLst/>
          </a:prstGeom>
          <a:noFill/>
          <a:ln/>
        </p:spPr>
        <p:txBody>
          <a:bodyPr wrap="square" lIns="0" tIns="0" rIns="0" bIns="0" rtlCol="0" anchor="ctr">
            <a:normAutofit/>
          </a:bodyPr>
          <a:lstStyle/>
          <a:p>
            <a:pPr indent="0" marL="0">
              <a:buNone/>
            </a:pPr>
            <a:r>
              <a:rPr lang="en-US" sz="2450" b="1" dirty="0">
                <a:solidFill>
                  <a:srgbClr val="FFFFFF"/>
                </a:solidFill>
                <a:latin typeface="Aptos Display" pitchFamily="34" charset="0"/>
                <a:ea typeface="Aptos Display" pitchFamily="34" charset="-122"/>
                <a:cs typeface="Aptos Display" pitchFamily="34" charset="-120"/>
              </a:rPr>
              <a:t>Use approval-time fields and exclude leakage fields</a:t>
            </a:r>
            <a:endParaRPr lang="en-US" sz="2450" dirty="0"/>
          </a:p>
        </p:txBody>
      </p:sp>
      <p:sp>
        <p:nvSpPr>
          <p:cNvPr id="6" name="Shape 3"/>
          <p:cNvSpPr/>
          <p:nvPr/>
        </p:nvSpPr>
        <p:spPr>
          <a:xfrm>
            <a:off x="566928" y="1307592"/>
            <a:ext cx="10716768" cy="0"/>
          </a:xfrm>
          <a:prstGeom prst="line">
            <a:avLst/>
          </a:prstGeom>
          <a:noFill/>
          <a:ln w="13335">
            <a:solidFill>
              <a:srgbClr val="9DFF00">
                <a:alpha val="95000"/>
              </a:srgbClr>
            </a:solidFill>
            <a:prstDash val="solid"/>
          </a:ln>
        </p:spPr>
      </p:sp>
      <p:sp>
        <p:nvSpPr>
          <p:cNvPr id="7" name="Shape 4"/>
          <p:cNvSpPr/>
          <p:nvPr/>
        </p:nvSpPr>
        <p:spPr>
          <a:xfrm>
            <a:off x="713232" y="1691640"/>
            <a:ext cx="3429000" cy="2743200"/>
          </a:xfrm>
          <a:prstGeom prst="roundRect">
            <a:avLst>
              <a:gd name="adj" fmla="val 2667"/>
            </a:avLst>
          </a:prstGeom>
          <a:solidFill>
            <a:srgbClr val="000000">
              <a:alpha val="82000"/>
            </a:srgbClr>
          </a:solidFill>
          <a:ln w="12700">
            <a:solidFill>
              <a:srgbClr val="9DFF00">
                <a:alpha val="34000"/>
              </a:srgbClr>
            </a:solidFill>
            <a:prstDash val="solid"/>
          </a:ln>
        </p:spPr>
      </p:sp>
      <p:sp>
        <p:nvSpPr>
          <p:cNvPr id="8" name="Text 5"/>
          <p:cNvSpPr/>
          <p:nvPr/>
        </p:nvSpPr>
        <p:spPr>
          <a:xfrm>
            <a:off x="932688" y="1901952"/>
            <a:ext cx="201168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Numerical features</a:t>
            </a:r>
            <a:endParaRPr lang="en-US" sz="1360" dirty="0"/>
          </a:p>
        </p:txBody>
      </p:sp>
      <p:sp>
        <p:nvSpPr>
          <p:cNvPr id="9" name="Text 6"/>
          <p:cNvSpPr/>
          <p:nvPr/>
        </p:nvSpPr>
        <p:spPr>
          <a:xfrm>
            <a:off x="1042416" y="2267712"/>
            <a:ext cx="2560320" cy="1280160"/>
          </a:xfrm>
          <a:prstGeom prst="rect">
            <a:avLst/>
          </a:prstGeom>
          <a:noFill/>
          <a:ln/>
        </p:spPr>
        <p:txBody>
          <a:bodyPr wrap="square" lIns="254" tIns="254" rIns="254" bIns="254" rtlCol="0" anchor="ctr">
            <a:normAutofit/>
          </a:bodyPr>
          <a:lstStyle/>
          <a:p>
            <a:r>
              <a:rPr lang="en-US" sz="940" dirty="0">
                <a:solidFill>
                  <a:srgbClr val="FFFFFF"/>
                </a:solidFill>
                <a:latin typeface="Aptos" pitchFamily="34" charset="0"/>
                <a:ea typeface="Aptos" pitchFamily="34" charset="-122"/>
                <a:cs typeface="Aptos" pitchFamily="34" charset="-120"/>
              </a:rPr>
              <a:t>log_gross_approval</a:t>
            </a:r>
            <a:endParaRPr lang="en-US" sz="940" dirty="0"/>
          </a:p>
          <a:p>
            <a:r>
              <a:rPr lang="en-US" sz="940" dirty="0">
                <a:solidFill>
                  <a:srgbClr val="FFFFFF"/>
                </a:solidFill>
                <a:latin typeface="Aptos" pitchFamily="34" charset="0"/>
                <a:ea typeface="Aptos" pitchFamily="34" charset="-122"/>
                <a:cs typeface="Aptos" pitchFamily="34" charset="-120"/>
              </a:rPr>
              <a:t>guarantee_pct</a:t>
            </a:r>
            <a:endParaRPr lang="en-US" sz="940" dirty="0"/>
          </a:p>
          <a:p>
            <a:r>
              <a:rPr lang="en-US" sz="940" dirty="0">
                <a:solidFill>
                  <a:srgbClr val="FFFFFF"/>
                </a:solidFill>
                <a:latin typeface="Aptos" pitchFamily="34" charset="0"/>
                <a:ea typeface="Aptos" pitchFamily="34" charset="-122"/>
                <a:cs typeface="Aptos" pitchFamily="34" charset="-120"/>
              </a:rPr>
              <a:t>term_months</a:t>
            </a:r>
            <a:endParaRPr lang="en-US" sz="940" dirty="0"/>
          </a:p>
          <a:p>
            <a:r>
              <a:rPr lang="en-US" sz="940" dirty="0">
                <a:solidFill>
                  <a:srgbClr val="FFFFFF"/>
                </a:solidFill>
                <a:latin typeface="Aptos" pitchFamily="34" charset="0"/>
                <a:ea typeface="Aptos" pitchFamily="34" charset="-122"/>
                <a:cs typeface="Aptos" pitchFamily="34" charset="-120"/>
              </a:rPr>
              <a:t>initial_interest_rate</a:t>
            </a:r>
            <a:endParaRPr lang="en-US" sz="940" dirty="0"/>
          </a:p>
          <a:p>
            <a:r>
              <a:rPr lang="en-US" sz="940" dirty="0">
                <a:solidFill>
                  <a:srgbClr val="FFFFFF"/>
                </a:solidFill>
                <a:latin typeface="Aptos" pitchFamily="34" charset="0"/>
                <a:ea typeface="Aptos" pitchFamily="34" charset="-122"/>
                <a:cs typeface="Aptos" pitchFamily="34" charset="-120"/>
              </a:rPr>
              <a:t>jobs_supported</a:t>
            </a:r>
            <a:endParaRPr lang="en-US" sz="940" dirty="0"/>
          </a:p>
          <a:p>
            <a:r>
              <a:rPr lang="en-US" sz="940" dirty="0">
                <a:solidFill>
                  <a:srgbClr val="FFFFFF"/>
                </a:solidFill>
                <a:latin typeface="Aptos" pitchFamily="34" charset="0"/>
                <a:ea typeface="Aptos" pitchFamily="34" charset="-122"/>
                <a:cs typeface="Aptos" pitchFamily="34" charset="-120"/>
              </a:rPr>
              <a:t>approval_year</a:t>
            </a:r>
            <a:endParaRPr lang="en-US" sz="940" dirty="0"/>
          </a:p>
        </p:txBody>
      </p:sp>
      <p:sp>
        <p:nvSpPr>
          <p:cNvPr id="10" name="Shape 7"/>
          <p:cNvSpPr/>
          <p:nvPr/>
        </p:nvSpPr>
        <p:spPr>
          <a:xfrm>
            <a:off x="4370832" y="1691640"/>
            <a:ext cx="3611880" cy="2743200"/>
          </a:xfrm>
          <a:prstGeom prst="roundRect">
            <a:avLst>
              <a:gd name="adj" fmla="val 2667"/>
            </a:avLst>
          </a:prstGeom>
          <a:solidFill>
            <a:srgbClr val="000000">
              <a:alpha val="82000"/>
            </a:srgbClr>
          </a:solidFill>
          <a:ln w="12700">
            <a:solidFill>
              <a:srgbClr val="9DFF00">
                <a:alpha val="34000"/>
              </a:srgbClr>
            </a:solidFill>
            <a:prstDash val="solid"/>
          </a:ln>
        </p:spPr>
      </p:sp>
      <p:sp>
        <p:nvSpPr>
          <p:cNvPr id="11" name="Text 8"/>
          <p:cNvSpPr/>
          <p:nvPr/>
        </p:nvSpPr>
        <p:spPr>
          <a:xfrm>
            <a:off x="4590288" y="1901952"/>
            <a:ext cx="219456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Categorical features</a:t>
            </a:r>
            <a:endParaRPr lang="en-US" sz="1360" dirty="0"/>
          </a:p>
        </p:txBody>
      </p:sp>
      <p:sp>
        <p:nvSpPr>
          <p:cNvPr id="12" name="Text 9"/>
          <p:cNvSpPr/>
          <p:nvPr/>
        </p:nvSpPr>
        <p:spPr>
          <a:xfrm>
            <a:off x="4700016" y="2267712"/>
            <a:ext cx="2743200" cy="1325880"/>
          </a:xfrm>
          <a:prstGeom prst="rect">
            <a:avLst/>
          </a:prstGeom>
          <a:noFill/>
          <a:ln/>
        </p:spPr>
        <p:txBody>
          <a:bodyPr wrap="square" lIns="254" tIns="254" rIns="254" bIns="254" rtlCol="0" anchor="ctr">
            <a:normAutofit/>
          </a:bodyPr>
          <a:lstStyle/>
          <a:p>
            <a:r>
              <a:rPr lang="en-US" sz="900" dirty="0">
                <a:solidFill>
                  <a:srgbClr val="FFFFFF"/>
                </a:solidFill>
                <a:latin typeface="Aptos" pitchFamily="34" charset="0"/>
                <a:ea typeface="Aptos" pitchFamily="34" charset="-122"/>
                <a:cs typeface="Aptos" pitchFamily="34" charset="-120"/>
              </a:rPr>
              <a:t>project_state</a:t>
            </a:r>
            <a:endParaRPr lang="en-US" sz="900" dirty="0"/>
          </a:p>
          <a:p>
            <a:r>
              <a:rPr lang="en-US" sz="900" dirty="0">
                <a:solidFill>
                  <a:srgbClr val="FFFFFF"/>
                </a:solidFill>
                <a:latin typeface="Aptos" pitchFamily="34" charset="0"/>
                <a:ea typeface="Aptos" pitchFamily="34" charset="-122"/>
                <a:cs typeface="Aptos" pitchFamily="34" charset="-120"/>
              </a:rPr>
              <a:t>business type + business age</a:t>
            </a:r>
            <a:endParaRPr lang="en-US" sz="900" dirty="0"/>
          </a:p>
          <a:p>
            <a:r>
              <a:rPr lang="en-US" sz="900" dirty="0">
                <a:solidFill>
                  <a:srgbClr val="FFFFFF"/>
                </a:solidFill>
                <a:latin typeface="Aptos" pitchFamily="34" charset="0"/>
                <a:ea typeface="Aptos" pitchFamily="34" charset="-122"/>
                <a:cs typeface="Aptos" pitchFamily="34" charset="-120"/>
              </a:rPr>
              <a:t>processing method</a:t>
            </a:r>
            <a:endParaRPr lang="en-US" sz="900" dirty="0"/>
          </a:p>
          <a:p>
            <a:r>
              <a:rPr lang="en-US" sz="900" dirty="0">
                <a:solidFill>
                  <a:srgbClr val="FFFFFF"/>
                </a:solidFill>
                <a:latin typeface="Aptos" pitchFamily="34" charset="0"/>
                <a:ea typeface="Aptos" pitchFamily="34" charset="-122"/>
                <a:cs typeface="Aptos" pitchFamily="34" charset="-120"/>
              </a:rPr>
              <a:t>fixed / variable rate</a:t>
            </a:r>
            <a:endParaRPr lang="en-US" sz="900" dirty="0"/>
          </a:p>
          <a:p>
            <a:r>
              <a:rPr lang="en-US" sz="900" dirty="0">
                <a:solidFill>
                  <a:srgbClr val="FFFFFF"/>
                </a:solidFill>
                <a:latin typeface="Aptos" pitchFamily="34" charset="0"/>
                <a:ea typeface="Aptos" pitchFamily="34" charset="-122"/>
                <a:cs typeface="Aptos" pitchFamily="34" charset="-120"/>
              </a:rPr>
              <a:t>revolver + collateral indicators</a:t>
            </a:r>
            <a:endParaRPr lang="en-US" sz="900" dirty="0"/>
          </a:p>
          <a:p>
            <a:r>
              <a:rPr lang="en-US" sz="900" dirty="0">
                <a:solidFill>
                  <a:srgbClr val="FFFFFF"/>
                </a:solidFill>
                <a:latin typeface="Aptos" pitchFamily="34" charset="0"/>
                <a:ea typeface="Aptos" pitchFamily="34" charset="-122"/>
                <a:cs typeface="Aptos" pitchFamily="34" charset="-120"/>
              </a:rPr>
              <a:t>NAICS2 + franchise flag</a:t>
            </a:r>
            <a:endParaRPr lang="en-US" sz="900" dirty="0"/>
          </a:p>
        </p:txBody>
      </p:sp>
      <p:sp>
        <p:nvSpPr>
          <p:cNvPr id="13" name="Shape 10"/>
          <p:cNvSpPr/>
          <p:nvPr/>
        </p:nvSpPr>
        <p:spPr>
          <a:xfrm>
            <a:off x="8211312" y="1691640"/>
            <a:ext cx="3063240" cy="2743200"/>
          </a:xfrm>
          <a:prstGeom prst="roundRect">
            <a:avLst>
              <a:gd name="adj" fmla="val 2667"/>
            </a:avLst>
          </a:prstGeom>
          <a:solidFill>
            <a:srgbClr val="000000">
              <a:alpha val="82000"/>
            </a:srgbClr>
          </a:solidFill>
          <a:ln w="12700">
            <a:solidFill>
              <a:srgbClr val="9DFF00">
                <a:alpha val="34000"/>
              </a:srgbClr>
            </a:solidFill>
            <a:prstDash val="solid"/>
          </a:ln>
        </p:spPr>
      </p:sp>
      <p:sp>
        <p:nvSpPr>
          <p:cNvPr id="14" name="Text 11"/>
          <p:cNvSpPr/>
          <p:nvPr/>
        </p:nvSpPr>
        <p:spPr>
          <a:xfrm>
            <a:off x="8430768" y="1901952"/>
            <a:ext cx="182880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Excluded fields</a:t>
            </a:r>
            <a:endParaRPr lang="en-US" sz="1360" dirty="0"/>
          </a:p>
        </p:txBody>
      </p:sp>
      <p:sp>
        <p:nvSpPr>
          <p:cNvPr id="15" name="Text 12"/>
          <p:cNvSpPr/>
          <p:nvPr/>
        </p:nvSpPr>
        <p:spPr>
          <a:xfrm>
            <a:off x="8540496" y="2267712"/>
            <a:ext cx="2103120" cy="1051560"/>
          </a:xfrm>
          <a:prstGeom prst="rect">
            <a:avLst/>
          </a:prstGeom>
          <a:noFill/>
          <a:ln/>
        </p:spPr>
        <p:txBody>
          <a:bodyPr wrap="square" lIns="254" tIns="254" rIns="254" bIns="254" rtlCol="0" anchor="ctr">
            <a:normAutofit/>
          </a:bodyPr>
          <a:lstStyle/>
          <a:p>
            <a:r>
              <a:rPr lang="en-US" sz="910" dirty="0">
                <a:solidFill>
                  <a:srgbClr val="FFFFFF"/>
                </a:solidFill>
                <a:latin typeface="Aptos" pitchFamily="34" charset="0"/>
                <a:ea typeface="Aptos" pitchFamily="34" charset="-122"/>
                <a:cs typeface="Aptos" pitchFamily="34" charset="-120"/>
              </a:rPr>
              <a:t>loan_status</a:t>
            </a:r>
            <a:endParaRPr lang="en-US" sz="910" dirty="0"/>
          </a:p>
          <a:p>
            <a:r>
              <a:rPr lang="en-US" sz="910" dirty="0">
                <a:solidFill>
                  <a:srgbClr val="FFFFFF"/>
                </a:solidFill>
                <a:latin typeface="Aptos" pitchFamily="34" charset="0"/>
                <a:ea typeface="Aptos" pitchFamily="34" charset="-122"/>
                <a:cs typeface="Aptos" pitchFamily="34" charset="-120"/>
              </a:rPr>
              <a:t>chargeoff_date</a:t>
            </a:r>
            <a:endParaRPr lang="en-US" sz="910" dirty="0"/>
          </a:p>
          <a:p>
            <a:r>
              <a:rPr lang="en-US" sz="910" dirty="0">
                <a:solidFill>
                  <a:srgbClr val="FFFFFF"/>
                </a:solidFill>
                <a:latin typeface="Aptos" pitchFamily="34" charset="0"/>
                <a:ea typeface="Aptos" pitchFamily="34" charset="-122"/>
                <a:cs typeface="Aptos" pitchFamily="34" charset="-120"/>
              </a:rPr>
              <a:t>gross_chargeoff_amount</a:t>
            </a:r>
            <a:endParaRPr lang="en-US" sz="910" dirty="0"/>
          </a:p>
          <a:p>
            <a:r>
              <a:rPr lang="en-US" sz="910" dirty="0">
                <a:solidFill>
                  <a:srgbClr val="FFFFFF"/>
                </a:solidFill>
                <a:latin typeface="Aptos" pitchFamily="34" charset="0"/>
                <a:ea typeface="Aptos" pitchFamily="34" charset="-122"/>
                <a:cs typeface="Aptos" pitchFamily="34" charset="-120"/>
              </a:rPr>
              <a:t>paid_in_full_date</a:t>
            </a:r>
            <a:endParaRPr lang="en-US" sz="910" dirty="0"/>
          </a:p>
          <a:p>
            <a:r>
              <a:rPr lang="en-US" sz="910" dirty="0">
                <a:solidFill>
                  <a:srgbClr val="FFFFFF"/>
                </a:solidFill>
                <a:latin typeface="Aptos" pitchFamily="34" charset="0"/>
                <a:ea typeface="Aptos" pitchFamily="34" charset="-122"/>
                <a:cs typeface="Aptos" pitchFamily="34" charset="-120"/>
              </a:rPr>
              <a:t>borrower name/address</a:t>
            </a:r>
            <a:endParaRPr lang="en-US" sz="910" dirty="0"/>
          </a:p>
        </p:txBody>
      </p:sp>
      <p:sp>
        <p:nvSpPr>
          <p:cNvPr id="16" name="Shape 13"/>
          <p:cNvSpPr/>
          <p:nvPr/>
        </p:nvSpPr>
        <p:spPr>
          <a:xfrm>
            <a:off x="960120" y="4828032"/>
            <a:ext cx="2880360" cy="197510"/>
          </a:xfrm>
          <a:prstGeom prst="rect">
            <a:avLst/>
          </a:prstGeom>
          <a:solidFill>
            <a:srgbClr val="9DFF00">
              <a:alpha val="18000"/>
            </a:srgbClr>
          </a:solidFill>
          <a:ln w="12700">
            <a:solidFill>
              <a:srgbClr val="333333">
                <a:alpha val="0"/>
              </a:srgbClr>
            </a:solidFill>
            <a:prstDash val="solid"/>
          </a:ln>
        </p:spPr>
      </p:sp>
      <p:sp>
        <p:nvSpPr>
          <p:cNvPr id="17" name="Text 14"/>
          <p:cNvSpPr/>
          <p:nvPr/>
        </p:nvSpPr>
        <p:spPr>
          <a:xfrm>
            <a:off x="1001268" y="4860036"/>
            <a:ext cx="2798064" cy="133502"/>
          </a:xfrm>
          <a:prstGeom prst="rect">
            <a:avLst/>
          </a:prstGeom>
          <a:noFill/>
          <a:ln/>
        </p:spPr>
        <p:txBody>
          <a:bodyPr wrap="square" lIns="254" tIns="254" rIns="254" bIns="254" rtlCol="0" anchor="t">
            <a:normAutofit/>
          </a:bodyPr>
          <a:lstStyle/>
          <a:p>
            <a:pPr algn="l" indent="0" marL="0">
              <a:buNone/>
            </a:pPr>
            <a:r>
              <a:rPr lang="en-US" sz="810" b="1" dirty="0">
                <a:solidFill>
                  <a:srgbClr val="9DFF00"/>
                </a:solidFill>
                <a:latin typeface="Aptos" pitchFamily="34" charset="0"/>
                <a:ea typeface="Aptos" pitchFamily="34" charset="-122"/>
                <a:cs typeface="Aptos" pitchFamily="34" charset="-120"/>
              </a:rPr>
              <a:t>Preprocessing step</a:t>
            </a:r>
            <a:endParaRPr lang="en-US" sz="810" dirty="0"/>
          </a:p>
        </p:txBody>
      </p:sp>
      <p:sp>
        <p:nvSpPr>
          <p:cNvPr id="18" name="Shape 15"/>
          <p:cNvSpPr/>
          <p:nvPr/>
        </p:nvSpPr>
        <p:spPr>
          <a:xfrm>
            <a:off x="3840480" y="4828032"/>
            <a:ext cx="7132320" cy="197510"/>
          </a:xfrm>
          <a:prstGeom prst="rect">
            <a:avLst/>
          </a:prstGeom>
          <a:solidFill>
            <a:srgbClr val="9DFF00">
              <a:alpha val="18000"/>
            </a:srgbClr>
          </a:solidFill>
          <a:ln w="12700">
            <a:solidFill>
              <a:srgbClr val="333333">
                <a:alpha val="0"/>
              </a:srgbClr>
            </a:solidFill>
            <a:prstDash val="solid"/>
          </a:ln>
        </p:spPr>
      </p:sp>
      <p:sp>
        <p:nvSpPr>
          <p:cNvPr id="19" name="Text 16"/>
          <p:cNvSpPr/>
          <p:nvPr/>
        </p:nvSpPr>
        <p:spPr>
          <a:xfrm>
            <a:off x="3881628" y="4860036"/>
            <a:ext cx="7050024" cy="133502"/>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Rule</a:t>
            </a:r>
            <a:endParaRPr lang="en-US" sz="810" dirty="0"/>
          </a:p>
        </p:txBody>
      </p:sp>
      <p:sp>
        <p:nvSpPr>
          <p:cNvPr id="20" name="Shape 17"/>
          <p:cNvSpPr/>
          <p:nvPr/>
        </p:nvSpPr>
        <p:spPr>
          <a:xfrm>
            <a:off x="960120" y="5025542"/>
            <a:ext cx="10012680" cy="0"/>
          </a:xfrm>
          <a:prstGeom prst="line">
            <a:avLst/>
          </a:prstGeom>
          <a:noFill/>
          <a:ln w="12700">
            <a:solidFill>
              <a:srgbClr val="9DFF00"/>
            </a:solidFill>
            <a:prstDash val="solid"/>
          </a:ln>
        </p:spPr>
      </p:sp>
      <p:sp>
        <p:nvSpPr>
          <p:cNvPr id="21" name="Text 18"/>
          <p:cNvSpPr/>
          <p:nvPr/>
        </p:nvSpPr>
        <p:spPr>
          <a:xfrm>
            <a:off x="1001268" y="5057546"/>
            <a:ext cx="2798064" cy="133502"/>
          </a:xfrm>
          <a:prstGeom prst="rect">
            <a:avLst/>
          </a:prstGeom>
          <a:noFill/>
          <a:ln/>
        </p:spPr>
        <p:txBody>
          <a:bodyPr wrap="square" lIns="254" tIns="254" rIns="254" bIns="254" rtlCol="0" anchor="t">
            <a:normAutofit/>
          </a:bodyPr>
          <a:lstStyle/>
          <a:p>
            <a:pPr algn="l" indent="0" marL="0">
              <a:buNone/>
            </a:pPr>
            <a:r>
              <a:rPr lang="en-US" sz="810" dirty="0">
                <a:solidFill>
                  <a:srgbClr val="FFFFFF"/>
                </a:solidFill>
                <a:latin typeface="Aptos" pitchFamily="34" charset="0"/>
                <a:ea typeface="Aptos" pitchFamily="34" charset="-122"/>
                <a:cs typeface="Aptos" pitchFamily="34" charset="-120"/>
              </a:rPr>
              <a:t>Numeric missing values</a:t>
            </a:r>
            <a:endParaRPr lang="en-US" sz="810" dirty="0"/>
          </a:p>
        </p:txBody>
      </p:sp>
      <p:sp>
        <p:nvSpPr>
          <p:cNvPr id="22" name="Text 19"/>
          <p:cNvSpPr/>
          <p:nvPr/>
        </p:nvSpPr>
        <p:spPr>
          <a:xfrm>
            <a:off x="3881628" y="5057546"/>
            <a:ext cx="7050024" cy="133502"/>
          </a:xfrm>
          <a:prstGeom prst="rect">
            <a:avLst/>
          </a:prstGeom>
          <a:noFill/>
          <a:ln/>
        </p:spPr>
        <p:txBody>
          <a:bodyPr wrap="square" lIns="254" tIns="254" rIns="254" bIns="254" rtlCol="0" anchor="t">
            <a:normAutofit/>
          </a:bodyPr>
          <a:lstStyle/>
          <a:p>
            <a:pPr algn="ctr" indent="0" marL="0">
              <a:buNone/>
            </a:pPr>
            <a:r>
              <a:rPr lang="en-US" sz="810" dirty="0">
                <a:solidFill>
                  <a:srgbClr val="FFFFFF"/>
                </a:solidFill>
                <a:latin typeface="Aptos" pitchFamily="34" charset="0"/>
                <a:ea typeface="Aptos" pitchFamily="34" charset="-122"/>
                <a:cs typeface="Aptos" pitchFamily="34" charset="-120"/>
              </a:rPr>
              <a:t>Median imputation + scaling</a:t>
            </a:r>
            <a:endParaRPr lang="en-US" sz="810" dirty="0"/>
          </a:p>
        </p:txBody>
      </p:sp>
      <p:sp>
        <p:nvSpPr>
          <p:cNvPr id="23" name="Shape 20"/>
          <p:cNvSpPr/>
          <p:nvPr/>
        </p:nvSpPr>
        <p:spPr>
          <a:xfrm>
            <a:off x="960120" y="5223053"/>
            <a:ext cx="10012680" cy="0"/>
          </a:xfrm>
          <a:prstGeom prst="line">
            <a:avLst/>
          </a:prstGeom>
          <a:noFill/>
          <a:ln w="6350">
            <a:solidFill>
              <a:srgbClr val="2D342F">
                <a:alpha val="75000"/>
              </a:srgbClr>
            </a:solidFill>
            <a:prstDash val="solid"/>
          </a:ln>
        </p:spPr>
      </p:sp>
      <p:sp>
        <p:nvSpPr>
          <p:cNvPr id="24" name="Text 21"/>
          <p:cNvSpPr/>
          <p:nvPr/>
        </p:nvSpPr>
        <p:spPr>
          <a:xfrm>
            <a:off x="1001268" y="5255057"/>
            <a:ext cx="2798064" cy="133502"/>
          </a:xfrm>
          <a:prstGeom prst="rect">
            <a:avLst/>
          </a:prstGeom>
          <a:noFill/>
          <a:ln/>
        </p:spPr>
        <p:txBody>
          <a:bodyPr wrap="square" lIns="254" tIns="254" rIns="254" bIns="254" rtlCol="0" anchor="t">
            <a:normAutofit/>
          </a:bodyPr>
          <a:lstStyle/>
          <a:p>
            <a:pPr algn="l" indent="0" marL="0">
              <a:buNone/>
            </a:pPr>
            <a:r>
              <a:rPr lang="en-US" sz="810" dirty="0">
                <a:solidFill>
                  <a:srgbClr val="FFFFFF"/>
                </a:solidFill>
                <a:latin typeface="Aptos" pitchFamily="34" charset="0"/>
                <a:ea typeface="Aptos" pitchFamily="34" charset="-122"/>
                <a:cs typeface="Aptos" pitchFamily="34" charset="-120"/>
              </a:rPr>
              <a:t>Categorical missing values</a:t>
            </a:r>
            <a:endParaRPr lang="en-US" sz="810" dirty="0"/>
          </a:p>
        </p:txBody>
      </p:sp>
      <p:sp>
        <p:nvSpPr>
          <p:cNvPr id="25" name="Text 22"/>
          <p:cNvSpPr/>
          <p:nvPr/>
        </p:nvSpPr>
        <p:spPr>
          <a:xfrm>
            <a:off x="3881628" y="5255057"/>
            <a:ext cx="7050024" cy="133502"/>
          </a:xfrm>
          <a:prstGeom prst="rect">
            <a:avLst/>
          </a:prstGeom>
          <a:noFill/>
          <a:ln/>
        </p:spPr>
        <p:txBody>
          <a:bodyPr wrap="square" lIns="254" tIns="254" rIns="254" bIns="254" rtlCol="0" anchor="t">
            <a:normAutofit/>
          </a:bodyPr>
          <a:lstStyle/>
          <a:p>
            <a:pPr algn="ctr" indent="0" marL="0">
              <a:buNone/>
            </a:pPr>
            <a:r>
              <a:rPr lang="en-US" sz="810" dirty="0">
                <a:solidFill>
                  <a:srgbClr val="FFFFFF"/>
                </a:solidFill>
                <a:latin typeface="Aptos" pitchFamily="34" charset="0"/>
                <a:ea typeface="Aptos" pitchFamily="34" charset="-122"/>
                <a:cs typeface="Aptos" pitchFamily="34" charset="-120"/>
              </a:rPr>
              <a:t>Most frequent imputation</a:t>
            </a:r>
            <a:endParaRPr lang="en-US" sz="810" dirty="0"/>
          </a:p>
        </p:txBody>
      </p:sp>
      <p:sp>
        <p:nvSpPr>
          <p:cNvPr id="26" name="Shape 23"/>
          <p:cNvSpPr/>
          <p:nvPr/>
        </p:nvSpPr>
        <p:spPr>
          <a:xfrm>
            <a:off x="960120" y="5420563"/>
            <a:ext cx="10012680" cy="0"/>
          </a:xfrm>
          <a:prstGeom prst="line">
            <a:avLst/>
          </a:prstGeom>
          <a:noFill/>
          <a:ln w="6350">
            <a:solidFill>
              <a:srgbClr val="2D342F">
                <a:alpha val="75000"/>
              </a:srgbClr>
            </a:solidFill>
            <a:prstDash val="solid"/>
          </a:ln>
        </p:spPr>
      </p:sp>
      <p:sp>
        <p:nvSpPr>
          <p:cNvPr id="27" name="Text 24"/>
          <p:cNvSpPr/>
          <p:nvPr/>
        </p:nvSpPr>
        <p:spPr>
          <a:xfrm>
            <a:off x="1001268" y="5452567"/>
            <a:ext cx="2798064" cy="133502"/>
          </a:xfrm>
          <a:prstGeom prst="rect">
            <a:avLst/>
          </a:prstGeom>
          <a:noFill/>
          <a:ln/>
        </p:spPr>
        <p:txBody>
          <a:bodyPr wrap="square" lIns="254" tIns="254" rIns="254" bIns="254" rtlCol="0" anchor="t">
            <a:normAutofit/>
          </a:bodyPr>
          <a:lstStyle/>
          <a:p>
            <a:pPr algn="l" indent="0" marL="0">
              <a:buNone/>
            </a:pPr>
            <a:r>
              <a:rPr lang="en-US" sz="810" dirty="0">
                <a:solidFill>
                  <a:srgbClr val="FFFFFF"/>
                </a:solidFill>
                <a:latin typeface="Aptos" pitchFamily="34" charset="0"/>
                <a:ea typeface="Aptos" pitchFamily="34" charset="-122"/>
                <a:cs typeface="Aptos" pitchFamily="34" charset="-120"/>
              </a:rPr>
              <a:t>Categorical encoding</a:t>
            </a:r>
            <a:endParaRPr lang="en-US" sz="810" dirty="0"/>
          </a:p>
        </p:txBody>
      </p:sp>
      <p:sp>
        <p:nvSpPr>
          <p:cNvPr id="28" name="Text 25"/>
          <p:cNvSpPr/>
          <p:nvPr/>
        </p:nvSpPr>
        <p:spPr>
          <a:xfrm>
            <a:off x="3881628" y="5452567"/>
            <a:ext cx="7050024" cy="133502"/>
          </a:xfrm>
          <a:prstGeom prst="rect">
            <a:avLst/>
          </a:prstGeom>
          <a:noFill/>
          <a:ln/>
        </p:spPr>
        <p:txBody>
          <a:bodyPr wrap="square" lIns="254" tIns="254" rIns="254" bIns="254" rtlCol="0" anchor="t">
            <a:normAutofit/>
          </a:bodyPr>
          <a:lstStyle/>
          <a:p>
            <a:pPr algn="ctr" indent="0" marL="0">
              <a:buNone/>
            </a:pPr>
            <a:r>
              <a:rPr lang="en-US" sz="810" dirty="0">
                <a:solidFill>
                  <a:srgbClr val="FFFFFF"/>
                </a:solidFill>
                <a:latin typeface="Aptos" pitchFamily="34" charset="0"/>
                <a:ea typeface="Aptos" pitchFamily="34" charset="-122"/>
                <a:cs typeface="Aptos" pitchFamily="34" charset="-120"/>
              </a:rPr>
              <a:t>One-hot with unknown categories ignored</a:t>
            </a:r>
            <a:endParaRPr lang="en-US" sz="810" dirty="0"/>
          </a:p>
        </p:txBody>
      </p:sp>
      <p:sp>
        <p:nvSpPr>
          <p:cNvPr id="29" name="Shape 26"/>
          <p:cNvSpPr/>
          <p:nvPr/>
        </p:nvSpPr>
        <p:spPr>
          <a:xfrm>
            <a:off x="960120" y="5618074"/>
            <a:ext cx="10012680" cy="0"/>
          </a:xfrm>
          <a:prstGeom prst="line">
            <a:avLst/>
          </a:prstGeom>
          <a:noFill/>
          <a:ln w="6350">
            <a:solidFill>
              <a:srgbClr val="2D342F">
                <a:alpha val="75000"/>
              </a:srgbClr>
            </a:solidFill>
            <a:prstDash val="solid"/>
          </a:ln>
        </p:spPr>
      </p:sp>
      <p:sp>
        <p:nvSpPr>
          <p:cNvPr id="30" name="Text 27"/>
          <p:cNvSpPr/>
          <p:nvPr/>
        </p:nvSpPr>
        <p:spPr>
          <a:xfrm>
            <a:off x="1001268" y="5650078"/>
            <a:ext cx="2798064" cy="133502"/>
          </a:xfrm>
          <a:prstGeom prst="rect">
            <a:avLst/>
          </a:prstGeom>
          <a:noFill/>
          <a:ln/>
        </p:spPr>
        <p:txBody>
          <a:bodyPr wrap="square" lIns="254" tIns="254" rIns="254" bIns="254" rtlCol="0" anchor="t">
            <a:normAutofit/>
          </a:bodyPr>
          <a:lstStyle/>
          <a:p>
            <a:pPr algn="l" indent="0" marL="0">
              <a:buNone/>
            </a:pPr>
            <a:r>
              <a:rPr lang="en-US" sz="810" dirty="0">
                <a:solidFill>
                  <a:srgbClr val="FFFFFF"/>
                </a:solidFill>
                <a:latin typeface="Aptos" pitchFamily="34" charset="0"/>
                <a:ea typeface="Aptos" pitchFamily="34" charset="-122"/>
                <a:cs typeface="Aptos" pitchFamily="34" charset="-120"/>
              </a:rPr>
              <a:t>Leakage prevention</a:t>
            </a:r>
            <a:endParaRPr lang="en-US" sz="810" dirty="0"/>
          </a:p>
        </p:txBody>
      </p:sp>
      <p:sp>
        <p:nvSpPr>
          <p:cNvPr id="31" name="Text 28"/>
          <p:cNvSpPr/>
          <p:nvPr/>
        </p:nvSpPr>
        <p:spPr>
          <a:xfrm>
            <a:off x="3881628" y="5650078"/>
            <a:ext cx="7050024" cy="133502"/>
          </a:xfrm>
          <a:prstGeom prst="rect">
            <a:avLst/>
          </a:prstGeom>
          <a:noFill/>
          <a:ln/>
        </p:spPr>
        <p:txBody>
          <a:bodyPr wrap="square" lIns="254" tIns="254" rIns="254" bIns="254" rtlCol="0" anchor="t">
            <a:normAutofit/>
          </a:bodyPr>
          <a:lstStyle/>
          <a:p>
            <a:pPr algn="ctr" indent="0" marL="0">
              <a:buNone/>
            </a:pPr>
            <a:r>
              <a:rPr lang="en-US" sz="810" dirty="0">
                <a:solidFill>
                  <a:srgbClr val="FFFFFF"/>
                </a:solidFill>
                <a:latin typeface="Aptos" pitchFamily="34" charset="0"/>
                <a:ea typeface="Aptos" pitchFamily="34" charset="-122"/>
                <a:cs typeface="Aptos" pitchFamily="34" charset="-120"/>
              </a:rPr>
              <a:t>Fit preprocessing on training data only</a:t>
            </a:r>
            <a:endParaRPr lang="en-US" sz="810" dirty="0"/>
          </a:p>
        </p:txBody>
      </p:sp>
      <p:sp>
        <p:nvSpPr>
          <p:cNvPr id="32" name="Shape 29"/>
          <p:cNvSpPr/>
          <p:nvPr/>
        </p:nvSpPr>
        <p:spPr>
          <a:xfrm>
            <a:off x="960120" y="5815584"/>
            <a:ext cx="10012680" cy="0"/>
          </a:xfrm>
          <a:prstGeom prst="line">
            <a:avLst/>
          </a:prstGeom>
          <a:noFill/>
          <a:ln w="6350">
            <a:solidFill>
              <a:srgbClr val="2D342F">
                <a:alpha val="75000"/>
              </a:srgbClr>
            </a:solidFill>
            <a:prstDash val="solid"/>
          </a:ln>
        </p:spPr>
      </p:sp>
      <p:sp>
        <p:nvSpPr>
          <p:cNvPr id="33" name="Text 30"/>
          <p:cNvSpPr/>
          <p:nvPr/>
        </p:nvSpPr>
        <p:spPr>
          <a:xfrm>
            <a:off x="566928" y="6473952"/>
            <a:ext cx="6217920" cy="201168"/>
          </a:xfrm>
          <a:prstGeom prst="rect">
            <a:avLst/>
          </a:prstGeom>
          <a:noFill/>
          <a:ln/>
        </p:spPr>
        <p:txBody>
          <a:bodyPr wrap="square" lIns="0" tIns="0" rIns="0" bIns="0" rtlCol="0" anchor="ctr"/>
          <a:lstStyle/>
          <a:p>
            <a:pPr indent="0" marL="0">
              <a:buNone/>
            </a:pPr>
            <a:r>
              <a:rPr lang="en-US" sz="740" dirty="0">
                <a:solidFill>
                  <a:srgbClr val="C4CDC6"/>
                </a:solidFill>
              </a:rPr>
              <a:t>DATA 400 | SBA 7(a) Credit-Risk Mini Project</a:t>
            </a:r>
            <a:endParaRPr lang="en-US" sz="740" dirty="0"/>
          </a:p>
        </p:txBody>
      </p:sp>
      <p:sp>
        <p:nvSpPr>
          <p:cNvPr id="34" name="Text 31"/>
          <p:cNvSpPr/>
          <p:nvPr/>
        </p:nvSpPr>
        <p:spPr>
          <a:xfrm>
            <a:off x="11082528" y="6455664"/>
            <a:ext cx="502920" cy="201168"/>
          </a:xfrm>
          <a:prstGeom prst="rect">
            <a:avLst/>
          </a:prstGeom>
          <a:noFill/>
          <a:ln/>
        </p:spPr>
        <p:txBody>
          <a:bodyPr wrap="square" lIns="0" tIns="0" rIns="0" bIns="0" rtlCol="0" anchor="ctr"/>
          <a:lstStyle/>
          <a:p>
            <a:pPr algn="r" indent="0" marL="0">
              <a:buNone/>
            </a:pPr>
            <a:r>
              <a:rPr lang="en-US" sz="800" b="1" dirty="0">
                <a:solidFill>
                  <a:srgbClr val="9DFF00"/>
                </a:solidFill>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50607"/>
        </a:solidFill>
      </p:bgPr>
    </p:bg>
    <p:spTree>
      <p:nvGrpSpPr>
        <p:cNvPr id="1" name=""/>
        <p:cNvGrpSpPr/>
        <p:nvPr/>
      </p:nvGrpSpPr>
      <p:grpSpPr>
        <a:xfrm>
          <a:off x="0" y="0"/>
          <a:ext cx="0" cy="0"/>
          <a:chOff x="0" y="0"/>
          <a:chExt cx="0" cy="0"/>
        </a:xfrm>
      </p:grpSpPr>
      <p:pic>
        <p:nvPicPr>
          <p:cNvPr id="2" name="Image 0" descr="/mnt/data/sample_ppt_extract/ppt/media/dark_image7.jpeg">    </p:cNvPr>
          <p:cNvPicPr>
            <a:picLocks noChangeAspect="1"/>
          </p:cNvPicPr>
          <p:nvPr/>
        </p:nvPicPr>
        <p:blipFill>
          <a:blip r:embed="rId1"/>
          <a:srcRect l="0" r="0" t="3135" b="3135"/>
          <a:stretch/>
        </p:blipFill>
        <p:spPr>
          <a:xfrm>
            <a:off x="0" y="0"/>
            <a:ext cx="12191695" cy="6858000"/>
          </a:xfrm>
          <a:prstGeom prst="rect">
            <a:avLst/>
          </a:prstGeom>
        </p:spPr>
      </p:pic>
      <p:sp>
        <p:nvSpPr>
          <p:cNvPr id="3" name="Shape 0"/>
          <p:cNvSpPr/>
          <p:nvPr/>
        </p:nvSpPr>
        <p:spPr>
          <a:xfrm>
            <a:off x="201168" y="256032"/>
            <a:ext cx="50292" cy="6263640"/>
          </a:xfrm>
          <a:prstGeom prst="rect">
            <a:avLst/>
          </a:prstGeom>
          <a:solidFill>
            <a:srgbClr val="9DFF00"/>
          </a:solidFill>
          <a:ln w="12700">
            <a:solidFill>
              <a:srgbClr val="333333">
                <a:alpha val="0"/>
              </a:srgbClr>
            </a:solidFill>
            <a:prstDash val="solid"/>
          </a:ln>
        </p:spPr>
      </p:sp>
      <p:sp>
        <p:nvSpPr>
          <p:cNvPr id="4" name="Text 1"/>
          <p:cNvSpPr/>
          <p:nvPr/>
        </p:nvSpPr>
        <p:spPr>
          <a:xfrm>
            <a:off x="566928" y="310896"/>
            <a:ext cx="4754880" cy="228600"/>
          </a:xfrm>
          <a:prstGeom prst="rect">
            <a:avLst/>
          </a:prstGeom>
          <a:noFill/>
          <a:ln/>
        </p:spPr>
        <p:txBody>
          <a:bodyPr wrap="square" lIns="0" tIns="0" rIns="0" bIns="0" rtlCol="0" anchor="ctr">
            <a:normAutofit/>
          </a:bodyPr>
          <a:lstStyle/>
          <a:p>
            <a:pPr indent="0" marL="0">
              <a:buNone/>
            </a:pPr>
            <a:r>
              <a:rPr lang="en-US" sz="850" b="1" dirty="0">
                <a:solidFill>
                  <a:srgbClr val="9DFF00"/>
                </a:solidFill>
                <a:latin typeface="Aptos" pitchFamily="34" charset="0"/>
                <a:ea typeface="Aptos" pitchFamily="34" charset="-122"/>
                <a:cs typeface="Aptos" pitchFamily="34" charset="-120"/>
              </a:rPr>
              <a:t>CANDIDATE MODELS</a:t>
            </a:r>
            <a:endParaRPr lang="en-US" sz="850" dirty="0"/>
          </a:p>
        </p:txBody>
      </p:sp>
      <p:sp>
        <p:nvSpPr>
          <p:cNvPr id="5" name="Text 2"/>
          <p:cNvSpPr/>
          <p:nvPr/>
        </p:nvSpPr>
        <p:spPr>
          <a:xfrm>
            <a:off x="566928" y="621792"/>
            <a:ext cx="10652760" cy="566928"/>
          </a:xfrm>
          <a:prstGeom prst="rect">
            <a:avLst/>
          </a:prstGeom>
          <a:noFill/>
          <a:ln/>
        </p:spPr>
        <p:txBody>
          <a:bodyPr wrap="square" lIns="0" tIns="0" rIns="0" bIns="0" rtlCol="0" anchor="ctr">
            <a:normAutofit/>
          </a:bodyPr>
          <a:lstStyle/>
          <a:p>
            <a:pPr indent="0" marL="0">
              <a:buNone/>
            </a:pPr>
            <a:r>
              <a:rPr lang="en-US" sz="2450" b="1" dirty="0">
                <a:solidFill>
                  <a:srgbClr val="FFFFFF"/>
                </a:solidFill>
                <a:latin typeface="Aptos Display" pitchFamily="34" charset="0"/>
                <a:ea typeface="Aptos Display" pitchFamily="34" charset="-122"/>
                <a:cs typeface="Aptos Display" pitchFamily="34" charset="-120"/>
              </a:rPr>
              <a:t>Compare simple baselines with nonlinear models</a:t>
            </a:r>
            <a:endParaRPr lang="en-US" sz="2450" dirty="0"/>
          </a:p>
        </p:txBody>
      </p:sp>
      <p:sp>
        <p:nvSpPr>
          <p:cNvPr id="6" name="Shape 3"/>
          <p:cNvSpPr/>
          <p:nvPr/>
        </p:nvSpPr>
        <p:spPr>
          <a:xfrm>
            <a:off x="566928" y="1307592"/>
            <a:ext cx="10716768" cy="0"/>
          </a:xfrm>
          <a:prstGeom prst="line">
            <a:avLst/>
          </a:prstGeom>
          <a:noFill/>
          <a:ln w="13335">
            <a:solidFill>
              <a:srgbClr val="9DFF00">
                <a:alpha val="95000"/>
              </a:srgbClr>
            </a:solidFill>
            <a:prstDash val="solid"/>
          </a:ln>
        </p:spPr>
      </p:sp>
      <p:sp>
        <p:nvSpPr>
          <p:cNvPr id="7" name="Shape 4"/>
          <p:cNvSpPr/>
          <p:nvPr/>
        </p:nvSpPr>
        <p:spPr>
          <a:xfrm>
            <a:off x="731520" y="1691640"/>
            <a:ext cx="2240280" cy="411480"/>
          </a:xfrm>
          <a:prstGeom prst="rect">
            <a:avLst/>
          </a:prstGeom>
          <a:solidFill>
            <a:srgbClr val="9DFF00">
              <a:alpha val="18000"/>
            </a:srgbClr>
          </a:solidFill>
          <a:ln w="12700">
            <a:solidFill>
              <a:srgbClr val="333333">
                <a:alpha val="0"/>
              </a:srgbClr>
            </a:solidFill>
            <a:prstDash val="solid"/>
          </a:ln>
        </p:spPr>
      </p:sp>
      <p:sp>
        <p:nvSpPr>
          <p:cNvPr id="8" name="Text 5"/>
          <p:cNvSpPr/>
          <p:nvPr/>
        </p:nvSpPr>
        <p:spPr>
          <a:xfrm>
            <a:off x="772668" y="1723644"/>
            <a:ext cx="2157984" cy="347472"/>
          </a:xfrm>
          <a:prstGeom prst="rect">
            <a:avLst/>
          </a:prstGeom>
          <a:noFill/>
          <a:ln/>
        </p:spPr>
        <p:txBody>
          <a:bodyPr wrap="square" lIns="254" tIns="254" rIns="254" bIns="254" rtlCol="0" anchor="t">
            <a:normAutofit/>
          </a:bodyPr>
          <a:lstStyle/>
          <a:p>
            <a:pPr algn="l" indent="0" marL="0">
              <a:buNone/>
            </a:pPr>
            <a:r>
              <a:rPr lang="en-US" sz="810" b="1" dirty="0">
                <a:solidFill>
                  <a:srgbClr val="9DFF00"/>
                </a:solidFill>
                <a:latin typeface="Aptos" pitchFamily="34" charset="0"/>
                <a:ea typeface="Aptos" pitchFamily="34" charset="-122"/>
                <a:cs typeface="Aptos" pitchFamily="34" charset="-120"/>
              </a:rPr>
              <a:t>Model</a:t>
            </a:r>
            <a:endParaRPr lang="en-US" sz="810" dirty="0"/>
          </a:p>
        </p:txBody>
      </p:sp>
      <p:sp>
        <p:nvSpPr>
          <p:cNvPr id="9" name="Shape 6"/>
          <p:cNvSpPr/>
          <p:nvPr/>
        </p:nvSpPr>
        <p:spPr>
          <a:xfrm>
            <a:off x="2971800" y="1691640"/>
            <a:ext cx="3657600" cy="411480"/>
          </a:xfrm>
          <a:prstGeom prst="rect">
            <a:avLst/>
          </a:prstGeom>
          <a:solidFill>
            <a:srgbClr val="9DFF00">
              <a:alpha val="18000"/>
            </a:srgbClr>
          </a:solidFill>
          <a:ln w="12700">
            <a:solidFill>
              <a:srgbClr val="333333">
                <a:alpha val="0"/>
              </a:srgbClr>
            </a:solidFill>
            <a:prstDash val="solid"/>
          </a:ln>
        </p:spPr>
      </p:sp>
      <p:sp>
        <p:nvSpPr>
          <p:cNvPr id="10" name="Text 7"/>
          <p:cNvSpPr/>
          <p:nvPr/>
        </p:nvSpPr>
        <p:spPr>
          <a:xfrm>
            <a:off x="3012948" y="1723644"/>
            <a:ext cx="3575304" cy="347472"/>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Purpose</a:t>
            </a:r>
            <a:endParaRPr lang="en-US" sz="810" dirty="0"/>
          </a:p>
        </p:txBody>
      </p:sp>
      <p:sp>
        <p:nvSpPr>
          <p:cNvPr id="11" name="Shape 8"/>
          <p:cNvSpPr/>
          <p:nvPr/>
        </p:nvSpPr>
        <p:spPr>
          <a:xfrm>
            <a:off x="6629400" y="1691640"/>
            <a:ext cx="4892040" cy="411480"/>
          </a:xfrm>
          <a:prstGeom prst="rect">
            <a:avLst/>
          </a:prstGeom>
          <a:solidFill>
            <a:srgbClr val="9DFF00">
              <a:alpha val="18000"/>
            </a:srgbClr>
          </a:solidFill>
          <a:ln w="12700">
            <a:solidFill>
              <a:srgbClr val="333333">
                <a:alpha val="0"/>
              </a:srgbClr>
            </a:solidFill>
            <a:prstDash val="solid"/>
          </a:ln>
        </p:spPr>
      </p:sp>
      <p:sp>
        <p:nvSpPr>
          <p:cNvPr id="12" name="Text 9"/>
          <p:cNvSpPr/>
          <p:nvPr/>
        </p:nvSpPr>
        <p:spPr>
          <a:xfrm>
            <a:off x="6670548" y="1723644"/>
            <a:ext cx="4809744" cy="347472"/>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Complexity control</a:t>
            </a:r>
            <a:endParaRPr lang="en-US" sz="810" dirty="0"/>
          </a:p>
        </p:txBody>
      </p:sp>
      <p:sp>
        <p:nvSpPr>
          <p:cNvPr id="13" name="Shape 10"/>
          <p:cNvSpPr/>
          <p:nvPr/>
        </p:nvSpPr>
        <p:spPr>
          <a:xfrm>
            <a:off x="731520" y="2103120"/>
            <a:ext cx="10789920" cy="0"/>
          </a:xfrm>
          <a:prstGeom prst="line">
            <a:avLst/>
          </a:prstGeom>
          <a:noFill/>
          <a:ln w="12700">
            <a:solidFill>
              <a:srgbClr val="9DFF00"/>
            </a:solidFill>
            <a:prstDash val="solid"/>
          </a:ln>
        </p:spPr>
      </p:sp>
      <p:sp>
        <p:nvSpPr>
          <p:cNvPr id="14" name="Text 11"/>
          <p:cNvSpPr/>
          <p:nvPr/>
        </p:nvSpPr>
        <p:spPr>
          <a:xfrm>
            <a:off x="772668" y="2135124"/>
            <a:ext cx="2157984" cy="347472"/>
          </a:xfrm>
          <a:prstGeom prst="rect">
            <a:avLst/>
          </a:prstGeom>
          <a:noFill/>
          <a:ln/>
        </p:spPr>
        <p:txBody>
          <a:bodyPr wrap="square" lIns="254" tIns="254" rIns="254" bIns="254" rtlCol="0" anchor="t">
            <a:normAutofit/>
          </a:bodyPr>
          <a:lstStyle/>
          <a:p>
            <a:pPr algn="l" indent="0" marL="0">
              <a:buNone/>
            </a:pPr>
            <a:r>
              <a:rPr lang="en-US" sz="840" dirty="0">
                <a:solidFill>
                  <a:srgbClr val="FFFFFF"/>
                </a:solidFill>
                <a:latin typeface="Aptos" pitchFamily="34" charset="0"/>
                <a:ea typeface="Aptos" pitchFamily="34" charset="-122"/>
                <a:cs typeface="Aptos" pitchFamily="34" charset="-120"/>
              </a:rPr>
              <a:t>Dummy</a:t>
            </a:r>
            <a:endParaRPr lang="en-US" sz="840" dirty="0"/>
          </a:p>
        </p:txBody>
      </p:sp>
      <p:sp>
        <p:nvSpPr>
          <p:cNvPr id="15" name="Text 12"/>
          <p:cNvSpPr/>
          <p:nvPr/>
        </p:nvSpPr>
        <p:spPr>
          <a:xfrm>
            <a:off x="3012948" y="2135124"/>
            <a:ext cx="3575304" cy="34747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Baseline / event-rate reference</a:t>
            </a:r>
            <a:endParaRPr lang="en-US" sz="840" dirty="0"/>
          </a:p>
        </p:txBody>
      </p:sp>
      <p:sp>
        <p:nvSpPr>
          <p:cNvPr id="16" name="Text 13"/>
          <p:cNvSpPr/>
          <p:nvPr/>
        </p:nvSpPr>
        <p:spPr>
          <a:xfrm>
            <a:off x="6670548" y="2135124"/>
            <a:ext cx="4809744" cy="34747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No predictive features</a:t>
            </a:r>
            <a:endParaRPr lang="en-US" sz="840" dirty="0"/>
          </a:p>
        </p:txBody>
      </p:sp>
      <p:sp>
        <p:nvSpPr>
          <p:cNvPr id="17" name="Shape 14"/>
          <p:cNvSpPr/>
          <p:nvPr/>
        </p:nvSpPr>
        <p:spPr>
          <a:xfrm>
            <a:off x="731520" y="2514600"/>
            <a:ext cx="10789920" cy="0"/>
          </a:xfrm>
          <a:prstGeom prst="line">
            <a:avLst/>
          </a:prstGeom>
          <a:noFill/>
          <a:ln w="6350">
            <a:solidFill>
              <a:srgbClr val="2D342F">
                <a:alpha val="75000"/>
              </a:srgbClr>
            </a:solidFill>
            <a:prstDash val="solid"/>
          </a:ln>
        </p:spPr>
      </p:sp>
      <p:sp>
        <p:nvSpPr>
          <p:cNvPr id="18" name="Text 15"/>
          <p:cNvSpPr/>
          <p:nvPr/>
        </p:nvSpPr>
        <p:spPr>
          <a:xfrm>
            <a:off x="772668" y="2546604"/>
            <a:ext cx="2157984" cy="347472"/>
          </a:xfrm>
          <a:prstGeom prst="rect">
            <a:avLst/>
          </a:prstGeom>
          <a:noFill/>
          <a:ln/>
        </p:spPr>
        <p:txBody>
          <a:bodyPr wrap="square" lIns="254" tIns="254" rIns="254" bIns="254" rtlCol="0" anchor="t">
            <a:normAutofit/>
          </a:bodyPr>
          <a:lstStyle/>
          <a:p>
            <a:pPr algn="l" indent="0" marL="0">
              <a:buNone/>
            </a:pPr>
            <a:r>
              <a:rPr lang="en-US" sz="840" dirty="0">
                <a:solidFill>
                  <a:srgbClr val="FFFFFF"/>
                </a:solidFill>
                <a:latin typeface="Aptos" pitchFamily="34" charset="0"/>
                <a:ea typeface="Aptos" pitchFamily="34" charset="-122"/>
                <a:cs typeface="Aptos" pitchFamily="34" charset="-120"/>
              </a:rPr>
              <a:t>Logistic Regression</a:t>
            </a:r>
            <a:endParaRPr lang="en-US" sz="840" dirty="0"/>
          </a:p>
        </p:txBody>
      </p:sp>
      <p:sp>
        <p:nvSpPr>
          <p:cNvPr id="19" name="Text 16"/>
          <p:cNvSpPr/>
          <p:nvPr/>
        </p:nvSpPr>
        <p:spPr>
          <a:xfrm>
            <a:off x="3012948" y="2546604"/>
            <a:ext cx="3575304" cy="34747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Interpretable linear benchmark</a:t>
            </a:r>
            <a:endParaRPr lang="en-US" sz="840" dirty="0"/>
          </a:p>
        </p:txBody>
      </p:sp>
      <p:sp>
        <p:nvSpPr>
          <p:cNvPr id="20" name="Text 17"/>
          <p:cNvSpPr/>
          <p:nvPr/>
        </p:nvSpPr>
        <p:spPr>
          <a:xfrm>
            <a:off x="6670548" y="2546604"/>
            <a:ext cx="4809744" cy="34747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L2 regularization, C=1.0</a:t>
            </a:r>
            <a:endParaRPr lang="en-US" sz="840" dirty="0"/>
          </a:p>
        </p:txBody>
      </p:sp>
      <p:sp>
        <p:nvSpPr>
          <p:cNvPr id="21" name="Shape 18"/>
          <p:cNvSpPr/>
          <p:nvPr/>
        </p:nvSpPr>
        <p:spPr>
          <a:xfrm>
            <a:off x="731520" y="2926080"/>
            <a:ext cx="10789920" cy="0"/>
          </a:xfrm>
          <a:prstGeom prst="line">
            <a:avLst/>
          </a:prstGeom>
          <a:noFill/>
          <a:ln w="6350">
            <a:solidFill>
              <a:srgbClr val="2D342F">
                <a:alpha val="75000"/>
              </a:srgbClr>
            </a:solidFill>
            <a:prstDash val="solid"/>
          </a:ln>
        </p:spPr>
      </p:sp>
      <p:sp>
        <p:nvSpPr>
          <p:cNvPr id="22" name="Text 19"/>
          <p:cNvSpPr/>
          <p:nvPr/>
        </p:nvSpPr>
        <p:spPr>
          <a:xfrm>
            <a:off x="772668" y="2958084"/>
            <a:ext cx="2157984" cy="347472"/>
          </a:xfrm>
          <a:prstGeom prst="rect">
            <a:avLst/>
          </a:prstGeom>
          <a:noFill/>
          <a:ln/>
        </p:spPr>
        <p:txBody>
          <a:bodyPr wrap="square" lIns="254" tIns="254" rIns="254" bIns="254" rtlCol="0" anchor="t">
            <a:normAutofit/>
          </a:bodyPr>
          <a:lstStyle/>
          <a:p>
            <a:pPr algn="l" indent="0" marL="0">
              <a:buNone/>
            </a:pPr>
            <a:r>
              <a:rPr lang="en-US" sz="840" dirty="0">
                <a:solidFill>
                  <a:srgbClr val="FFFFFF"/>
                </a:solidFill>
                <a:latin typeface="Aptos" pitchFamily="34" charset="0"/>
                <a:ea typeface="Aptos" pitchFamily="34" charset="-122"/>
                <a:cs typeface="Aptos" pitchFamily="34" charset="-120"/>
              </a:rPr>
              <a:t>Decision Tree</a:t>
            </a:r>
            <a:endParaRPr lang="en-US" sz="840" dirty="0"/>
          </a:p>
        </p:txBody>
      </p:sp>
      <p:sp>
        <p:nvSpPr>
          <p:cNvPr id="23" name="Text 20"/>
          <p:cNvSpPr/>
          <p:nvPr/>
        </p:nvSpPr>
        <p:spPr>
          <a:xfrm>
            <a:off x="3012948" y="2958084"/>
            <a:ext cx="3575304" cy="34747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Single nonlinear tree</a:t>
            </a:r>
            <a:endParaRPr lang="en-US" sz="840" dirty="0"/>
          </a:p>
        </p:txBody>
      </p:sp>
      <p:sp>
        <p:nvSpPr>
          <p:cNvPr id="24" name="Text 21"/>
          <p:cNvSpPr/>
          <p:nvPr/>
        </p:nvSpPr>
        <p:spPr>
          <a:xfrm>
            <a:off x="6670548" y="2958084"/>
            <a:ext cx="4809744" cy="34747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max_depth=6, min_samples_leaf=25</a:t>
            </a:r>
            <a:endParaRPr lang="en-US" sz="840" dirty="0"/>
          </a:p>
        </p:txBody>
      </p:sp>
      <p:sp>
        <p:nvSpPr>
          <p:cNvPr id="25" name="Shape 22"/>
          <p:cNvSpPr/>
          <p:nvPr/>
        </p:nvSpPr>
        <p:spPr>
          <a:xfrm>
            <a:off x="731520" y="3337560"/>
            <a:ext cx="10789920" cy="0"/>
          </a:xfrm>
          <a:prstGeom prst="line">
            <a:avLst/>
          </a:prstGeom>
          <a:noFill/>
          <a:ln w="6350">
            <a:solidFill>
              <a:srgbClr val="2D342F">
                <a:alpha val="75000"/>
              </a:srgbClr>
            </a:solidFill>
            <a:prstDash val="solid"/>
          </a:ln>
        </p:spPr>
      </p:sp>
      <p:sp>
        <p:nvSpPr>
          <p:cNvPr id="26" name="Text 23"/>
          <p:cNvSpPr/>
          <p:nvPr/>
        </p:nvSpPr>
        <p:spPr>
          <a:xfrm>
            <a:off x="772668" y="3369564"/>
            <a:ext cx="2157984" cy="347472"/>
          </a:xfrm>
          <a:prstGeom prst="rect">
            <a:avLst/>
          </a:prstGeom>
          <a:noFill/>
          <a:ln/>
        </p:spPr>
        <p:txBody>
          <a:bodyPr wrap="square" lIns="254" tIns="254" rIns="254" bIns="254" rtlCol="0" anchor="t">
            <a:normAutofit/>
          </a:bodyPr>
          <a:lstStyle/>
          <a:p>
            <a:pPr algn="l" indent="0" marL="0">
              <a:buNone/>
            </a:pPr>
            <a:r>
              <a:rPr lang="en-US" sz="840" dirty="0">
                <a:solidFill>
                  <a:srgbClr val="FFFFFF"/>
                </a:solidFill>
                <a:latin typeface="Aptos" pitchFamily="34" charset="0"/>
                <a:ea typeface="Aptos" pitchFamily="34" charset="-122"/>
                <a:cs typeface="Aptos" pitchFamily="34" charset="-120"/>
              </a:rPr>
              <a:t>Random Forest</a:t>
            </a:r>
            <a:endParaRPr lang="en-US" sz="840" dirty="0"/>
          </a:p>
        </p:txBody>
      </p:sp>
      <p:sp>
        <p:nvSpPr>
          <p:cNvPr id="27" name="Text 24"/>
          <p:cNvSpPr/>
          <p:nvPr/>
        </p:nvSpPr>
        <p:spPr>
          <a:xfrm>
            <a:off x="3012948" y="3369564"/>
            <a:ext cx="3575304" cy="34747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Ensemble nonlinear model</a:t>
            </a:r>
            <a:endParaRPr lang="en-US" sz="840" dirty="0"/>
          </a:p>
        </p:txBody>
      </p:sp>
      <p:sp>
        <p:nvSpPr>
          <p:cNvPr id="28" name="Text 25"/>
          <p:cNvSpPr/>
          <p:nvPr/>
        </p:nvSpPr>
        <p:spPr>
          <a:xfrm>
            <a:off x="6670548" y="3369564"/>
            <a:ext cx="4809744" cy="347472"/>
          </a:xfrm>
          <a:prstGeom prst="rect">
            <a:avLst/>
          </a:prstGeom>
          <a:noFill/>
          <a:ln/>
        </p:spPr>
        <p:txBody>
          <a:bodyPr wrap="square" lIns="254" tIns="254" rIns="254" bIns="254" rtlCol="0" anchor="t">
            <a:normAutofit/>
          </a:bodyPr>
          <a:lstStyle/>
          <a:p>
            <a:pPr algn="ctr" indent="0" marL="0">
              <a:buNone/>
            </a:pPr>
            <a:r>
              <a:rPr lang="en-US" sz="840" dirty="0">
                <a:solidFill>
                  <a:srgbClr val="FFFFFF"/>
                </a:solidFill>
                <a:latin typeface="Aptos" pitchFamily="34" charset="0"/>
                <a:ea typeface="Aptos" pitchFamily="34" charset="-122"/>
                <a:cs typeface="Aptos" pitchFamily="34" charset="-120"/>
              </a:rPr>
              <a:t>120 trees, max_depth=12, min_samples_leaf=20</a:t>
            </a:r>
            <a:endParaRPr lang="en-US" sz="840" dirty="0"/>
          </a:p>
        </p:txBody>
      </p:sp>
      <p:sp>
        <p:nvSpPr>
          <p:cNvPr id="29" name="Shape 26"/>
          <p:cNvSpPr/>
          <p:nvPr/>
        </p:nvSpPr>
        <p:spPr>
          <a:xfrm>
            <a:off x="731520" y="3749040"/>
            <a:ext cx="10789920" cy="0"/>
          </a:xfrm>
          <a:prstGeom prst="line">
            <a:avLst/>
          </a:prstGeom>
          <a:noFill/>
          <a:ln w="6350">
            <a:solidFill>
              <a:srgbClr val="2D342F">
                <a:alpha val="75000"/>
              </a:srgbClr>
            </a:solidFill>
            <a:prstDash val="solid"/>
          </a:ln>
        </p:spPr>
      </p:sp>
      <p:sp>
        <p:nvSpPr>
          <p:cNvPr id="30" name="Shape 27"/>
          <p:cNvSpPr/>
          <p:nvPr/>
        </p:nvSpPr>
        <p:spPr>
          <a:xfrm>
            <a:off x="914400" y="4251960"/>
            <a:ext cx="4846320" cy="1097280"/>
          </a:xfrm>
          <a:prstGeom prst="roundRect">
            <a:avLst>
              <a:gd name="adj" fmla="val 6667"/>
            </a:avLst>
          </a:prstGeom>
          <a:solidFill>
            <a:srgbClr val="000000">
              <a:alpha val="82000"/>
            </a:srgbClr>
          </a:solidFill>
          <a:ln w="12700">
            <a:solidFill>
              <a:srgbClr val="9DFF00">
                <a:alpha val="34000"/>
              </a:srgbClr>
            </a:solidFill>
            <a:prstDash val="solid"/>
          </a:ln>
        </p:spPr>
      </p:sp>
      <p:sp>
        <p:nvSpPr>
          <p:cNvPr id="31" name="Text 28"/>
          <p:cNvSpPr/>
          <p:nvPr/>
        </p:nvSpPr>
        <p:spPr>
          <a:xfrm>
            <a:off x="1170432" y="4443984"/>
            <a:ext cx="228600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Why multiple models?</a:t>
            </a:r>
            <a:endParaRPr lang="en-US" sz="1360" dirty="0"/>
          </a:p>
        </p:txBody>
      </p:sp>
      <p:sp>
        <p:nvSpPr>
          <p:cNvPr id="32" name="Text 29"/>
          <p:cNvSpPr/>
          <p:nvPr/>
        </p:nvSpPr>
        <p:spPr>
          <a:xfrm>
            <a:off x="1280160" y="4736592"/>
            <a:ext cx="3749040" cy="411480"/>
          </a:xfrm>
          <a:prstGeom prst="rect">
            <a:avLst/>
          </a:prstGeom>
          <a:noFill/>
          <a:ln/>
        </p:spPr>
        <p:txBody>
          <a:bodyPr wrap="square" lIns="254" tIns="254" rIns="254" bIns="254" rtlCol="0" anchor="ctr">
            <a:normAutofit/>
          </a:bodyPr>
          <a:lstStyle/>
          <a:p>
            <a:r>
              <a:rPr lang="en-US" sz="880" dirty="0">
                <a:solidFill>
                  <a:srgbClr val="FFFFFF"/>
                </a:solidFill>
                <a:latin typeface="Aptos" pitchFamily="34" charset="0"/>
                <a:ea typeface="Aptos" pitchFamily="34" charset="-122"/>
                <a:cs typeface="Aptos" pitchFamily="34" charset="-120"/>
              </a:rPr>
              <a:t>Dummy tells us the base-rate floor.</a:t>
            </a:r>
            <a:endParaRPr lang="en-US" sz="880" dirty="0"/>
          </a:p>
          <a:p>
            <a:r>
              <a:rPr lang="en-US" sz="880" dirty="0">
                <a:solidFill>
                  <a:srgbClr val="FFFFFF"/>
                </a:solidFill>
                <a:latin typeface="Aptos" pitchFamily="34" charset="0"/>
                <a:ea typeface="Aptos" pitchFamily="34" charset="-122"/>
                <a:cs typeface="Aptos" pitchFamily="34" charset="-120"/>
              </a:rPr>
              <a:t>Logistic regression provides a readable benchmark.</a:t>
            </a:r>
            <a:endParaRPr lang="en-US" sz="880" dirty="0"/>
          </a:p>
          <a:p>
            <a:r>
              <a:rPr lang="en-US" sz="880" dirty="0">
                <a:solidFill>
                  <a:srgbClr val="FFFFFF"/>
                </a:solidFill>
                <a:latin typeface="Aptos" pitchFamily="34" charset="0"/>
                <a:ea typeface="Aptos" pitchFamily="34" charset="-122"/>
                <a:cs typeface="Aptos" pitchFamily="34" charset="-120"/>
              </a:rPr>
              <a:t>Trees and forests capture nonlinear relationships.</a:t>
            </a:r>
            <a:endParaRPr lang="en-US" sz="880" dirty="0"/>
          </a:p>
        </p:txBody>
      </p:sp>
      <p:sp>
        <p:nvSpPr>
          <p:cNvPr id="33" name="Shape 30"/>
          <p:cNvSpPr/>
          <p:nvPr/>
        </p:nvSpPr>
        <p:spPr>
          <a:xfrm>
            <a:off x="6400800" y="4251960"/>
            <a:ext cx="4663440" cy="1097280"/>
          </a:xfrm>
          <a:prstGeom prst="roundRect">
            <a:avLst>
              <a:gd name="adj" fmla="val 6667"/>
            </a:avLst>
          </a:prstGeom>
          <a:solidFill>
            <a:srgbClr val="000000">
              <a:alpha val="82000"/>
            </a:srgbClr>
          </a:solidFill>
          <a:ln w="12700">
            <a:solidFill>
              <a:srgbClr val="9DFF00">
                <a:alpha val="34000"/>
              </a:srgbClr>
            </a:solidFill>
            <a:prstDash val="solid"/>
          </a:ln>
        </p:spPr>
      </p:sp>
      <p:sp>
        <p:nvSpPr>
          <p:cNvPr id="34" name="Text 31"/>
          <p:cNvSpPr/>
          <p:nvPr/>
        </p:nvSpPr>
        <p:spPr>
          <a:xfrm>
            <a:off x="6656832" y="4443984"/>
            <a:ext cx="228600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Why not test yet?</a:t>
            </a:r>
            <a:endParaRPr lang="en-US" sz="1360" dirty="0"/>
          </a:p>
        </p:txBody>
      </p:sp>
      <p:sp>
        <p:nvSpPr>
          <p:cNvPr id="35" name="Text 32"/>
          <p:cNvSpPr/>
          <p:nvPr/>
        </p:nvSpPr>
        <p:spPr>
          <a:xfrm>
            <a:off x="6766560" y="4754880"/>
            <a:ext cx="3703320" cy="292608"/>
          </a:xfrm>
          <a:prstGeom prst="rect">
            <a:avLst/>
          </a:prstGeom>
          <a:noFill/>
          <a:ln/>
        </p:spPr>
        <p:txBody>
          <a:bodyPr wrap="square" lIns="254" tIns="254" rIns="254" bIns="254" rtlCol="0" anchor="t">
            <a:normAutofit/>
          </a:bodyPr>
          <a:lstStyle/>
          <a:p>
            <a:pPr algn="l" indent="0" marL="0">
              <a:buNone/>
            </a:pPr>
            <a:r>
              <a:rPr lang="en-US" sz="1000" dirty="0">
                <a:solidFill>
                  <a:srgbClr val="FFFFFF"/>
                </a:solidFill>
                <a:latin typeface="Aptos" pitchFamily="34" charset="0"/>
                <a:ea typeface="Aptos" pitchFamily="34" charset="-122"/>
                <a:cs typeface="Aptos" pitchFamily="34" charset="-120"/>
              </a:rPr>
              <a:t>The validation set is for model choice and threshold choice. The locked test set is reserved for the final evaluation only.</a:t>
            </a:r>
            <a:endParaRPr lang="en-US" sz="1000" dirty="0"/>
          </a:p>
        </p:txBody>
      </p:sp>
      <p:sp>
        <p:nvSpPr>
          <p:cNvPr id="36" name="Text 33"/>
          <p:cNvSpPr/>
          <p:nvPr/>
        </p:nvSpPr>
        <p:spPr>
          <a:xfrm>
            <a:off x="566928" y="6473952"/>
            <a:ext cx="6217920" cy="201168"/>
          </a:xfrm>
          <a:prstGeom prst="rect">
            <a:avLst/>
          </a:prstGeom>
          <a:noFill/>
          <a:ln/>
        </p:spPr>
        <p:txBody>
          <a:bodyPr wrap="square" lIns="0" tIns="0" rIns="0" bIns="0" rtlCol="0" anchor="ctr"/>
          <a:lstStyle/>
          <a:p>
            <a:pPr indent="0" marL="0">
              <a:buNone/>
            </a:pPr>
            <a:r>
              <a:rPr lang="en-US" sz="740" dirty="0">
                <a:solidFill>
                  <a:srgbClr val="C4CDC6"/>
                </a:solidFill>
              </a:rPr>
              <a:t>DATA 400 | SBA 7(a) Credit-Risk Mini Project</a:t>
            </a:r>
            <a:endParaRPr lang="en-US" sz="740" dirty="0"/>
          </a:p>
        </p:txBody>
      </p:sp>
      <p:sp>
        <p:nvSpPr>
          <p:cNvPr id="37" name="Text 34"/>
          <p:cNvSpPr/>
          <p:nvPr/>
        </p:nvSpPr>
        <p:spPr>
          <a:xfrm>
            <a:off x="11082528" y="6455664"/>
            <a:ext cx="502920" cy="201168"/>
          </a:xfrm>
          <a:prstGeom prst="rect">
            <a:avLst/>
          </a:prstGeom>
          <a:noFill/>
          <a:ln/>
        </p:spPr>
        <p:txBody>
          <a:bodyPr wrap="square" lIns="0" tIns="0" rIns="0" bIns="0" rtlCol="0" anchor="ctr"/>
          <a:lstStyle/>
          <a:p>
            <a:pPr algn="r" indent="0" marL="0">
              <a:buNone/>
            </a:pPr>
            <a:r>
              <a:rPr lang="en-US" sz="800" b="1" dirty="0">
                <a:solidFill>
                  <a:srgbClr val="9DFF00"/>
                </a:solidFill>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50607"/>
        </a:solidFill>
      </p:bgPr>
    </p:bg>
    <p:spTree>
      <p:nvGrpSpPr>
        <p:cNvPr id="1" name=""/>
        <p:cNvGrpSpPr/>
        <p:nvPr/>
      </p:nvGrpSpPr>
      <p:grpSpPr>
        <a:xfrm>
          <a:off x="0" y="0"/>
          <a:ext cx="0" cy="0"/>
          <a:chOff x="0" y="0"/>
          <a:chExt cx="0" cy="0"/>
        </a:xfrm>
      </p:grpSpPr>
      <p:pic>
        <p:nvPicPr>
          <p:cNvPr id="2" name="Image 0" descr="/mnt/data/sample_ppt_extract/ppt/media/dark_image1.jpeg">    </p:cNvPr>
          <p:cNvPicPr>
            <a:picLocks noChangeAspect="1"/>
          </p:cNvPicPr>
          <p:nvPr/>
        </p:nvPicPr>
        <p:blipFill>
          <a:blip r:embed="rId1"/>
          <a:srcRect l="0" r="0" t="4004" b="4004"/>
          <a:stretch/>
        </p:blipFill>
        <p:spPr>
          <a:xfrm>
            <a:off x="0" y="0"/>
            <a:ext cx="12191695" cy="6858000"/>
          </a:xfrm>
          <a:prstGeom prst="rect">
            <a:avLst/>
          </a:prstGeom>
        </p:spPr>
      </p:pic>
      <p:sp>
        <p:nvSpPr>
          <p:cNvPr id="3" name="Shape 0"/>
          <p:cNvSpPr/>
          <p:nvPr/>
        </p:nvSpPr>
        <p:spPr>
          <a:xfrm>
            <a:off x="201168" y="256032"/>
            <a:ext cx="50292" cy="6263640"/>
          </a:xfrm>
          <a:prstGeom prst="rect">
            <a:avLst/>
          </a:prstGeom>
          <a:solidFill>
            <a:srgbClr val="9DFF00"/>
          </a:solidFill>
          <a:ln w="12700">
            <a:solidFill>
              <a:srgbClr val="333333">
                <a:alpha val="0"/>
              </a:srgbClr>
            </a:solidFill>
            <a:prstDash val="solid"/>
          </a:ln>
        </p:spPr>
      </p:sp>
      <p:sp>
        <p:nvSpPr>
          <p:cNvPr id="4" name="Text 1"/>
          <p:cNvSpPr/>
          <p:nvPr/>
        </p:nvSpPr>
        <p:spPr>
          <a:xfrm>
            <a:off x="566928" y="310896"/>
            <a:ext cx="4754880" cy="228600"/>
          </a:xfrm>
          <a:prstGeom prst="rect">
            <a:avLst/>
          </a:prstGeom>
          <a:noFill/>
          <a:ln/>
        </p:spPr>
        <p:txBody>
          <a:bodyPr wrap="square" lIns="0" tIns="0" rIns="0" bIns="0" rtlCol="0" anchor="ctr">
            <a:normAutofit/>
          </a:bodyPr>
          <a:lstStyle/>
          <a:p>
            <a:pPr indent="0" marL="0">
              <a:buNone/>
            </a:pPr>
            <a:r>
              <a:rPr lang="en-US" sz="850" b="1" dirty="0">
                <a:solidFill>
                  <a:srgbClr val="9DFF00"/>
                </a:solidFill>
                <a:latin typeface="Aptos" pitchFamily="34" charset="0"/>
                <a:ea typeface="Aptos" pitchFamily="34" charset="-122"/>
                <a:cs typeface="Aptos" pitchFamily="34" charset="-120"/>
              </a:rPr>
              <a:t>METRIC PLAN</a:t>
            </a:r>
            <a:endParaRPr lang="en-US" sz="850" dirty="0"/>
          </a:p>
        </p:txBody>
      </p:sp>
      <p:sp>
        <p:nvSpPr>
          <p:cNvPr id="5" name="Text 2"/>
          <p:cNvSpPr/>
          <p:nvPr/>
        </p:nvSpPr>
        <p:spPr>
          <a:xfrm>
            <a:off x="566928" y="621792"/>
            <a:ext cx="10652760" cy="566928"/>
          </a:xfrm>
          <a:prstGeom prst="rect">
            <a:avLst/>
          </a:prstGeom>
          <a:noFill/>
          <a:ln/>
        </p:spPr>
        <p:txBody>
          <a:bodyPr wrap="square" lIns="0" tIns="0" rIns="0" bIns="0" rtlCol="0" anchor="ctr">
            <a:normAutofit/>
          </a:bodyPr>
          <a:lstStyle/>
          <a:p>
            <a:pPr indent="0" marL="0">
              <a:buNone/>
            </a:pPr>
            <a:r>
              <a:rPr lang="en-US" sz="2450" b="1" dirty="0">
                <a:solidFill>
                  <a:srgbClr val="FFFFFF"/>
                </a:solidFill>
                <a:latin typeface="Aptos Display" pitchFamily="34" charset="0"/>
                <a:ea typeface="Aptos Display" pitchFamily="34" charset="-122"/>
                <a:cs typeface="Aptos Display" pitchFamily="34" charset="-120"/>
              </a:rPr>
              <a:t>Use metrics that reveal rare-event performance</a:t>
            </a:r>
            <a:endParaRPr lang="en-US" sz="2450" dirty="0"/>
          </a:p>
        </p:txBody>
      </p:sp>
      <p:sp>
        <p:nvSpPr>
          <p:cNvPr id="6" name="Shape 3"/>
          <p:cNvSpPr/>
          <p:nvPr/>
        </p:nvSpPr>
        <p:spPr>
          <a:xfrm>
            <a:off x="566928" y="1307592"/>
            <a:ext cx="10716768" cy="0"/>
          </a:xfrm>
          <a:prstGeom prst="line">
            <a:avLst/>
          </a:prstGeom>
          <a:noFill/>
          <a:ln w="13335">
            <a:solidFill>
              <a:srgbClr val="9DFF00">
                <a:alpha val="95000"/>
              </a:srgbClr>
            </a:solidFill>
            <a:prstDash val="solid"/>
          </a:ln>
        </p:spPr>
      </p:sp>
      <p:sp>
        <p:nvSpPr>
          <p:cNvPr id="7" name="Shape 4"/>
          <p:cNvSpPr/>
          <p:nvPr/>
        </p:nvSpPr>
        <p:spPr>
          <a:xfrm>
            <a:off x="685800" y="1691640"/>
            <a:ext cx="1508760" cy="434340"/>
          </a:xfrm>
          <a:prstGeom prst="rect">
            <a:avLst/>
          </a:prstGeom>
          <a:solidFill>
            <a:srgbClr val="9DFF00">
              <a:alpha val="18000"/>
            </a:srgbClr>
          </a:solidFill>
          <a:ln w="12700">
            <a:solidFill>
              <a:srgbClr val="333333">
                <a:alpha val="0"/>
              </a:srgbClr>
            </a:solidFill>
            <a:prstDash val="solid"/>
          </a:ln>
        </p:spPr>
      </p:sp>
      <p:sp>
        <p:nvSpPr>
          <p:cNvPr id="8" name="Text 5"/>
          <p:cNvSpPr/>
          <p:nvPr/>
        </p:nvSpPr>
        <p:spPr>
          <a:xfrm>
            <a:off x="726948" y="1723644"/>
            <a:ext cx="1426464" cy="370332"/>
          </a:xfrm>
          <a:prstGeom prst="rect">
            <a:avLst/>
          </a:prstGeom>
          <a:noFill/>
          <a:ln/>
        </p:spPr>
        <p:txBody>
          <a:bodyPr wrap="square" lIns="254" tIns="254" rIns="254" bIns="254" rtlCol="0" anchor="t">
            <a:normAutofit/>
          </a:bodyPr>
          <a:lstStyle/>
          <a:p>
            <a:pPr algn="l" indent="0" marL="0">
              <a:buNone/>
            </a:pPr>
            <a:r>
              <a:rPr lang="en-US" sz="810" b="1" dirty="0">
                <a:solidFill>
                  <a:srgbClr val="9DFF00"/>
                </a:solidFill>
                <a:latin typeface="Aptos" pitchFamily="34" charset="0"/>
                <a:ea typeface="Aptos" pitchFamily="34" charset="-122"/>
                <a:cs typeface="Aptos" pitchFamily="34" charset="-120"/>
              </a:rPr>
              <a:t>Metric</a:t>
            </a:r>
            <a:endParaRPr lang="en-US" sz="810" dirty="0"/>
          </a:p>
        </p:txBody>
      </p:sp>
      <p:sp>
        <p:nvSpPr>
          <p:cNvPr id="9" name="Shape 6"/>
          <p:cNvSpPr/>
          <p:nvPr/>
        </p:nvSpPr>
        <p:spPr>
          <a:xfrm>
            <a:off x="2194560" y="1691640"/>
            <a:ext cx="4206240" cy="434340"/>
          </a:xfrm>
          <a:prstGeom prst="rect">
            <a:avLst/>
          </a:prstGeom>
          <a:solidFill>
            <a:srgbClr val="9DFF00">
              <a:alpha val="18000"/>
            </a:srgbClr>
          </a:solidFill>
          <a:ln w="12700">
            <a:solidFill>
              <a:srgbClr val="333333">
                <a:alpha val="0"/>
              </a:srgbClr>
            </a:solidFill>
            <a:prstDash val="solid"/>
          </a:ln>
        </p:spPr>
      </p:sp>
      <p:sp>
        <p:nvSpPr>
          <p:cNvPr id="10" name="Text 7"/>
          <p:cNvSpPr/>
          <p:nvPr/>
        </p:nvSpPr>
        <p:spPr>
          <a:xfrm>
            <a:off x="2235708" y="1723644"/>
            <a:ext cx="4123944" cy="370332"/>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Question answered</a:t>
            </a:r>
            <a:endParaRPr lang="en-US" sz="810" dirty="0"/>
          </a:p>
        </p:txBody>
      </p:sp>
      <p:sp>
        <p:nvSpPr>
          <p:cNvPr id="11" name="Shape 8"/>
          <p:cNvSpPr/>
          <p:nvPr/>
        </p:nvSpPr>
        <p:spPr>
          <a:xfrm>
            <a:off x="6400800" y="1691640"/>
            <a:ext cx="5120640" cy="434340"/>
          </a:xfrm>
          <a:prstGeom prst="rect">
            <a:avLst/>
          </a:prstGeom>
          <a:solidFill>
            <a:srgbClr val="9DFF00">
              <a:alpha val="18000"/>
            </a:srgbClr>
          </a:solidFill>
          <a:ln w="12700">
            <a:solidFill>
              <a:srgbClr val="333333">
                <a:alpha val="0"/>
              </a:srgbClr>
            </a:solidFill>
            <a:prstDash val="solid"/>
          </a:ln>
        </p:spPr>
      </p:sp>
      <p:sp>
        <p:nvSpPr>
          <p:cNvPr id="12" name="Text 9"/>
          <p:cNvSpPr/>
          <p:nvPr/>
        </p:nvSpPr>
        <p:spPr>
          <a:xfrm>
            <a:off x="6441948" y="1723644"/>
            <a:ext cx="5038344" cy="370332"/>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Why it matters here</a:t>
            </a:r>
            <a:endParaRPr lang="en-US" sz="810" dirty="0"/>
          </a:p>
        </p:txBody>
      </p:sp>
      <p:sp>
        <p:nvSpPr>
          <p:cNvPr id="13" name="Shape 10"/>
          <p:cNvSpPr/>
          <p:nvPr/>
        </p:nvSpPr>
        <p:spPr>
          <a:xfrm>
            <a:off x="685800" y="2125980"/>
            <a:ext cx="10835640" cy="0"/>
          </a:xfrm>
          <a:prstGeom prst="line">
            <a:avLst/>
          </a:prstGeom>
          <a:noFill/>
          <a:ln w="12700">
            <a:solidFill>
              <a:srgbClr val="9DFF00"/>
            </a:solidFill>
            <a:prstDash val="solid"/>
          </a:ln>
        </p:spPr>
      </p:sp>
      <p:sp>
        <p:nvSpPr>
          <p:cNvPr id="14" name="Text 11"/>
          <p:cNvSpPr/>
          <p:nvPr/>
        </p:nvSpPr>
        <p:spPr>
          <a:xfrm>
            <a:off x="726948" y="2157984"/>
            <a:ext cx="1426464" cy="370332"/>
          </a:xfrm>
          <a:prstGeom prst="rect">
            <a:avLst/>
          </a:prstGeom>
          <a:noFill/>
          <a:ln/>
        </p:spPr>
        <p:txBody>
          <a:bodyPr wrap="square" lIns="254" tIns="254" rIns="254" bIns="254" rtlCol="0" anchor="t">
            <a:normAutofit/>
          </a:bodyPr>
          <a:lstStyle/>
          <a:p>
            <a:pPr algn="l" indent="0" marL="0">
              <a:buNone/>
            </a:pPr>
            <a:r>
              <a:rPr lang="en-US" sz="780" dirty="0">
                <a:solidFill>
                  <a:srgbClr val="FFFFFF"/>
                </a:solidFill>
                <a:latin typeface="Aptos" pitchFamily="34" charset="0"/>
                <a:ea typeface="Aptos" pitchFamily="34" charset="-122"/>
                <a:cs typeface="Aptos" pitchFamily="34" charset="-120"/>
              </a:rPr>
              <a:t>PR-AUC</a:t>
            </a:r>
            <a:endParaRPr lang="en-US" sz="780" dirty="0"/>
          </a:p>
        </p:txBody>
      </p:sp>
      <p:sp>
        <p:nvSpPr>
          <p:cNvPr id="15" name="Text 12"/>
          <p:cNvSpPr/>
          <p:nvPr/>
        </p:nvSpPr>
        <p:spPr>
          <a:xfrm>
            <a:off x="2235708" y="2157984"/>
            <a:ext cx="4123944" cy="370332"/>
          </a:xfrm>
          <a:prstGeom prst="rect">
            <a:avLst/>
          </a:prstGeom>
          <a:noFill/>
          <a:ln/>
        </p:spPr>
        <p:txBody>
          <a:bodyPr wrap="square" lIns="254" tIns="254" rIns="254" bIns="254" rtlCol="0" anchor="t">
            <a:normAutofit/>
          </a:bodyPr>
          <a:lstStyle/>
          <a:p>
            <a:pPr algn="ctr" indent="0" marL="0">
              <a:buNone/>
            </a:pPr>
            <a:r>
              <a:rPr lang="en-US" sz="780" dirty="0">
                <a:solidFill>
                  <a:srgbClr val="FFFFFF"/>
                </a:solidFill>
                <a:latin typeface="Aptos" pitchFamily="34" charset="0"/>
                <a:ea typeface="Aptos" pitchFamily="34" charset="-122"/>
                <a:cs typeface="Aptos" pitchFamily="34" charset="-120"/>
              </a:rPr>
              <a:t>Can the model rank charge-offs above non-charge-offs?</a:t>
            </a:r>
            <a:endParaRPr lang="en-US" sz="780" dirty="0"/>
          </a:p>
        </p:txBody>
      </p:sp>
      <p:sp>
        <p:nvSpPr>
          <p:cNvPr id="16" name="Text 13"/>
          <p:cNvSpPr/>
          <p:nvPr/>
        </p:nvSpPr>
        <p:spPr>
          <a:xfrm>
            <a:off x="6441948" y="2157984"/>
            <a:ext cx="5038344" cy="370332"/>
          </a:xfrm>
          <a:prstGeom prst="rect">
            <a:avLst/>
          </a:prstGeom>
          <a:noFill/>
          <a:ln/>
        </p:spPr>
        <p:txBody>
          <a:bodyPr wrap="square" lIns="254" tIns="254" rIns="254" bIns="254" rtlCol="0" anchor="t">
            <a:normAutofit/>
          </a:bodyPr>
          <a:lstStyle/>
          <a:p>
            <a:pPr algn="ctr" indent="0" marL="0">
              <a:buNone/>
            </a:pPr>
            <a:r>
              <a:rPr lang="en-US" sz="780" dirty="0">
                <a:solidFill>
                  <a:srgbClr val="FFFFFF"/>
                </a:solidFill>
                <a:latin typeface="Aptos" pitchFamily="34" charset="0"/>
                <a:ea typeface="Aptos" pitchFamily="34" charset="-122"/>
                <a:cs typeface="Aptos" pitchFamily="34" charset="-120"/>
              </a:rPr>
              <a:t>Primary metric for rare positive class</a:t>
            </a:r>
            <a:endParaRPr lang="en-US" sz="780" dirty="0"/>
          </a:p>
        </p:txBody>
      </p:sp>
      <p:sp>
        <p:nvSpPr>
          <p:cNvPr id="17" name="Shape 14"/>
          <p:cNvSpPr/>
          <p:nvPr/>
        </p:nvSpPr>
        <p:spPr>
          <a:xfrm>
            <a:off x="685800" y="2560320"/>
            <a:ext cx="10835640" cy="0"/>
          </a:xfrm>
          <a:prstGeom prst="line">
            <a:avLst/>
          </a:prstGeom>
          <a:noFill/>
          <a:ln w="6350">
            <a:solidFill>
              <a:srgbClr val="2D342F">
                <a:alpha val="75000"/>
              </a:srgbClr>
            </a:solidFill>
            <a:prstDash val="solid"/>
          </a:ln>
        </p:spPr>
      </p:sp>
      <p:sp>
        <p:nvSpPr>
          <p:cNvPr id="18" name="Text 15"/>
          <p:cNvSpPr/>
          <p:nvPr/>
        </p:nvSpPr>
        <p:spPr>
          <a:xfrm>
            <a:off x="726948" y="2592324"/>
            <a:ext cx="1426464" cy="370332"/>
          </a:xfrm>
          <a:prstGeom prst="rect">
            <a:avLst/>
          </a:prstGeom>
          <a:noFill/>
          <a:ln/>
        </p:spPr>
        <p:txBody>
          <a:bodyPr wrap="square" lIns="254" tIns="254" rIns="254" bIns="254" rtlCol="0" anchor="t">
            <a:normAutofit/>
          </a:bodyPr>
          <a:lstStyle/>
          <a:p>
            <a:pPr algn="l" indent="0" marL="0">
              <a:buNone/>
            </a:pPr>
            <a:r>
              <a:rPr lang="en-US" sz="780" dirty="0">
                <a:solidFill>
                  <a:srgbClr val="FFFFFF"/>
                </a:solidFill>
                <a:latin typeface="Aptos" pitchFamily="34" charset="0"/>
                <a:ea typeface="Aptos" pitchFamily="34" charset="-122"/>
                <a:cs typeface="Aptos" pitchFamily="34" charset="-120"/>
              </a:rPr>
              <a:t>ROC-AUC</a:t>
            </a:r>
            <a:endParaRPr lang="en-US" sz="780" dirty="0"/>
          </a:p>
        </p:txBody>
      </p:sp>
      <p:sp>
        <p:nvSpPr>
          <p:cNvPr id="19" name="Text 16"/>
          <p:cNvSpPr/>
          <p:nvPr/>
        </p:nvSpPr>
        <p:spPr>
          <a:xfrm>
            <a:off x="2235708" y="2592324"/>
            <a:ext cx="4123944" cy="370332"/>
          </a:xfrm>
          <a:prstGeom prst="rect">
            <a:avLst/>
          </a:prstGeom>
          <a:noFill/>
          <a:ln/>
        </p:spPr>
        <p:txBody>
          <a:bodyPr wrap="square" lIns="254" tIns="254" rIns="254" bIns="254" rtlCol="0" anchor="t">
            <a:normAutofit/>
          </a:bodyPr>
          <a:lstStyle/>
          <a:p>
            <a:pPr algn="ctr" indent="0" marL="0">
              <a:buNone/>
            </a:pPr>
            <a:r>
              <a:rPr lang="en-US" sz="780" dirty="0">
                <a:solidFill>
                  <a:srgbClr val="FFFFFF"/>
                </a:solidFill>
                <a:latin typeface="Aptos" pitchFamily="34" charset="0"/>
                <a:ea typeface="Aptos" pitchFamily="34" charset="-122"/>
                <a:cs typeface="Aptos" pitchFamily="34" charset="-120"/>
              </a:rPr>
              <a:t>Can the model separate classes across thresholds?</a:t>
            </a:r>
            <a:endParaRPr lang="en-US" sz="780" dirty="0"/>
          </a:p>
        </p:txBody>
      </p:sp>
      <p:sp>
        <p:nvSpPr>
          <p:cNvPr id="20" name="Text 17"/>
          <p:cNvSpPr/>
          <p:nvPr/>
        </p:nvSpPr>
        <p:spPr>
          <a:xfrm>
            <a:off x="6441948" y="2592324"/>
            <a:ext cx="5038344" cy="370332"/>
          </a:xfrm>
          <a:prstGeom prst="rect">
            <a:avLst/>
          </a:prstGeom>
          <a:noFill/>
          <a:ln/>
        </p:spPr>
        <p:txBody>
          <a:bodyPr wrap="square" lIns="254" tIns="254" rIns="254" bIns="254" rtlCol="0" anchor="t">
            <a:normAutofit/>
          </a:bodyPr>
          <a:lstStyle/>
          <a:p>
            <a:pPr algn="ctr" indent="0" marL="0">
              <a:buNone/>
            </a:pPr>
            <a:r>
              <a:rPr lang="en-US" sz="780" dirty="0">
                <a:solidFill>
                  <a:srgbClr val="FFFFFF"/>
                </a:solidFill>
                <a:latin typeface="Aptos" pitchFamily="34" charset="0"/>
                <a:ea typeface="Aptos" pitchFamily="34" charset="-122"/>
                <a:cs typeface="Aptos" pitchFamily="34" charset="-120"/>
              </a:rPr>
              <a:t>Useful but can look optimistic when positives are rare</a:t>
            </a:r>
            <a:endParaRPr lang="en-US" sz="780" dirty="0"/>
          </a:p>
        </p:txBody>
      </p:sp>
      <p:sp>
        <p:nvSpPr>
          <p:cNvPr id="21" name="Shape 18"/>
          <p:cNvSpPr/>
          <p:nvPr/>
        </p:nvSpPr>
        <p:spPr>
          <a:xfrm>
            <a:off x="685800" y="2994660"/>
            <a:ext cx="10835640" cy="0"/>
          </a:xfrm>
          <a:prstGeom prst="line">
            <a:avLst/>
          </a:prstGeom>
          <a:noFill/>
          <a:ln w="6350">
            <a:solidFill>
              <a:srgbClr val="2D342F">
                <a:alpha val="75000"/>
              </a:srgbClr>
            </a:solidFill>
            <a:prstDash val="solid"/>
          </a:ln>
        </p:spPr>
      </p:sp>
      <p:sp>
        <p:nvSpPr>
          <p:cNvPr id="22" name="Text 19"/>
          <p:cNvSpPr/>
          <p:nvPr/>
        </p:nvSpPr>
        <p:spPr>
          <a:xfrm>
            <a:off x="726948" y="3026664"/>
            <a:ext cx="1426464" cy="370332"/>
          </a:xfrm>
          <a:prstGeom prst="rect">
            <a:avLst/>
          </a:prstGeom>
          <a:noFill/>
          <a:ln/>
        </p:spPr>
        <p:txBody>
          <a:bodyPr wrap="square" lIns="254" tIns="254" rIns="254" bIns="254" rtlCol="0" anchor="t">
            <a:normAutofit/>
          </a:bodyPr>
          <a:lstStyle/>
          <a:p>
            <a:pPr algn="l" indent="0" marL="0">
              <a:buNone/>
            </a:pPr>
            <a:r>
              <a:rPr lang="en-US" sz="780" dirty="0">
                <a:solidFill>
                  <a:srgbClr val="FFFFFF"/>
                </a:solidFill>
                <a:latin typeface="Aptos" pitchFamily="34" charset="0"/>
                <a:ea typeface="Aptos" pitchFamily="34" charset="-122"/>
                <a:cs typeface="Aptos" pitchFamily="34" charset="-120"/>
              </a:rPr>
              <a:t>Precision</a:t>
            </a:r>
            <a:endParaRPr lang="en-US" sz="780" dirty="0"/>
          </a:p>
        </p:txBody>
      </p:sp>
      <p:sp>
        <p:nvSpPr>
          <p:cNvPr id="23" name="Text 20"/>
          <p:cNvSpPr/>
          <p:nvPr/>
        </p:nvSpPr>
        <p:spPr>
          <a:xfrm>
            <a:off x="2235708" y="3026664"/>
            <a:ext cx="4123944" cy="370332"/>
          </a:xfrm>
          <a:prstGeom prst="rect">
            <a:avLst/>
          </a:prstGeom>
          <a:noFill/>
          <a:ln/>
        </p:spPr>
        <p:txBody>
          <a:bodyPr wrap="square" lIns="254" tIns="254" rIns="254" bIns="254" rtlCol="0" anchor="t">
            <a:normAutofit/>
          </a:bodyPr>
          <a:lstStyle/>
          <a:p>
            <a:pPr algn="ctr" indent="0" marL="0">
              <a:buNone/>
            </a:pPr>
            <a:r>
              <a:rPr lang="en-US" sz="780" dirty="0">
                <a:solidFill>
                  <a:srgbClr val="FFFFFF"/>
                </a:solidFill>
                <a:latin typeface="Aptos" pitchFamily="34" charset="0"/>
                <a:ea typeface="Aptos" pitchFamily="34" charset="-122"/>
                <a:cs typeface="Aptos" pitchFamily="34" charset="-120"/>
              </a:rPr>
              <a:t>Of flagged loans, how many charge off?</a:t>
            </a:r>
            <a:endParaRPr lang="en-US" sz="780" dirty="0"/>
          </a:p>
        </p:txBody>
      </p:sp>
      <p:sp>
        <p:nvSpPr>
          <p:cNvPr id="24" name="Text 21"/>
          <p:cNvSpPr/>
          <p:nvPr/>
        </p:nvSpPr>
        <p:spPr>
          <a:xfrm>
            <a:off x="6441948" y="3026664"/>
            <a:ext cx="5038344" cy="370332"/>
          </a:xfrm>
          <a:prstGeom prst="rect">
            <a:avLst/>
          </a:prstGeom>
          <a:noFill/>
          <a:ln/>
        </p:spPr>
        <p:txBody>
          <a:bodyPr wrap="square" lIns="254" tIns="254" rIns="254" bIns="254" rtlCol="0" anchor="t">
            <a:normAutofit/>
          </a:bodyPr>
          <a:lstStyle/>
          <a:p>
            <a:pPr algn="ctr" indent="0" marL="0">
              <a:buNone/>
            </a:pPr>
            <a:r>
              <a:rPr lang="en-US" sz="780" dirty="0">
                <a:solidFill>
                  <a:srgbClr val="FFFFFF"/>
                </a:solidFill>
                <a:latin typeface="Aptos" pitchFamily="34" charset="0"/>
                <a:ea typeface="Aptos" pitchFamily="34" charset="-122"/>
                <a:cs typeface="Aptos" pitchFamily="34" charset="-120"/>
              </a:rPr>
              <a:t>Measures review efficiency</a:t>
            </a:r>
            <a:endParaRPr lang="en-US" sz="780" dirty="0"/>
          </a:p>
        </p:txBody>
      </p:sp>
      <p:sp>
        <p:nvSpPr>
          <p:cNvPr id="25" name="Shape 22"/>
          <p:cNvSpPr/>
          <p:nvPr/>
        </p:nvSpPr>
        <p:spPr>
          <a:xfrm>
            <a:off x="685800" y="3429000"/>
            <a:ext cx="10835640" cy="0"/>
          </a:xfrm>
          <a:prstGeom prst="line">
            <a:avLst/>
          </a:prstGeom>
          <a:noFill/>
          <a:ln w="6350">
            <a:solidFill>
              <a:srgbClr val="2D342F">
                <a:alpha val="75000"/>
              </a:srgbClr>
            </a:solidFill>
            <a:prstDash val="solid"/>
          </a:ln>
        </p:spPr>
      </p:sp>
      <p:sp>
        <p:nvSpPr>
          <p:cNvPr id="26" name="Text 23"/>
          <p:cNvSpPr/>
          <p:nvPr/>
        </p:nvSpPr>
        <p:spPr>
          <a:xfrm>
            <a:off x="726948" y="3461004"/>
            <a:ext cx="1426464" cy="370332"/>
          </a:xfrm>
          <a:prstGeom prst="rect">
            <a:avLst/>
          </a:prstGeom>
          <a:noFill/>
          <a:ln/>
        </p:spPr>
        <p:txBody>
          <a:bodyPr wrap="square" lIns="254" tIns="254" rIns="254" bIns="254" rtlCol="0" anchor="t">
            <a:normAutofit/>
          </a:bodyPr>
          <a:lstStyle/>
          <a:p>
            <a:pPr algn="l" indent="0" marL="0">
              <a:buNone/>
            </a:pPr>
            <a:r>
              <a:rPr lang="en-US" sz="780" dirty="0">
                <a:solidFill>
                  <a:srgbClr val="FFFFFF"/>
                </a:solidFill>
                <a:latin typeface="Aptos" pitchFamily="34" charset="0"/>
                <a:ea typeface="Aptos" pitchFamily="34" charset="-122"/>
                <a:cs typeface="Aptos" pitchFamily="34" charset="-120"/>
              </a:rPr>
              <a:t>Recall</a:t>
            </a:r>
            <a:endParaRPr lang="en-US" sz="780" dirty="0"/>
          </a:p>
        </p:txBody>
      </p:sp>
      <p:sp>
        <p:nvSpPr>
          <p:cNvPr id="27" name="Text 24"/>
          <p:cNvSpPr/>
          <p:nvPr/>
        </p:nvSpPr>
        <p:spPr>
          <a:xfrm>
            <a:off x="2235708" y="3461004"/>
            <a:ext cx="4123944" cy="370332"/>
          </a:xfrm>
          <a:prstGeom prst="rect">
            <a:avLst/>
          </a:prstGeom>
          <a:noFill/>
          <a:ln/>
        </p:spPr>
        <p:txBody>
          <a:bodyPr wrap="square" lIns="254" tIns="254" rIns="254" bIns="254" rtlCol="0" anchor="t">
            <a:normAutofit/>
          </a:bodyPr>
          <a:lstStyle/>
          <a:p>
            <a:pPr algn="ctr" indent="0" marL="0">
              <a:buNone/>
            </a:pPr>
            <a:r>
              <a:rPr lang="en-US" sz="780" dirty="0">
                <a:solidFill>
                  <a:srgbClr val="FFFFFF"/>
                </a:solidFill>
                <a:latin typeface="Aptos" pitchFamily="34" charset="0"/>
                <a:ea typeface="Aptos" pitchFamily="34" charset="-122"/>
                <a:cs typeface="Aptos" pitchFamily="34" charset="-120"/>
              </a:rPr>
              <a:t>Of all charge-offs, how many are caught?</a:t>
            </a:r>
            <a:endParaRPr lang="en-US" sz="780" dirty="0"/>
          </a:p>
        </p:txBody>
      </p:sp>
      <p:sp>
        <p:nvSpPr>
          <p:cNvPr id="28" name="Text 25"/>
          <p:cNvSpPr/>
          <p:nvPr/>
        </p:nvSpPr>
        <p:spPr>
          <a:xfrm>
            <a:off x="6441948" y="3461004"/>
            <a:ext cx="5038344" cy="370332"/>
          </a:xfrm>
          <a:prstGeom prst="rect">
            <a:avLst/>
          </a:prstGeom>
          <a:noFill/>
          <a:ln/>
        </p:spPr>
        <p:txBody>
          <a:bodyPr wrap="square" lIns="254" tIns="254" rIns="254" bIns="254" rtlCol="0" anchor="t">
            <a:normAutofit/>
          </a:bodyPr>
          <a:lstStyle/>
          <a:p>
            <a:pPr algn="ctr" indent="0" marL="0">
              <a:buNone/>
            </a:pPr>
            <a:r>
              <a:rPr lang="en-US" sz="780" dirty="0">
                <a:solidFill>
                  <a:srgbClr val="FFFFFF"/>
                </a:solidFill>
                <a:latin typeface="Aptos" pitchFamily="34" charset="0"/>
                <a:ea typeface="Aptos" pitchFamily="34" charset="-122"/>
                <a:cs typeface="Aptos" pitchFamily="34" charset="-120"/>
              </a:rPr>
              <a:t>Measures missed-risk control</a:t>
            </a:r>
            <a:endParaRPr lang="en-US" sz="780" dirty="0"/>
          </a:p>
        </p:txBody>
      </p:sp>
      <p:sp>
        <p:nvSpPr>
          <p:cNvPr id="29" name="Shape 26"/>
          <p:cNvSpPr/>
          <p:nvPr/>
        </p:nvSpPr>
        <p:spPr>
          <a:xfrm>
            <a:off x="685800" y="3863340"/>
            <a:ext cx="10835640" cy="0"/>
          </a:xfrm>
          <a:prstGeom prst="line">
            <a:avLst/>
          </a:prstGeom>
          <a:noFill/>
          <a:ln w="6350">
            <a:solidFill>
              <a:srgbClr val="2D342F">
                <a:alpha val="75000"/>
              </a:srgbClr>
            </a:solidFill>
            <a:prstDash val="solid"/>
          </a:ln>
        </p:spPr>
      </p:sp>
      <p:sp>
        <p:nvSpPr>
          <p:cNvPr id="30" name="Text 27"/>
          <p:cNvSpPr/>
          <p:nvPr/>
        </p:nvSpPr>
        <p:spPr>
          <a:xfrm>
            <a:off x="726948" y="3895344"/>
            <a:ext cx="1426464" cy="370332"/>
          </a:xfrm>
          <a:prstGeom prst="rect">
            <a:avLst/>
          </a:prstGeom>
          <a:noFill/>
          <a:ln/>
        </p:spPr>
        <p:txBody>
          <a:bodyPr wrap="square" lIns="254" tIns="254" rIns="254" bIns="254" rtlCol="0" anchor="t">
            <a:normAutofit/>
          </a:bodyPr>
          <a:lstStyle/>
          <a:p>
            <a:pPr algn="l" indent="0" marL="0">
              <a:buNone/>
            </a:pPr>
            <a:r>
              <a:rPr lang="en-US" sz="780" dirty="0">
                <a:solidFill>
                  <a:srgbClr val="FFFFFF"/>
                </a:solidFill>
                <a:latin typeface="Aptos" pitchFamily="34" charset="0"/>
                <a:ea typeface="Aptos" pitchFamily="34" charset="-122"/>
                <a:cs typeface="Aptos" pitchFamily="34" charset="-120"/>
              </a:rPr>
              <a:t>F1</a:t>
            </a:r>
            <a:endParaRPr lang="en-US" sz="780" dirty="0"/>
          </a:p>
        </p:txBody>
      </p:sp>
      <p:sp>
        <p:nvSpPr>
          <p:cNvPr id="31" name="Text 28"/>
          <p:cNvSpPr/>
          <p:nvPr/>
        </p:nvSpPr>
        <p:spPr>
          <a:xfrm>
            <a:off x="2235708" y="3895344"/>
            <a:ext cx="4123944" cy="370332"/>
          </a:xfrm>
          <a:prstGeom prst="rect">
            <a:avLst/>
          </a:prstGeom>
          <a:noFill/>
          <a:ln/>
        </p:spPr>
        <p:txBody>
          <a:bodyPr wrap="square" lIns="254" tIns="254" rIns="254" bIns="254" rtlCol="0" anchor="t">
            <a:normAutofit/>
          </a:bodyPr>
          <a:lstStyle/>
          <a:p>
            <a:pPr algn="ctr" indent="0" marL="0">
              <a:buNone/>
            </a:pPr>
            <a:r>
              <a:rPr lang="en-US" sz="780" dirty="0">
                <a:solidFill>
                  <a:srgbClr val="FFFFFF"/>
                </a:solidFill>
                <a:latin typeface="Aptos" pitchFamily="34" charset="0"/>
                <a:ea typeface="Aptos" pitchFamily="34" charset="-122"/>
                <a:cs typeface="Aptos" pitchFamily="34" charset="-120"/>
              </a:rPr>
              <a:t>Balance between precision and recall</a:t>
            </a:r>
            <a:endParaRPr lang="en-US" sz="780" dirty="0"/>
          </a:p>
        </p:txBody>
      </p:sp>
      <p:sp>
        <p:nvSpPr>
          <p:cNvPr id="32" name="Text 29"/>
          <p:cNvSpPr/>
          <p:nvPr/>
        </p:nvSpPr>
        <p:spPr>
          <a:xfrm>
            <a:off x="6441948" y="3895344"/>
            <a:ext cx="5038344" cy="370332"/>
          </a:xfrm>
          <a:prstGeom prst="rect">
            <a:avLst/>
          </a:prstGeom>
          <a:noFill/>
          <a:ln/>
        </p:spPr>
        <p:txBody>
          <a:bodyPr wrap="square" lIns="254" tIns="254" rIns="254" bIns="254" rtlCol="0" anchor="t">
            <a:normAutofit/>
          </a:bodyPr>
          <a:lstStyle/>
          <a:p>
            <a:pPr algn="ctr" indent="0" marL="0">
              <a:buNone/>
            </a:pPr>
            <a:r>
              <a:rPr lang="en-US" sz="780" dirty="0">
                <a:solidFill>
                  <a:srgbClr val="FFFFFF"/>
                </a:solidFill>
                <a:latin typeface="Aptos" pitchFamily="34" charset="0"/>
                <a:ea typeface="Aptos" pitchFamily="34" charset="-122"/>
                <a:cs typeface="Aptos" pitchFamily="34" charset="-120"/>
              </a:rPr>
              <a:t>Used to choose initial validation threshold</a:t>
            </a:r>
            <a:endParaRPr lang="en-US" sz="780" dirty="0"/>
          </a:p>
        </p:txBody>
      </p:sp>
      <p:sp>
        <p:nvSpPr>
          <p:cNvPr id="33" name="Shape 30"/>
          <p:cNvSpPr/>
          <p:nvPr/>
        </p:nvSpPr>
        <p:spPr>
          <a:xfrm>
            <a:off x="685800" y="4297680"/>
            <a:ext cx="10835640" cy="0"/>
          </a:xfrm>
          <a:prstGeom prst="line">
            <a:avLst/>
          </a:prstGeom>
          <a:noFill/>
          <a:ln w="6350">
            <a:solidFill>
              <a:srgbClr val="2D342F">
                <a:alpha val="75000"/>
              </a:srgbClr>
            </a:solidFill>
            <a:prstDash val="solid"/>
          </a:ln>
        </p:spPr>
      </p:sp>
      <p:sp>
        <p:nvSpPr>
          <p:cNvPr id="34" name="Shape 31"/>
          <p:cNvSpPr/>
          <p:nvPr/>
        </p:nvSpPr>
        <p:spPr>
          <a:xfrm>
            <a:off x="868680" y="4892040"/>
            <a:ext cx="10149840" cy="731520"/>
          </a:xfrm>
          <a:prstGeom prst="roundRect">
            <a:avLst>
              <a:gd name="adj" fmla="val 10000"/>
            </a:avLst>
          </a:prstGeom>
          <a:solidFill>
            <a:srgbClr val="000000">
              <a:alpha val="88000"/>
            </a:srgbClr>
          </a:solidFill>
          <a:ln w="12700">
            <a:solidFill>
              <a:srgbClr val="9DFF00">
                <a:alpha val="34000"/>
              </a:srgbClr>
            </a:solidFill>
            <a:prstDash val="solid"/>
          </a:ln>
        </p:spPr>
      </p:sp>
      <p:sp>
        <p:nvSpPr>
          <p:cNvPr id="35" name="Text 32"/>
          <p:cNvSpPr/>
          <p:nvPr/>
        </p:nvSpPr>
        <p:spPr>
          <a:xfrm>
            <a:off x="1170432" y="5102352"/>
            <a:ext cx="9601200" cy="228600"/>
          </a:xfrm>
          <a:prstGeom prst="rect">
            <a:avLst/>
          </a:prstGeom>
          <a:noFill/>
          <a:ln/>
        </p:spPr>
        <p:txBody>
          <a:bodyPr wrap="square" lIns="254" tIns="254" rIns="254" bIns="254" rtlCol="0" anchor="t">
            <a:normAutofit/>
          </a:bodyPr>
          <a:lstStyle/>
          <a:p>
            <a:pPr algn="ctr" indent="0" marL="0">
              <a:buNone/>
            </a:pPr>
            <a:r>
              <a:rPr lang="en-US" sz="1360" b="1" dirty="0">
                <a:solidFill>
                  <a:srgbClr val="9DFF00"/>
                </a:solidFill>
                <a:latin typeface="Aptos" pitchFamily="34" charset="0"/>
                <a:ea typeface="Aptos" pitchFamily="34" charset="-122"/>
                <a:cs typeface="Aptos" pitchFamily="34" charset="-120"/>
              </a:rPr>
              <a:t>Business translation: false positives create extra review; false negatives are risky loans that the model misses.</a:t>
            </a:r>
            <a:endParaRPr lang="en-US" sz="1360" dirty="0"/>
          </a:p>
        </p:txBody>
      </p:sp>
      <p:sp>
        <p:nvSpPr>
          <p:cNvPr id="36" name="Text 33"/>
          <p:cNvSpPr/>
          <p:nvPr/>
        </p:nvSpPr>
        <p:spPr>
          <a:xfrm>
            <a:off x="566928" y="6473952"/>
            <a:ext cx="6217920" cy="201168"/>
          </a:xfrm>
          <a:prstGeom prst="rect">
            <a:avLst/>
          </a:prstGeom>
          <a:noFill/>
          <a:ln/>
        </p:spPr>
        <p:txBody>
          <a:bodyPr wrap="square" lIns="0" tIns="0" rIns="0" bIns="0" rtlCol="0" anchor="ctr"/>
          <a:lstStyle/>
          <a:p>
            <a:pPr indent="0" marL="0">
              <a:buNone/>
            </a:pPr>
            <a:r>
              <a:rPr lang="en-US" sz="740" dirty="0">
                <a:solidFill>
                  <a:srgbClr val="C4CDC6"/>
                </a:solidFill>
              </a:rPr>
              <a:t>DATA 400 | SBA 7(a) Credit-Risk Mini Project</a:t>
            </a:r>
            <a:endParaRPr lang="en-US" sz="740" dirty="0"/>
          </a:p>
        </p:txBody>
      </p:sp>
      <p:sp>
        <p:nvSpPr>
          <p:cNvPr id="37" name="Text 34"/>
          <p:cNvSpPr/>
          <p:nvPr/>
        </p:nvSpPr>
        <p:spPr>
          <a:xfrm>
            <a:off x="11082528" y="6455664"/>
            <a:ext cx="502920" cy="201168"/>
          </a:xfrm>
          <a:prstGeom prst="rect">
            <a:avLst/>
          </a:prstGeom>
          <a:noFill/>
          <a:ln/>
        </p:spPr>
        <p:txBody>
          <a:bodyPr wrap="square" lIns="0" tIns="0" rIns="0" bIns="0" rtlCol="0" anchor="ctr"/>
          <a:lstStyle/>
          <a:p>
            <a:pPr algn="r" indent="0" marL="0">
              <a:buNone/>
            </a:pPr>
            <a:r>
              <a:rPr lang="en-US" sz="800" b="1" dirty="0">
                <a:solidFill>
                  <a:srgbClr val="9DFF00"/>
                </a:solidFill>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50607"/>
        </a:solidFill>
      </p:bgPr>
    </p:bg>
    <p:spTree>
      <p:nvGrpSpPr>
        <p:cNvPr id="1" name=""/>
        <p:cNvGrpSpPr/>
        <p:nvPr/>
      </p:nvGrpSpPr>
      <p:grpSpPr>
        <a:xfrm>
          <a:off x="0" y="0"/>
          <a:ext cx="0" cy="0"/>
          <a:chOff x="0" y="0"/>
          <a:chExt cx="0" cy="0"/>
        </a:xfrm>
      </p:grpSpPr>
      <p:pic>
        <p:nvPicPr>
          <p:cNvPr id="2" name="Image 0" descr="/mnt/data/sample_ppt_extract/ppt/media/dark_image7.jpeg">    </p:cNvPr>
          <p:cNvPicPr>
            <a:picLocks noChangeAspect="1"/>
          </p:cNvPicPr>
          <p:nvPr/>
        </p:nvPicPr>
        <p:blipFill>
          <a:blip r:embed="rId1"/>
          <a:srcRect l="0" r="0" t="3135" b="3135"/>
          <a:stretch/>
        </p:blipFill>
        <p:spPr>
          <a:xfrm>
            <a:off x="0" y="0"/>
            <a:ext cx="12191695" cy="6858000"/>
          </a:xfrm>
          <a:prstGeom prst="rect">
            <a:avLst/>
          </a:prstGeom>
        </p:spPr>
      </p:pic>
      <p:sp>
        <p:nvSpPr>
          <p:cNvPr id="3" name="Shape 0"/>
          <p:cNvSpPr/>
          <p:nvPr/>
        </p:nvSpPr>
        <p:spPr>
          <a:xfrm>
            <a:off x="201168" y="256032"/>
            <a:ext cx="50292" cy="6263640"/>
          </a:xfrm>
          <a:prstGeom prst="rect">
            <a:avLst/>
          </a:prstGeom>
          <a:solidFill>
            <a:srgbClr val="9DFF00"/>
          </a:solidFill>
          <a:ln w="12700">
            <a:solidFill>
              <a:srgbClr val="333333">
                <a:alpha val="0"/>
              </a:srgbClr>
            </a:solidFill>
            <a:prstDash val="solid"/>
          </a:ln>
        </p:spPr>
      </p:sp>
      <p:sp>
        <p:nvSpPr>
          <p:cNvPr id="4" name="Text 1"/>
          <p:cNvSpPr/>
          <p:nvPr/>
        </p:nvSpPr>
        <p:spPr>
          <a:xfrm>
            <a:off x="566928" y="310896"/>
            <a:ext cx="4754880" cy="228600"/>
          </a:xfrm>
          <a:prstGeom prst="rect">
            <a:avLst/>
          </a:prstGeom>
          <a:noFill/>
          <a:ln/>
        </p:spPr>
        <p:txBody>
          <a:bodyPr wrap="square" lIns="0" tIns="0" rIns="0" bIns="0" rtlCol="0" anchor="ctr">
            <a:normAutofit/>
          </a:bodyPr>
          <a:lstStyle/>
          <a:p>
            <a:pPr indent="0" marL="0">
              <a:buNone/>
            </a:pPr>
            <a:r>
              <a:rPr lang="en-US" sz="850" b="1" dirty="0">
                <a:solidFill>
                  <a:srgbClr val="9DFF00"/>
                </a:solidFill>
                <a:latin typeface="Aptos" pitchFamily="34" charset="0"/>
                <a:ea typeface="Aptos" pitchFamily="34" charset="-122"/>
                <a:cs typeface="Aptos" pitchFamily="34" charset="-120"/>
              </a:rPr>
              <a:t>VALIDATION MODEL COMPARISON</a:t>
            </a:r>
            <a:endParaRPr lang="en-US" sz="850" dirty="0"/>
          </a:p>
        </p:txBody>
      </p:sp>
      <p:sp>
        <p:nvSpPr>
          <p:cNvPr id="5" name="Text 2"/>
          <p:cNvSpPr/>
          <p:nvPr/>
        </p:nvSpPr>
        <p:spPr>
          <a:xfrm>
            <a:off x="566928" y="621792"/>
            <a:ext cx="10652760" cy="566928"/>
          </a:xfrm>
          <a:prstGeom prst="rect">
            <a:avLst/>
          </a:prstGeom>
          <a:noFill/>
          <a:ln/>
        </p:spPr>
        <p:txBody>
          <a:bodyPr wrap="square" lIns="0" tIns="0" rIns="0" bIns="0" rtlCol="0" anchor="ctr">
            <a:normAutofit/>
          </a:bodyPr>
          <a:lstStyle/>
          <a:p>
            <a:pPr indent="0" marL="0">
              <a:buNone/>
            </a:pPr>
            <a:r>
              <a:rPr lang="en-US" sz="2450" b="1" dirty="0">
                <a:solidFill>
                  <a:srgbClr val="FFFFFF"/>
                </a:solidFill>
                <a:latin typeface="Aptos Display" pitchFamily="34" charset="0"/>
                <a:ea typeface="Aptos Display" pitchFamily="34" charset="-122"/>
                <a:cs typeface="Aptos Display" pitchFamily="34" charset="-120"/>
              </a:rPr>
              <a:t>Random Forest has the strongest precision-recall ranking</a:t>
            </a:r>
            <a:endParaRPr lang="en-US" sz="2450" dirty="0"/>
          </a:p>
        </p:txBody>
      </p:sp>
      <p:sp>
        <p:nvSpPr>
          <p:cNvPr id="6" name="Shape 3"/>
          <p:cNvSpPr/>
          <p:nvPr/>
        </p:nvSpPr>
        <p:spPr>
          <a:xfrm>
            <a:off x="566928" y="1307592"/>
            <a:ext cx="10716768" cy="0"/>
          </a:xfrm>
          <a:prstGeom prst="line">
            <a:avLst/>
          </a:prstGeom>
          <a:noFill/>
          <a:ln w="13335">
            <a:solidFill>
              <a:srgbClr val="9DFF00">
                <a:alpha val="95000"/>
              </a:srgbClr>
            </a:solidFill>
            <a:prstDash val="solid"/>
          </a:ln>
        </p:spPr>
      </p:sp>
      <p:sp>
        <p:nvSpPr>
          <p:cNvPr id="7" name="Shape 4"/>
          <p:cNvSpPr/>
          <p:nvPr/>
        </p:nvSpPr>
        <p:spPr>
          <a:xfrm>
            <a:off x="685800" y="1691640"/>
            <a:ext cx="2734227" cy="411480"/>
          </a:xfrm>
          <a:prstGeom prst="rect">
            <a:avLst/>
          </a:prstGeom>
          <a:solidFill>
            <a:srgbClr val="9DFF00">
              <a:alpha val="18000"/>
            </a:srgbClr>
          </a:solidFill>
          <a:ln w="12700">
            <a:solidFill>
              <a:srgbClr val="333333">
                <a:alpha val="0"/>
              </a:srgbClr>
            </a:solidFill>
            <a:prstDash val="solid"/>
          </a:ln>
        </p:spPr>
      </p:sp>
      <p:sp>
        <p:nvSpPr>
          <p:cNvPr id="8" name="Text 5"/>
          <p:cNvSpPr/>
          <p:nvPr/>
        </p:nvSpPr>
        <p:spPr>
          <a:xfrm>
            <a:off x="726948" y="1723644"/>
            <a:ext cx="2651931" cy="347472"/>
          </a:xfrm>
          <a:prstGeom prst="rect">
            <a:avLst/>
          </a:prstGeom>
          <a:noFill/>
          <a:ln/>
        </p:spPr>
        <p:txBody>
          <a:bodyPr wrap="square" lIns="254" tIns="254" rIns="254" bIns="254" rtlCol="0" anchor="t">
            <a:normAutofit/>
          </a:bodyPr>
          <a:lstStyle/>
          <a:p>
            <a:pPr algn="l" indent="0" marL="0">
              <a:buNone/>
            </a:pPr>
            <a:r>
              <a:rPr lang="en-US" sz="810" b="1" dirty="0">
                <a:solidFill>
                  <a:srgbClr val="9DFF00"/>
                </a:solidFill>
                <a:latin typeface="Aptos" pitchFamily="34" charset="0"/>
                <a:ea typeface="Aptos" pitchFamily="34" charset="-122"/>
                <a:cs typeface="Aptos" pitchFamily="34" charset="-120"/>
              </a:rPr>
              <a:t>Model</a:t>
            </a:r>
            <a:endParaRPr lang="en-US" sz="810" dirty="0"/>
          </a:p>
        </p:txBody>
      </p:sp>
      <p:sp>
        <p:nvSpPr>
          <p:cNvPr id="9" name="Shape 6"/>
          <p:cNvSpPr/>
          <p:nvPr/>
        </p:nvSpPr>
        <p:spPr>
          <a:xfrm>
            <a:off x="3420027" y="1691640"/>
            <a:ext cx="2126621" cy="411480"/>
          </a:xfrm>
          <a:prstGeom prst="rect">
            <a:avLst/>
          </a:prstGeom>
          <a:solidFill>
            <a:srgbClr val="9DFF00">
              <a:alpha val="18000"/>
            </a:srgbClr>
          </a:solidFill>
          <a:ln w="12700">
            <a:solidFill>
              <a:srgbClr val="333333">
                <a:alpha val="0"/>
              </a:srgbClr>
            </a:solidFill>
            <a:prstDash val="solid"/>
          </a:ln>
        </p:spPr>
      </p:sp>
      <p:sp>
        <p:nvSpPr>
          <p:cNvPr id="10" name="Text 7"/>
          <p:cNvSpPr/>
          <p:nvPr/>
        </p:nvSpPr>
        <p:spPr>
          <a:xfrm>
            <a:off x="3461175" y="1723644"/>
            <a:ext cx="2044325" cy="347472"/>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Train PR-AUC</a:t>
            </a:r>
            <a:endParaRPr lang="en-US" sz="810" dirty="0"/>
          </a:p>
        </p:txBody>
      </p:sp>
      <p:sp>
        <p:nvSpPr>
          <p:cNvPr id="11" name="Shape 8"/>
          <p:cNvSpPr/>
          <p:nvPr/>
        </p:nvSpPr>
        <p:spPr>
          <a:xfrm>
            <a:off x="5546648" y="1691640"/>
            <a:ext cx="2329156" cy="411480"/>
          </a:xfrm>
          <a:prstGeom prst="rect">
            <a:avLst/>
          </a:prstGeom>
          <a:solidFill>
            <a:srgbClr val="9DFF00">
              <a:alpha val="18000"/>
            </a:srgbClr>
          </a:solidFill>
          <a:ln w="12700">
            <a:solidFill>
              <a:srgbClr val="333333">
                <a:alpha val="0"/>
              </a:srgbClr>
            </a:solidFill>
            <a:prstDash val="solid"/>
          </a:ln>
        </p:spPr>
      </p:sp>
      <p:sp>
        <p:nvSpPr>
          <p:cNvPr id="12" name="Text 9"/>
          <p:cNvSpPr/>
          <p:nvPr/>
        </p:nvSpPr>
        <p:spPr>
          <a:xfrm>
            <a:off x="5587796" y="1723644"/>
            <a:ext cx="2246860" cy="347472"/>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Validation PR-AUC</a:t>
            </a:r>
            <a:endParaRPr lang="en-US" sz="810" dirty="0"/>
          </a:p>
        </p:txBody>
      </p:sp>
      <p:sp>
        <p:nvSpPr>
          <p:cNvPr id="13" name="Shape 10"/>
          <p:cNvSpPr/>
          <p:nvPr/>
        </p:nvSpPr>
        <p:spPr>
          <a:xfrm>
            <a:off x="7875804" y="1691640"/>
            <a:ext cx="1265846" cy="411480"/>
          </a:xfrm>
          <a:prstGeom prst="rect">
            <a:avLst/>
          </a:prstGeom>
          <a:solidFill>
            <a:srgbClr val="9DFF00">
              <a:alpha val="18000"/>
            </a:srgbClr>
          </a:solidFill>
          <a:ln w="12700">
            <a:solidFill>
              <a:srgbClr val="333333">
                <a:alpha val="0"/>
              </a:srgbClr>
            </a:solidFill>
            <a:prstDash val="solid"/>
          </a:ln>
        </p:spPr>
      </p:sp>
      <p:sp>
        <p:nvSpPr>
          <p:cNvPr id="14" name="Text 11"/>
          <p:cNvSpPr/>
          <p:nvPr/>
        </p:nvSpPr>
        <p:spPr>
          <a:xfrm>
            <a:off x="7916952" y="1723644"/>
            <a:ext cx="1183550" cy="347472"/>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Gap</a:t>
            </a:r>
            <a:endParaRPr lang="en-US" sz="810" dirty="0"/>
          </a:p>
        </p:txBody>
      </p:sp>
      <p:sp>
        <p:nvSpPr>
          <p:cNvPr id="15" name="Shape 12"/>
          <p:cNvSpPr/>
          <p:nvPr/>
        </p:nvSpPr>
        <p:spPr>
          <a:xfrm>
            <a:off x="9141650" y="1691640"/>
            <a:ext cx="2379790" cy="411480"/>
          </a:xfrm>
          <a:prstGeom prst="rect">
            <a:avLst/>
          </a:prstGeom>
          <a:solidFill>
            <a:srgbClr val="9DFF00">
              <a:alpha val="18000"/>
            </a:srgbClr>
          </a:solidFill>
          <a:ln w="12700">
            <a:solidFill>
              <a:srgbClr val="333333">
                <a:alpha val="0"/>
              </a:srgbClr>
            </a:solidFill>
            <a:prstDash val="solid"/>
          </a:ln>
        </p:spPr>
      </p:sp>
      <p:sp>
        <p:nvSpPr>
          <p:cNvPr id="16" name="Text 13"/>
          <p:cNvSpPr/>
          <p:nvPr/>
        </p:nvSpPr>
        <p:spPr>
          <a:xfrm>
            <a:off x="9182798" y="1723644"/>
            <a:ext cx="2297494" cy="347472"/>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Validation ROC-AUC</a:t>
            </a:r>
            <a:endParaRPr lang="en-US" sz="810" dirty="0"/>
          </a:p>
        </p:txBody>
      </p:sp>
      <p:sp>
        <p:nvSpPr>
          <p:cNvPr id="17" name="Shape 14"/>
          <p:cNvSpPr/>
          <p:nvPr/>
        </p:nvSpPr>
        <p:spPr>
          <a:xfrm>
            <a:off x="685800" y="2103120"/>
            <a:ext cx="10835640" cy="0"/>
          </a:xfrm>
          <a:prstGeom prst="line">
            <a:avLst/>
          </a:prstGeom>
          <a:noFill/>
          <a:ln w="12700">
            <a:solidFill>
              <a:srgbClr val="9DFF00"/>
            </a:solidFill>
            <a:prstDash val="solid"/>
          </a:ln>
        </p:spPr>
      </p:sp>
      <p:sp>
        <p:nvSpPr>
          <p:cNvPr id="18" name="Text 15"/>
          <p:cNvSpPr/>
          <p:nvPr/>
        </p:nvSpPr>
        <p:spPr>
          <a:xfrm>
            <a:off x="726948" y="2135124"/>
            <a:ext cx="2651931" cy="347472"/>
          </a:xfrm>
          <a:prstGeom prst="rect">
            <a:avLst/>
          </a:prstGeom>
          <a:noFill/>
          <a:ln/>
        </p:spPr>
        <p:txBody>
          <a:bodyPr wrap="square" lIns="254" tIns="254" rIns="254" bIns="254" rtlCol="0" anchor="t">
            <a:normAutofit/>
          </a:bodyPr>
          <a:lstStyle/>
          <a:p>
            <a:pPr algn="l" indent="0" marL="0">
              <a:buNone/>
            </a:pPr>
            <a:r>
              <a:rPr lang="en-US" sz="880" b="1" dirty="0">
                <a:solidFill>
                  <a:srgbClr val="9DFF00"/>
                </a:solidFill>
                <a:latin typeface="Aptos" pitchFamily="34" charset="0"/>
                <a:ea typeface="Aptos" pitchFamily="34" charset="-122"/>
                <a:cs typeface="Aptos" pitchFamily="34" charset="-120"/>
              </a:rPr>
              <a:t>Random Forest</a:t>
            </a:r>
            <a:endParaRPr lang="en-US" sz="880" dirty="0"/>
          </a:p>
        </p:txBody>
      </p:sp>
      <p:sp>
        <p:nvSpPr>
          <p:cNvPr id="19" name="Text 16"/>
          <p:cNvSpPr/>
          <p:nvPr/>
        </p:nvSpPr>
        <p:spPr>
          <a:xfrm>
            <a:off x="3461175" y="2135124"/>
            <a:ext cx="2044325" cy="347472"/>
          </a:xfrm>
          <a:prstGeom prst="rect">
            <a:avLst/>
          </a:prstGeom>
          <a:noFill/>
          <a:ln/>
        </p:spPr>
        <p:txBody>
          <a:bodyPr wrap="square" lIns="254" tIns="254" rIns="254" bIns="254" rtlCol="0" anchor="t">
            <a:normAutofit/>
          </a:bodyPr>
          <a:lstStyle/>
          <a:p>
            <a:pPr algn="ctr" indent="0" marL="0">
              <a:buNone/>
            </a:pPr>
            <a:r>
              <a:rPr lang="en-US" sz="880" b="1" dirty="0">
                <a:solidFill>
                  <a:srgbClr val="9DFF00"/>
                </a:solidFill>
                <a:latin typeface="Aptos" pitchFamily="34" charset="0"/>
                <a:ea typeface="Aptos" pitchFamily="34" charset="-122"/>
                <a:cs typeface="Aptos" pitchFamily="34" charset="-120"/>
              </a:rPr>
              <a:t>0.459</a:t>
            </a:r>
            <a:endParaRPr lang="en-US" sz="880" dirty="0"/>
          </a:p>
        </p:txBody>
      </p:sp>
      <p:sp>
        <p:nvSpPr>
          <p:cNvPr id="20" name="Text 17"/>
          <p:cNvSpPr/>
          <p:nvPr/>
        </p:nvSpPr>
        <p:spPr>
          <a:xfrm>
            <a:off x="5587796" y="2135124"/>
            <a:ext cx="2246860" cy="347472"/>
          </a:xfrm>
          <a:prstGeom prst="rect">
            <a:avLst/>
          </a:prstGeom>
          <a:noFill/>
          <a:ln/>
        </p:spPr>
        <p:txBody>
          <a:bodyPr wrap="square" lIns="254" tIns="254" rIns="254" bIns="254" rtlCol="0" anchor="t">
            <a:normAutofit/>
          </a:bodyPr>
          <a:lstStyle/>
          <a:p>
            <a:pPr algn="ctr" indent="0" marL="0">
              <a:buNone/>
            </a:pPr>
            <a:r>
              <a:rPr lang="en-US" sz="880" b="1" dirty="0">
                <a:solidFill>
                  <a:srgbClr val="9DFF00"/>
                </a:solidFill>
                <a:latin typeface="Aptos" pitchFamily="34" charset="0"/>
                <a:ea typeface="Aptos" pitchFamily="34" charset="-122"/>
                <a:cs typeface="Aptos" pitchFamily="34" charset="-120"/>
              </a:rPr>
              <a:t>0.337</a:t>
            </a:r>
            <a:endParaRPr lang="en-US" sz="880" dirty="0"/>
          </a:p>
        </p:txBody>
      </p:sp>
      <p:sp>
        <p:nvSpPr>
          <p:cNvPr id="21" name="Text 18"/>
          <p:cNvSpPr/>
          <p:nvPr/>
        </p:nvSpPr>
        <p:spPr>
          <a:xfrm>
            <a:off x="7916952" y="2135124"/>
            <a:ext cx="1183550" cy="347472"/>
          </a:xfrm>
          <a:prstGeom prst="rect">
            <a:avLst/>
          </a:prstGeom>
          <a:noFill/>
          <a:ln/>
        </p:spPr>
        <p:txBody>
          <a:bodyPr wrap="square" lIns="254" tIns="254" rIns="254" bIns="254" rtlCol="0" anchor="t">
            <a:normAutofit/>
          </a:bodyPr>
          <a:lstStyle/>
          <a:p>
            <a:pPr algn="ctr" indent="0" marL="0">
              <a:buNone/>
            </a:pPr>
            <a:r>
              <a:rPr lang="en-US" sz="880" b="1" dirty="0">
                <a:solidFill>
                  <a:srgbClr val="9DFF00"/>
                </a:solidFill>
                <a:latin typeface="Aptos" pitchFamily="34" charset="0"/>
                <a:ea typeface="Aptos" pitchFamily="34" charset="-122"/>
                <a:cs typeface="Aptos" pitchFamily="34" charset="-120"/>
              </a:rPr>
              <a:t>0.122</a:t>
            </a:r>
            <a:endParaRPr lang="en-US" sz="880" dirty="0"/>
          </a:p>
        </p:txBody>
      </p:sp>
      <p:sp>
        <p:nvSpPr>
          <p:cNvPr id="22" name="Text 19"/>
          <p:cNvSpPr/>
          <p:nvPr/>
        </p:nvSpPr>
        <p:spPr>
          <a:xfrm>
            <a:off x="9182798" y="2135124"/>
            <a:ext cx="2297494" cy="347472"/>
          </a:xfrm>
          <a:prstGeom prst="rect">
            <a:avLst/>
          </a:prstGeom>
          <a:noFill/>
          <a:ln/>
        </p:spPr>
        <p:txBody>
          <a:bodyPr wrap="square" lIns="254" tIns="254" rIns="254" bIns="254" rtlCol="0" anchor="t">
            <a:normAutofit/>
          </a:bodyPr>
          <a:lstStyle/>
          <a:p>
            <a:pPr algn="ctr" indent="0" marL="0">
              <a:buNone/>
            </a:pPr>
            <a:r>
              <a:rPr lang="en-US" sz="880" b="1" dirty="0">
                <a:solidFill>
                  <a:srgbClr val="9DFF00"/>
                </a:solidFill>
                <a:latin typeface="Aptos" pitchFamily="34" charset="0"/>
                <a:ea typeface="Aptos" pitchFamily="34" charset="-122"/>
                <a:cs typeface="Aptos" pitchFamily="34" charset="-120"/>
              </a:rPr>
              <a:t>0.895</a:t>
            </a:r>
            <a:endParaRPr lang="en-US" sz="880" dirty="0"/>
          </a:p>
        </p:txBody>
      </p:sp>
      <p:sp>
        <p:nvSpPr>
          <p:cNvPr id="23" name="Shape 20"/>
          <p:cNvSpPr/>
          <p:nvPr/>
        </p:nvSpPr>
        <p:spPr>
          <a:xfrm>
            <a:off x="685800" y="2514600"/>
            <a:ext cx="10835640" cy="0"/>
          </a:xfrm>
          <a:prstGeom prst="line">
            <a:avLst/>
          </a:prstGeom>
          <a:noFill/>
          <a:ln w="6350">
            <a:solidFill>
              <a:srgbClr val="2D342F">
                <a:alpha val="75000"/>
              </a:srgbClr>
            </a:solidFill>
            <a:prstDash val="solid"/>
          </a:ln>
        </p:spPr>
      </p:sp>
      <p:sp>
        <p:nvSpPr>
          <p:cNvPr id="24" name="Text 21"/>
          <p:cNvSpPr/>
          <p:nvPr/>
        </p:nvSpPr>
        <p:spPr>
          <a:xfrm>
            <a:off x="726948" y="2546604"/>
            <a:ext cx="2651931" cy="347472"/>
          </a:xfrm>
          <a:prstGeom prst="rect">
            <a:avLst/>
          </a:prstGeom>
          <a:noFill/>
          <a:ln/>
        </p:spPr>
        <p:txBody>
          <a:bodyPr wrap="square" lIns="254" tIns="254" rIns="254" bIns="254" rtlCol="0" anchor="t">
            <a:normAutofit/>
          </a:bodyPr>
          <a:lstStyle/>
          <a:p>
            <a:pPr algn="l" indent="0" marL="0">
              <a:buNone/>
            </a:pPr>
            <a:r>
              <a:rPr lang="en-US" sz="880" dirty="0">
                <a:solidFill>
                  <a:srgbClr val="FFFFFF"/>
                </a:solidFill>
                <a:latin typeface="Aptos" pitchFamily="34" charset="0"/>
                <a:ea typeface="Aptos" pitchFamily="34" charset="-122"/>
                <a:cs typeface="Aptos" pitchFamily="34" charset="-120"/>
              </a:rPr>
              <a:t>Decision Tree</a:t>
            </a:r>
            <a:endParaRPr lang="en-US" sz="880" dirty="0"/>
          </a:p>
        </p:txBody>
      </p:sp>
      <p:sp>
        <p:nvSpPr>
          <p:cNvPr id="25" name="Text 22"/>
          <p:cNvSpPr/>
          <p:nvPr/>
        </p:nvSpPr>
        <p:spPr>
          <a:xfrm>
            <a:off x="3461175" y="2546604"/>
            <a:ext cx="2044325" cy="347472"/>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0.325</a:t>
            </a:r>
            <a:endParaRPr lang="en-US" sz="880" dirty="0"/>
          </a:p>
        </p:txBody>
      </p:sp>
      <p:sp>
        <p:nvSpPr>
          <p:cNvPr id="26" name="Text 23"/>
          <p:cNvSpPr/>
          <p:nvPr/>
        </p:nvSpPr>
        <p:spPr>
          <a:xfrm>
            <a:off x="5587796" y="2546604"/>
            <a:ext cx="2246860" cy="347472"/>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0.252</a:t>
            </a:r>
            <a:endParaRPr lang="en-US" sz="880" dirty="0"/>
          </a:p>
        </p:txBody>
      </p:sp>
      <p:sp>
        <p:nvSpPr>
          <p:cNvPr id="27" name="Text 24"/>
          <p:cNvSpPr/>
          <p:nvPr/>
        </p:nvSpPr>
        <p:spPr>
          <a:xfrm>
            <a:off x="7916952" y="2546604"/>
            <a:ext cx="1183550" cy="347472"/>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0.073</a:t>
            </a:r>
            <a:endParaRPr lang="en-US" sz="880" dirty="0"/>
          </a:p>
        </p:txBody>
      </p:sp>
      <p:sp>
        <p:nvSpPr>
          <p:cNvPr id="28" name="Text 25"/>
          <p:cNvSpPr/>
          <p:nvPr/>
        </p:nvSpPr>
        <p:spPr>
          <a:xfrm>
            <a:off x="9182798" y="2546604"/>
            <a:ext cx="2297494" cy="347472"/>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0.921</a:t>
            </a:r>
            <a:endParaRPr lang="en-US" sz="880" dirty="0"/>
          </a:p>
        </p:txBody>
      </p:sp>
      <p:sp>
        <p:nvSpPr>
          <p:cNvPr id="29" name="Shape 26"/>
          <p:cNvSpPr/>
          <p:nvPr/>
        </p:nvSpPr>
        <p:spPr>
          <a:xfrm>
            <a:off x="685800" y="2926080"/>
            <a:ext cx="10835640" cy="0"/>
          </a:xfrm>
          <a:prstGeom prst="line">
            <a:avLst/>
          </a:prstGeom>
          <a:noFill/>
          <a:ln w="6350">
            <a:solidFill>
              <a:srgbClr val="2D342F">
                <a:alpha val="75000"/>
              </a:srgbClr>
            </a:solidFill>
            <a:prstDash val="solid"/>
          </a:ln>
        </p:spPr>
      </p:sp>
      <p:sp>
        <p:nvSpPr>
          <p:cNvPr id="30" name="Text 27"/>
          <p:cNvSpPr/>
          <p:nvPr/>
        </p:nvSpPr>
        <p:spPr>
          <a:xfrm>
            <a:off x="726948" y="2958084"/>
            <a:ext cx="2651931" cy="347472"/>
          </a:xfrm>
          <a:prstGeom prst="rect">
            <a:avLst/>
          </a:prstGeom>
          <a:noFill/>
          <a:ln/>
        </p:spPr>
        <p:txBody>
          <a:bodyPr wrap="square" lIns="254" tIns="254" rIns="254" bIns="254" rtlCol="0" anchor="t">
            <a:normAutofit/>
          </a:bodyPr>
          <a:lstStyle/>
          <a:p>
            <a:pPr algn="l" indent="0" marL="0">
              <a:buNone/>
            </a:pPr>
            <a:r>
              <a:rPr lang="en-US" sz="880" dirty="0">
                <a:solidFill>
                  <a:srgbClr val="FFFFFF"/>
                </a:solidFill>
                <a:latin typeface="Aptos" pitchFamily="34" charset="0"/>
                <a:ea typeface="Aptos" pitchFamily="34" charset="-122"/>
                <a:cs typeface="Aptos" pitchFamily="34" charset="-120"/>
              </a:rPr>
              <a:t>Logistic Regression</a:t>
            </a:r>
            <a:endParaRPr lang="en-US" sz="880" dirty="0"/>
          </a:p>
        </p:txBody>
      </p:sp>
      <p:sp>
        <p:nvSpPr>
          <p:cNvPr id="31" name="Text 28"/>
          <p:cNvSpPr/>
          <p:nvPr/>
        </p:nvSpPr>
        <p:spPr>
          <a:xfrm>
            <a:off x="3461175" y="2958084"/>
            <a:ext cx="2044325" cy="347472"/>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0.162</a:t>
            </a:r>
            <a:endParaRPr lang="en-US" sz="880" dirty="0"/>
          </a:p>
        </p:txBody>
      </p:sp>
      <p:sp>
        <p:nvSpPr>
          <p:cNvPr id="32" name="Text 29"/>
          <p:cNvSpPr/>
          <p:nvPr/>
        </p:nvSpPr>
        <p:spPr>
          <a:xfrm>
            <a:off x="5587796" y="2958084"/>
            <a:ext cx="2246860" cy="347472"/>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0.159</a:t>
            </a:r>
            <a:endParaRPr lang="en-US" sz="880" dirty="0"/>
          </a:p>
        </p:txBody>
      </p:sp>
      <p:sp>
        <p:nvSpPr>
          <p:cNvPr id="33" name="Text 30"/>
          <p:cNvSpPr/>
          <p:nvPr/>
        </p:nvSpPr>
        <p:spPr>
          <a:xfrm>
            <a:off x="7916952" y="2958084"/>
            <a:ext cx="1183550" cy="347472"/>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0.003</a:t>
            </a:r>
            <a:endParaRPr lang="en-US" sz="880" dirty="0"/>
          </a:p>
        </p:txBody>
      </p:sp>
      <p:sp>
        <p:nvSpPr>
          <p:cNvPr id="34" name="Text 31"/>
          <p:cNvSpPr/>
          <p:nvPr/>
        </p:nvSpPr>
        <p:spPr>
          <a:xfrm>
            <a:off x="9182798" y="2958084"/>
            <a:ext cx="2297494" cy="347472"/>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0.836</a:t>
            </a:r>
            <a:endParaRPr lang="en-US" sz="880" dirty="0"/>
          </a:p>
        </p:txBody>
      </p:sp>
      <p:sp>
        <p:nvSpPr>
          <p:cNvPr id="35" name="Shape 32"/>
          <p:cNvSpPr/>
          <p:nvPr/>
        </p:nvSpPr>
        <p:spPr>
          <a:xfrm>
            <a:off x="685800" y="3337560"/>
            <a:ext cx="10835640" cy="0"/>
          </a:xfrm>
          <a:prstGeom prst="line">
            <a:avLst/>
          </a:prstGeom>
          <a:noFill/>
          <a:ln w="6350">
            <a:solidFill>
              <a:srgbClr val="2D342F">
                <a:alpha val="75000"/>
              </a:srgbClr>
            </a:solidFill>
            <a:prstDash val="solid"/>
          </a:ln>
        </p:spPr>
      </p:sp>
      <p:sp>
        <p:nvSpPr>
          <p:cNvPr id="36" name="Text 33"/>
          <p:cNvSpPr/>
          <p:nvPr/>
        </p:nvSpPr>
        <p:spPr>
          <a:xfrm>
            <a:off x="726948" y="3369564"/>
            <a:ext cx="2651931" cy="347472"/>
          </a:xfrm>
          <a:prstGeom prst="rect">
            <a:avLst/>
          </a:prstGeom>
          <a:noFill/>
          <a:ln/>
        </p:spPr>
        <p:txBody>
          <a:bodyPr wrap="square" lIns="254" tIns="254" rIns="254" bIns="254" rtlCol="0" anchor="t">
            <a:normAutofit/>
          </a:bodyPr>
          <a:lstStyle/>
          <a:p>
            <a:pPr algn="l" indent="0" marL="0">
              <a:buNone/>
            </a:pPr>
            <a:r>
              <a:rPr lang="en-US" sz="880" dirty="0">
                <a:solidFill>
                  <a:srgbClr val="FFFFFF"/>
                </a:solidFill>
                <a:latin typeface="Aptos" pitchFamily="34" charset="0"/>
                <a:ea typeface="Aptos" pitchFamily="34" charset="-122"/>
                <a:cs typeface="Aptos" pitchFamily="34" charset="-120"/>
              </a:rPr>
              <a:t>Dummy</a:t>
            </a:r>
            <a:endParaRPr lang="en-US" sz="880" dirty="0"/>
          </a:p>
        </p:txBody>
      </p:sp>
      <p:sp>
        <p:nvSpPr>
          <p:cNvPr id="37" name="Text 34"/>
          <p:cNvSpPr/>
          <p:nvPr/>
        </p:nvSpPr>
        <p:spPr>
          <a:xfrm>
            <a:off x="3461175" y="3369564"/>
            <a:ext cx="2044325" cy="347472"/>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0.039</a:t>
            </a:r>
            <a:endParaRPr lang="en-US" sz="880" dirty="0"/>
          </a:p>
        </p:txBody>
      </p:sp>
      <p:sp>
        <p:nvSpPr>
          <p:cNvPr id="38" name="Text 35"/>
          <p:cNvSpPr/>
          <p:nvPr/>
        </p:nvSpPr>
        <p:spPr>
          <a:xfrm>
            <a:off x="5587796" y="3369564"/>
            <a:ext cx="2246860" cy="347472"/>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0.042</a:t>
            </a:r>
            <a:endParaRPr lang="en-US" sz="880" dirty="0"/>
          </a:p>
        </p:txBody>
      </p:sp>
      <p:sp>
        <p:nvSpPr>
          <p:cNvPr id="39" name="Text 36"/>
          <p:cNvSpPr/>
          <p:nvPr/>
        </p:nvSpPr>
        <p:spPr>
          <a:xfrm>
            <a:off x="7916952" y="3369564"/>
            <a:ext cx="1183550" cy="347472"/>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-0.003</a:t>
            </a:r>
            <a:endParaRPr lang="en-US" sz="880" dirty="0"/>
          </a:p>
        </p:txBody>
      </p:sp>
      <p:sp>
        <p:nvSpPr>
          <p:cNvPr id="40" name="Text 37"/>
          <p:cNvSpPr/>
          <p:nvPr/>
        </p:nvSpPr>
        <p:spPr>
          <a:xfrm>
            <a:off x="9182798" y="3369564"/>
            <a:ext cx="2297494" cy="347472"/>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0.500</a:t>
            </a:r>
            <a:endParaRPr lang="en-US" sz="880" dirty="0"/>
          </a:p>
        </p:txBody>
      </p:sp>
      <p:sp>
        <p:nvSpPr>
          <p:cNvPr id="41" name="Shape 38"/>
          <p:cNvSpPr/>
          <p:nvPr/>
        </p:nvSpPr>
        <p:spPr>
          <a:xfrm>
            <a:off x="685800" y="3749040"/>
            <a:ext cx="10835640" cy="0"/>
          </a:xfrm>
          <a:prstGeom prst="line">
            <a:avLst/>
          </a:prstGeom>
          <a:noFill/>
          <a:ln w="6350">
            <a:solidFill>
              <a:srgbClr val="2D342F">
                <a:alpha val="75000"/>
              </a:srgbClr>
            </a:solidFill>
            <a:prstDash val="solid"/>
          </a:ln>
        </p:spPr>
      </p:sp>
      <p:sp>
        <p:nvSpPr>
          <p:cNvPr id="42" name="Shape 39"/>
          <p:cNvSpPr/>
          <p:nvPr/>
        </p:nvSpPr>
        <p:spPr>
          <a:xfrm>
            <a:off x="868680" y="4343400"/>
            <a:ext cx="4892040" cy="1005840"/>
          </a:xfrm>
          <a:prstGeom prst="roundRect">
            <a:avLst>
              <a:gd name="adj" fmla="val 7273"/>
            </a:avLst>
          </a:prstGeom>
          <a:solidFill>
            <a:srgbClr val="000000">
              <a:alpha val="82000"/>
            </a:srgbClr>
          </a:solidFill>
          <a:ln w="12700">
            <a:solidFill>
              <a:srgbClr val="9DFF00">
                <a:alpha val="34000"/>
              </a:srgbClr>
            </a:solidFill>
            <a:prstDash val="solid"/>
          </a:ln>
        </p:spPr>
      </p:sp>
      <p:sp>
        <p:nvSpPr>
          <p:cNvPr id="43" name="Text 40"/>
          <p:cNvSpPr/>
          <p:nvPr/>
        </p:nvSpPr>
        <p:spPr>
          <a:xfrm>
            <a:off x="1143000" y="4535424"/>
            <a:ext cx="173736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Selected model</a:t>
            </a:r>
            <a:endParaRPr lang="en-US" sz="1360" dirty="0"/>
          </a:p>
        </p:txBody>
      </p:sp>
      <p:sp>
        <p:nvSpPr>
          <p:cNvPr id="44" name="Text 41"/>
          <p:cNvSpPr/>
          <p:nvPr/>
        </p:nvSpPr>
        <p:spPr>
          <a:xfrm>
            <a:off x="3337560" y="4462272"/>
            <a:ext cx="1874520" cy="347472"/>
          </a:xfrm>
          <a:prstGeom prst="rect">
            <a:avLst/>
          </a:prstGeom>
          <a:noFill/>
          <a:ln/>
        </p:spPr>
        <p:txBody>
          <a:bodyPr wrap="square" lIns="254" tIns="254" rIns="254" bIns="254" rtlCol="0" anchor="t">
            <a:normAutofit/>
          </a:bodyPr>
          <a:lstStyle/>
          <a:p>
            <a:pPr algn="l" indent="0" marL="0">
              <a:buNone/>
            </a:pPr>
            <a:r>
              <a:rPr lang="en-US" sz="2100" b="1" dirty="0">
                <a:solidFill>
                  <a:srgbClr val="FFFFFF"/>
                </a:solidFill>
                <a:latin typeface="Aptos" pitchFamily="34" charset="0"/>
                <a:ea typeface="Aptos" pitchFamily="34" charset="-122"/>
                <a:cs typeface="Aptos" pitchFamily="34" charset="-120"/>
              </a:rPr>
              <a:t>Random Forest</a:t>
            </a:r>
            <a:endParaRPr lang="en-US" sz="2100" dirty="0"/>
          </a:p>
        </p:txBody>
      </p:sp>
      <p:sp>
        <p:nvSpPr>
          <p:cNvPr id="45" name="Shape 42"/>
          <p:cNvSpPr/>
          <p:nvPr/>
        </p:nvSpPr>
        <p:spPr>
          <a:xfrm>
            <a:off x="6309360" y="4343400"/>
            <a:ext cx="4846320" cy="1005840"/>
          </a:xfrm>
          <a:prstGeom prst="roundRect">
            <a:avLst>
              <a:gd name="adj" fmla="val 7273"/>
            </a:avLst>
          </a:prstGeom>
          <a:solidFill>
            <a:srgbClr val="000000">
              <a:alpha val="82000"/>
            </a:srgbClr>
          </a:solidFill>
          <a:ln w="12700">
            <a:solidFill>
              <a:srgbClr val="9DFF00">
                <a:alpha val="34000"/>
              </a:srgbClr>
            </a:solidFill>
            <a:prstDash val="solid"/>
          </a:ln>
        </p:spPr>
      </p:sp>
      <p:sp>
        <p:nvSpPr>
          <p:cNvPr id="46" name="Text 43"/>
          <p:cNvSpPr/>
          <p:nvPr/>
        </p:nvSpPr>
        <p:spPr>
          <a:xfrm>
            <a:off x="6583680" y="4535424"/>
            <a:ext cx="155448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Key nuance</a:t>
            </a:r>
            <a:endParaRPr lang="en-US" sz="1360" dirty="0"/>
          </a:p>
        </p:txBody>
      </p:sp>
      <p:sp>
        <p:nvSpPr>
          <p:cNvPr id="47" name="Text 44"/>
          <p:cNvSpPr/>
          <p:nvPr/>
        </p:nvSpPr>
        <p:spPr>
          <a:xfrm>
            <a:off x="6583680" y="4864608"/>
            <a:ext cx="4023360" cy="292608"/>
          </a:xfrm>
          <a:prstGeom prst="rect">
            <a:avLst/>
          </a:prstGeom>
          <a:noFill/>
          <a:ln/>
        </p:spPr>
        <p:txBody>
          <a:bodyPr wrap="square" lIns="254" tIns="254" rIns="254" bIns="254" rtlCol="0" anchor="t">
            <a:normAutofit/>
          </a:bodyPr>
          <a:lstStyle/>
          <a:p>
            <a:pPr algn="l" indent="0" marL="0">
              <a:buNone/>
            </a:pPr>
            <a:r>
              <a:rPr lang="en-US" sz="1020" dirty="0">
                <a:solidFill>
                  <a:srgbClr val="FFFFFF"/>
                </a:solidFill>
                <a:latin typeface="Aptos" pitchFamily="34" charset="0"/>
                <a:ea typeface="Aptos" pitchFamily="34" charset="-122"/>
                <a:cs typeface="Aptos" pitchFamily="34" charset="-120"/>
              </a:rPr>
              <a:t>Decision Tree has higher ROC-AUC, but PR-AUC is the primary metric because the positive class is rare.</a:t>
            </a:r>
            <a:endParaRPr lang="en-US" sz="1020" dirty="0"/>
          </a:p>
        </p:txBody>
      </p:sp>
      <p:sp>
        <p:nvSpPr>
          <p:cNvPr id="48" name="Text 45"/>
          <p:cNvSpPr/>
          <p:nvPr/>
        </p:nvSpPr>
        <p:spPr>
          <a:xfrm>
            <a:off x="566928" y="6473952"/>
            <a:ext cx="6217920" cy="201168"/>
          </a:xfrm>
          <a:prstGeom prst="rect">
            <a:avLst/>
          </a:prstGeom>
          <a:noFill/>
          <a:ln/>
        </p:spPr>
        <p:txBody>
          <a:bodyPr wrap="square" lIns="0" tIns="0" rIns="0" bIns="0" rtlCol="0" anchor="ctr"/>
          <a:lstStyle/>
          <a:p>
            <a:pPr indent="0" marL="0">
              <a:buNone/>
            </a:pPr>
            <a:r>
              <a:rPr lang="en-US" sz="740" dirty="0">
                <a:solidFill>
                  <a:srgbClr val="C4CDC6"/>
                </a:solidFill>
              </a:rPr>
              <a:t>DATA 400 | SBA 7(a) Credit-Risk Mini Project</a:t>
            </a:r>
            <a:endParaRPr lang="en-US" sz="740" dirty="0"/>
          </a:p>
        </p:txBody>
      </p:sp>
      <p:sp>
        <p:nvSpPr>
          <p:cNvPr id="49" name="Text 46"/>
          <p:cNvSpPr/>
          <p:nvPr/>
        </p:nvSpPr>
        <p:spPr>
          <a:xfrm>
            <a:off x="11082528" y="6455664"/>
            <a:ext cx="502920" cy="201168"/>
          </a:xfrm>
          <a:prstGeom prst="rect">
            <a:avLst/>
          </a:prstGeom>
          <a:noFill/>
          <a:ln/>
        </p:spPr>
        <p:txBody>
          <a:bodyPr wrap="square" lIns="0" tIns="0" rIns="0" bIns="0" rtlCol="0" anchor="ctr"/>
          <a:lstStyle/>
          <a:p>
            <a:pPr algn="r" indent="0" marL="0">
              <a:buNone/>
            </a:pPr>
            <a:r>
              <a:rPr lang="en-US" sz="800" b="1" dirty="0">
                <a:solidFill>
                  <a:srgbClr val="9DFF00"/>
                </a:solidFill>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50607"/>
        </a:solidFill>
      </p:bgPr>
    </p:bg>
    <p:spTree>
      <p:nvGrpSpPr>
        <p:cNvPr id="1" name=""/>
        <p:cNvGrpSpPr/>
        <p:nvPr/>
      </p:nvGrpSpPr>
      <p:grpSpPr>
        <a:xfrm>
          <a:off x="0" y="0"/>
          <a:ext cx="0" cy="0"/>
          <a:chOff x="0" y="0"/>
          <a:chExt cx="0" cy="0"/>
        </a:xfrm>
      </p:grpSpPr>
      <p:pic>
        <p:nvPicPr>
          <p:cNvPr id="2" name="Image 0" descr="/mnt/data/sample_ppt_extract/ppt/media/dark_image5.jpeg">    </p:cNvPr>
          <p:cNvPicPr>
            <a:picLocks noChangeAspect="1"/>
          </p:cNvPicPr>
          <p:nvPr/>
        </p:nvPicPr>
        <p:blipFill>
          <a:blip r:embed="rId1"/>
          <a:srcRect l="0" r="0" t="7811" b="7811"/>
          <a:stretch/>
        </p:blipFill>
        <p:spPr>
          <a:xfrm>
            <a:off x="0" y="0"/>
            <a:ext cx="12191695" cy="6858000"/>
          </a:xfrm>
          <a:prstGeom prst="rect">
            <a:avLst/>
          </a:prstGeom>
        </p:spPr>
      </p:pic>
      <p:sp>
        <p:nvSpPr>
          <p:cNvPr id="3" name="Shape 0"/>
          <p:cNvSpPr/>
          <p:nvPr/>
        </p:nvSpPr>
        <p:spPr>
          <a:xfrm>
            <a:off x="201168" y="256032"/>
            <a:ext cx="50292" cy="6263640"/>
          </a:xfrm>
          <a:prstGeom prst="rect">
            <a:avLst/>
          </a:prstGeom>
          <a:solidFill>
            <a:srgbClr val="9DFF00"/>
          </a:solidFill>
          <a:ln w="12700">
            <a:solidFill>
              <a:srgbClr val="333333">
                <a:alpha val="0"/>
              </a:srgbClr>
            </a:solidFill>
            <a:prstDash val="solid"/>
          </a:ln>
        </p:spPr>
      </p:sp>
      <p:sp>
        <p:nvSpPr>
          <p:cNvPr id="4" name="Text 1"/>
          <p:cNvSpPr/>
          <p:nvPr/>
        </p:nvSpPr>
        <p:spPr>
          <a:xfrm>
            <a:off x="566928" y="310896"/>
            <a:ext cx="4754880" cy="228600"/>
          </a:xfrm>
          <a:prstGeom prst="rect">
            <a:avLst/>
          </a:prstGeom>
          <a:noFill/>
          <a:ln/>
        </p:spPr>
        <p:txBody>
          <a:bodyPr wrap="square" lIns="0" tIns="0" rIns="0" bIns="0" rtlCol="0" anchor="ctr">
            <a:normAutofit/>
          </a:bodyPr>
          <a:lstStyle/>
          <a:p>
            <a:pPr indent="0" marL="0">
              <a:buNone/>
            </a:pPr>
            <a:r>
              <a:rPr lang="en-US" sz="850" b="1" dirty="0">
                <a:solidFill>
                  <a:srgbClr val="9DFF00"/>
                </a:solidFill>
                <a:latin typeface="Aptos" pitchFamily="34" charset="0"/>
                <a:ea typeface="Aptos" pitchFamily="34" charset="-122"/>
                <a:cs typeface="Aptos" pitchFamily="34" charset="-120"/>
              </a:rPr>
              <a:t>VALIDATION CURVES</a:t>
            </a:r>
            <a:endParaRPr lang="en-US" sz="850" dirty="0"/>
          </a:p>
        </p:txBody>
      </p:sp>
      <p:sp>
        <p:nvSpPr>
          <p:cNvPr id="5" name="Text 2"/>
          <p:cNvSpPr/>
          <p:nvPr/>
        </p:nvSpPr>
        <p:spPr>
          <a:xfrm>
            <a:off x="566928" y="621792"/>
            <a:ext cx="10652760" cy="566928"/>
          </a:xfrm>
          <a:prstGeom prst="rect">
            <a:avLst/>
          </a:prstGeom>
          <a:noFill/>
          <a:ln/>
        </p:spPr>
        <p:txBody>
          <a:bodyPr wrap="square" lIns="0" tIns="0" rIns="0" bIns="0" rtlCol="0" anchor="ctr">
            <a:normAutofit/>
          </a:bodyPr>
          <a:lstStyle/>
          <a:p>
            <a:pPr indent="0" marL="0">
              <a:buNone/>
            </a:pPr>
            <a:r>
              <a:rPr lang="en-US" sz="2450" b="1" dirty="0">
                <a:solidFill>
                  <a:srgbClr val="FFFFFF"/>
                </a:solidFill>
                <a:latin typeface="Aptos Display" pitchFamily="34" charset="0"/>
                <a:ea typeface="Aptos Display" pitchFamily="34" charset="-122"/>
                <a:cs typeface="Aptos Display" pitchFamily="34" charset="-120"/>
              </a:rPr>
              <a:t>What the selected Random Forest looks like before thresholding</a:t>
            </a:r>
            <a:endParaRPr lang="en-US" sz="2450" dirty="0"/>
          </a:p>
        </p:txBody>
      </p:sp>
      <p:sp>
        <p:nvSpPr>
          <p:cNvPr id="6" name="Shape 3"/>
          <p:cNvSpPr/>
          <p:nvPr/>
        </p:nvSpPr>
        <p:spPr>
          <a:xfrm>
            <a:off x="566928" y="1307592"/>
            <a:ext cx="10716768" cy="0"/>
          </a:xfrm>
          <a:prstGeom prst="line">
            <a:avLst/>
          </a:prstGeom>
          <a:noFill/>
          <a:ln w="13335">
            <a:solidFill>
              <a:srgbClr val="9DFF00">
                <a:alpha val="95000"/>
              </a:srgbClr>
            </a:solidFill>
            <a:prstDash val="solid"/>
          </a:ln>
        </p:spPr>
      </p:sp>
      <p:sp>
        <p:nvSpPr>
          <p:cNvPr id="7" name="Shape 4"/>
          <p:cNvSpPr/>
          <p:nvPr/>
        </p:nvSpPr>
        <p:spPr>
          <a:xfrm>
            <a:off x="777240" y="1664208"/>
            <a:ext cx="5120640" cy="3154680"/>
          </a:xfrm>
          <a:prstGeom prst="rect">
            <a:avLst/>
          </a:prstGeom>
          <a:solidFill>
            <a:srgbClr val="FFFFFF"/>
          </a:solidFill>
          <a:ln w="11430">
            <a:solidFill>
              <a:srgbClr val="9DFF00">
                <a:alpha val="65000"/>
              </a:srgbClr>
            </a:solidFill>
            <a:prstDash val="solid"/>
          </a:ln>
        </p:spPr>
      </p:sp>
      <p:pic>
        <p:nvPicPr>
          <p:cNvPr id="8" name="Image 1" descr="/mnt/data/sba_v4_assets/cell40_out0_img.png">    </p:cNvPr>
          <p:cNvPicPr>
            <a:picLocks noChangeAspect="1"/>
          </p:cNvPicPr>
          <p:nvPr/>
        </p:nvPicPr>
        <p:blipFill>
          <a:blip r:embed="rId2"/>
          <a:stretch>
            <a:fillRect/>
          </a:stretch>
        </p:blipFill>
        <p:spPr>
          <a:xfrm>
            <a:off x="1000895" y="1737360"/>
            <a:ext cx="4673330" cy="2898648"/>
          </a:xfrm>
          <a:prstGeom prst="rect">
            <a:avLst/>
          </a:prstGeom>
        </p:spPr>
      </p:pic>
      <p:sp>
        <p:nvSpPr>
          <p:cNvPr id="9" name="Text 5"/>
          <p:cNvSpPr/>
          <p:nvPr/>
        </p:nvSpPr>
        <p:spPr>
          <a:xfrm>
            <a:off x="850392" y="4636008"/>
            <a:ext cx="4974336" cy="118872"/>
          </a:xfrm>
          <a:prstGeom prst="rect">
            <a:avLst/>
          </a:prstGeom>
          <a:noFill/>
          <a:ln/>
        </p:spPr>
        <p:txBody>
          <a:bodyPr wrap="square" lIns="254" tIns="254" rIns="254" bIns="254" rtlCol="0" anchor="t">
            <a:normAutofit/>
          </a:bodyPr>
          <a:lstStyle/>
          <a:p>
            <a:pPr algn="ctr" indent="0" marL="0">
              <a:buNone/>
            </a:pPr>
            <a:r>
              <a:rPr lang="en-US" sz="670" dirty="0">
                <a:solidFill>
                  <a:srgbClr val="333333"/>
                </a:solidFill>
                <a:latin typeface="Aptos" pitchFamily="34" charset="0"/>
                <a:ea typeface="Aptos" pitchFamily="34" charset="-122"/>
                <a:cs typeface="Aptos" pitchFamily="34" charset="-120"/>
              </a:rPr>
              <a:t>Validation precision-recall curve</a:t>
            </a:r>
            <a:endParaRPr lang="en-US" sz="670" dirty="0"/>
          </a:p>
        </p:txBody>
      </p:sp>
      <p:sp>
        <p:nvSpPr>
          <p:cNvPr id="10" name="Shape 6"/>
          <p:cNvSpPr/>
          <p:nvPr/>
        </p:nvSpPr>
        <p:spPr>
          <a:xfrm>
            <a:off x="6355080" y="1664208"/>
            <a:ext cx="4983480" cy="3154680"/>
          </a:xfrm>
          <a:prstGeom prst="rect">
            <a:avLst/>
          </a:prstGeom>
          <a:solidFill>
            <a:srgbClr val="FFFFFF"/>
          </a:solidFill>
          <a:ln w="11430">
            <a:solidFill>
              <a:srgbClr val="9DFF00">
                <a:alpha val="65000"/>
              </a:srgbClr>
            </a:solidFill>
            <a:prstDash val="solid"/>
          </a:ln>
        </p:spPr>
      </p:sp>
      <p:pic>
        <p:nvPicPr>
          <p:cNvPr id="11" name="Image 2" descr="/mnt/data/sba_v4_assets/cell40_out1_img.png">    </p:cNvPr>
          <p:cNvPicPr>
            <a:picLocks noChangeAspect="1"/>
          </p:cNvPicPr>
          <p:nvPr/>
        </p:nvPicPr>
        <p:blipFill>
          <a:blip r:embed="rId3"/>
          <a:stretch>
            <a:fillRect/>
          </a:stretch>
        </p:blipFill>
        <p:spPr>
          <a:xfrm>
            <a:off x="6510155" y="1737360"/>
            <a:ext cx="4673330" cy="2898648"/>
          </a:xfrm>
          <a:prstGeom prst="rect">
            <a:avLst/>
          </a:prstGeom>
        </p:spPr>
      </p:pic>
      <p:sp>
        <p:nvSpPr>
          <p:cNvPr id="12" name="Text 7"/>
          <p:cNvSpPr/>
          <p:nvPr/>
        </p:nvSpPr>
        <p:spPr>
          <a:xfrm>
            <a:off x="6428232" y="4636008"/>
            <a:ext cx="4837176" cy="118872"/>
          </a:xfrm>
          <a:prstGeom prst="rect">
            <a:avLst/>
          </a:prstGeom>
          <a:noFill/>
          <a:ln/>
        </p:spPr>
        <p:txBody>
          <a:bodyPr wrap="square" lIns="254" tIns="254" rIns="254" bIns="254" rtlCol="0" anchor="t">
            <a:normAutofit/>
          </a:bodyPr>
          <a:lstStyle/>
          <a:p>
            <a:pPr algn="ctr" indent="0" marL="0">
              <a:buNone/>
            </a:pPr>
            <a:r>
              <a:rPr lang="en-US" sz="670" dirty="0">
                <a:solidFill>
                  <a:srgbClr val="333333"/>
                </a:solidFill>
                <a:latin typeface="Aptos" pitchFamily="34" charset="0"/>
                <a:ea typeface="Aptos" pitchFamily="34" charset="-122"/>
                <a:cs typeface="Aptos" pitchFamily="34" charset="-120"/>
              </a:rPr>
              <a:t>Validation ROC curve</a:t>
            </a:r>
            <a:endParaRPr lang="en-US" sz="670" dirty="0"/>
          </a:p>
        </p:txBody>
      </p:sp>
      <p:sp>
        <p:nvSpPr>
          <p:cNvPr id="13" name="Shape 8"/>
          <p:cNvSpPr/>
          <p:nvPr/>
        </p:nvSpPr>
        <p:spPr>
          <a:xfrm>
            <a:off x="1005840" y="5257800"/>
            <a:ext cx="9966960" cy="530352"/>
          </a:xfrm>
          <a:prstGeom prst="roundRect">
            <a:avLst>
              <a:gd name="adj" fmla="val 13793"/>
            </a:avLst>
          </a:prstGeom>
          <a:solidFill>
            <a:srgbClr val="000000">
              <a:alpha val="87000"/>
            </a:srgbClr>
          </a:solidFill>
          <a:ln w="12700">
            <a:solidFill>
              <a:srgbClr val="9DFF00">
                <a:alpha val="34000"/>
              </a:srgbClr>
            </a:solidFill>
            <a:prstDash val="solid"/>
          </a:ln>
        </p:spPr>
      </p:sp>
      <p:sp>
        <p:nvSpPr>
          <p:cNvPr id="14" name="Text 9"/>
          <p:cNvSpPr/>
          <p:nvPr/>
        </p:nvSpPr>
        <p:spPr>
          <a:xfrm>
            <a:off x="1234440" y="5404104"/>
            <a:ext cx="9509760" cy="182880"/>
          </a:xfrm>
          <a:prstGeom prst="rect">
            <a:avLst/>
          </a:prstGeom>
          <a:noFill/>
          <a:ln/>
        </p:spPr>
        <p:txBody>
          <a:bodyPr wrap="square" lIns="254" tIns="254" rIns="254" bIns="254" rtlCol="0" anchor="t">
            <a:normAutofit/>
          </a:bodyPr>
          <a:lstStyle/>
          <a:p>
            <a:pPr algn="ctr" indent="0" marL="0">
              <a:buNone/>
            </a:pPr>
            <a:r>
              <a:rPr lang="en-US" sz="1280" b="1" dirty="0">
                <a:solidFill>
                  <a:srgbClr val="9DFF00"/>
                </a:solidFill>
                <a:latin typeface="Aptos" pitchFamily="34" charset="0"/>
                <a:ea typeface="Aptos" pitchFamily="34" charset="-122"/>
                <a:cs typeface="Aptos" pitchFamily="34" charset="-120"/>
              </a:rPr>
              <a:t>Curves summarize ranking performance before forcing the model into yes/no decisions. The next slide chooses a cutoff for operational review.</a:t>
            </a:r>
            <a:endParaRPr lang="en-US" sz="1280" dirty="0"/>
          </a:p>
        </p:txBody>
      </p:sp>
      <p:sp>
        <p:nvSpPr>
          <p:cNvPr id="15" name="Text 10"/>
          <p:cNvSpPr/>
          <p:nvPr/>
        </p:nvSpPr>
        <p:spPr>
          <a:xfrm>
            <a:off x="566928" y="6473952"/>
            <a:ext cx="6217920" cy="201168"/>
          </a:xfrm>
          <a:prstGeom prst="rect">
            <a:avLst/>
          </a:prstGeom>
          <a:noFill/>
          <a:ln/>
        </p:spPr>
        <p:txBody>
          <a:bodyPr wrap="square" lIns="0" tIns="0" rIns="0" bIns="0" rtlCol="0" anchor="ctr"/>
          <a:lstStyle/>
          <a:p>
            <a:pPr indent="0" marL="0">
              <a:buNone/>
            </a:pPr>
            <a:r>
              <a:rPr lang="en-US" sz="740" dirty="0">
                <a:solidFill>
                  <a:srgbClr val="C4CDC6"/>
                </a:solidFill>
              </a:rPr>
              <a:t>DATA 400 | SBA 7(a) Credit-Risk Mini Project</a:t>
            </a:r>
            <a:endParaRPr lang="en-US" sz="740" dirty="0"/>
          </a:p>
        </p:txBody>
      </p:sp>
      <p:sp>
        <p:nvSpPr>
          <p:cNvPr id="16" name="Text 11"/>
          <p:cNvSpPr/>
          <p:nvPr/>
        </p:nvSpPr>
        <p:spPr>
          <a:xfrm>
            <a:off x="11082528" y="6455664"/>
            <a:ext cx="502920" cy="201168"/>
          </a:xfrm>
          <a:prstGeom prst="rect">
            <a:avLst/>
          </a:prstGeom>
          <a:noFill/>
          <a:ln/>
        </p:spPr>
        <p:txBody>
          <a:bodyPr wrap="square" lIns="0" tIns="0" rIns="0" bIns="0" rtlCol="0" anchor="ctr"/>
          <a:lstStyle/>
          <a:p>
            <a:pPr algn="r" indent="0" marL="0">
              <a:buNone/>
            </a:pPr>
            <a:r>
              <a:rPr lang="en-US" sz="800" b="1" dirty="0">
                <a:solidFill>
                  <a:srgbClr val="9DFF00"/>
                </a:solidFill>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50607"/>
        </a:solidFill>
      </p:bgPr>
    </p:bg>
    <p:spTree>
      <p:nvGrpSpPr>
        <p:cNvPr id="1" name=""/>
        <p:cNvGrpSpPr/>
        <p:nvPr/>
      </p:nvGrpSpPr>
      <p:grpSpPr>
        <a:xfrm>
          <a:off x="0" y="0"/>
          <a:ext cx="0" cy="0"/>
          <a:chOff x="0" y="0"/>
          <a:chExt cx="0" cy="0"/>
        </a:xfrm>
      </p:grpSpPr>
      <p:pic>
        <p:nvPicPr>
          <p:cNvPr id="2" name="Image 0" descr="/mnt/data/sample_ppt_extract/ppt/media/dark_image1.jpeg">    </p:cNvPr>
          <p:cNvPicPr>
            <a:picLocks noChangeAspect="1"/>
          </p:cNvPicPr>
          <p:nvPr/>
        </p:nvPicPr>
        <p:blipFill>
          <a:blip r:embed="rId1"/>
          <a:srcRect l="0" r="0" t="4004" b="4004"/>
          <a:stretch/>
        </p:blipFill>
        <p:spPr>
          <a:xfrm>
            <a:off x="0" y="0"/>
            <a:ext cx="12191695" cy="6858000"/>
          </a:xfrm>
          <a:prstGeom prst="rect">
            <a:avLst/>
          </a:prstGeom>
        </p:spPr>
      </p:pic>
      <p:sp>
        <p:nvSpPr>
          <p:cNvPr id="3" name="Shape 0"/>
          <p:cNvSpPr/>
          <p:nvPr/>
        </p:nvSpPr>
        <p:spPr>
          <a:xfrm>
            <a:off x="201168" y="256032"/>
            <a:ext cx="50292" cy="6263640"/>
          </a:xfrm>
          <a:prstGeom prst="rect">
            <a:avLst/>
          </a:prstGeom>
          <a:solidFill>
            <a:srgbClr val="9DFF00"/>
          </a:solidFill>
          <a:ln w="12700">
            <a:solidFill>
              <a:srgbClr val="333333">
                <a:alpha val="0"/>
              </a:srgbClr>
            </a:solidFill>
            <a:prstDash val="solid"/>
          </a:ln>
        </p:spPr>
      </p:sp>
      <p:sp>
        <p:nvSpPr>
          <p:cNvPr id="4" name="Text 1"/>
          <p:cNvSpPr/>
          <p:nvPr/>
        </p:nvSpPr>
        <p:spPr>
          <a:xfrm>
            <a:off x="566928" y="310896"/>
            <a:ext cx="4754880" cy="228600"/>
          </a:xfrm>
          <a:prstGeom prst="rect">
            <a:avLst/>
          </a:prstGeom>
          <a:noFill/>
          <a:ln/>
        </p:spPr>
        <p:txBody>
          <a:bodyPr wrap="square" lIns="0" tIns="0" rIns="0" bIns="0" rtlCol="0" anchor="ctr">
            <a:normAutofit/>
          </a:bodyPr>
          <a:lstStyle/>
          <a:p>
            <a:pPr indent="0" marL="0">
              <a:buNone/>
            </a:pPr>
            <a:r>
              <a:rPr lang="en-US" sz="850" b="1" dirty="0">
                <a:solidFill>
                  <a:srgbClr val="9DFF00"/>
                </a:solidFill>
                <a:latin typeface="Aptos" pitchFamily="34" charset="0"/>
                <a:ea typeface="Aptos" pitchFamily="34" charset="-122"/>
                <a:cs typeface="Aptos" pitchFamily="34" charset="-120"/>
              </a:rPr>
              <a:t>DECISION THRESHOLD</a:t>
            </a:r>
            <a:endParaRPr lang="en-US" sz="850" dirty="0"/>
          </a:p>
        </p:txBody>
      </p:sp>
      <p:sp>
        <p:nvSpPr>
          <p:cNvPr id="5" name="Text 2"/>
          <p:cNvSpPr/>
          <p:nvPr/>
        </p:nvSpPr>
        <p:spPr>
          <a:xfrm>
            <a:off x="566928" y="621792"/>
            <a:ext cx="10652760" cy="566928"/>
          </a:xfrm>
          <a:prstGeom prst="rect">
            <a:avLst/>
          </a:prstGeom>
          <a:noFill/>
          <a:ln/>
        </p:spPr>
        <p:txBody>
          <a:bodyPr wrap="square" lIns="0" tIns="0" rIns="0" bIns="0" rtlCol="0" anchor="ctr">
            <a:normAutofit/>
          </a:bodyPr>
          <a:lstStyle/>
          <a:p>
            <a:pPr indent="0" marL="0">
              <a:buNone/>
            </a:pPr>
            <a:r>
              <a:rPr lang="en-US" sz="2450" b="1" dirty="0">
                <a:solidFill>
                  <a:srgbClr val="FFFFFF"/>
                </a:solidFill>
                <a:latin typeface="Aptos Display" pitchFamily="34" charset="0"/>
                <a:ea typeface="Aptos Display" pitchFamily="34" charset="-122"/>
                <a:cs typeface="Aptos Display" pitchFamily="34" charset="-120"/>
              </a:rPr>
              <a:t>The cutoff controls the review workload and missed-risk trade-off</a:t>
            </a:r>
            <a:endParaRPr lang="en-US" sz="2450" dirty="0"/>
          </a:p>
        </p:txBody>
      </p:sp>
      <p:sp>
        <p:nvSpPr>
          <p:cNvPr id="6" name="Shape 3"/>
          <p:cNvSpPr/>
          <p:nvPr/>
        </p:nvSpPr>
        <p:spPr>
          <a:xfrm>
            <a:off x="566928" y="1307592"/>
            <a:ext cx="10716768" cy="0"/>
          </a:xfrm>
          <a:prstGeom prst="line">
            <a:avLst/>
          </a:prstGeom>
          <a:noFill/>
          <a:ln w="13335">
            <a:solidFill>
              <a:srgbClr val="9DFF00">
                <a:alpha val="95000"/>
              </a:srgbClr>
            </a:solidFill>
            <a:prstDash val="solid"/>
          </a:ln>
        </p:spPr>
      </p:sp>
      <p:sp>
        <p:nvSpPr>
          <p:cNvPr id="7" name="Text 4"/>
          <p:cNvSpPr/>
          <p:nvPr/>
        </p:nvSpPr>
        <p:spPr>
          <a:xfrm>
            <a:off x="685800" y="1691640"/>
            <a:ext cx="1920240" cy="347472"/>
          </a:xfrm>
          <a:prstGeom prst="rect">
            <a:avLst/>
          </a:prstGeom>
          <a:noFill/>
          <a:ln/>
        </p:spPr>
        <p:txBody>
          <a:bodyPr wrap="square" lIns="254" tIns="254" rIns="254" bIns="254" rtlCol="0" anchor="t">
            <a:normAutofit/>
          </a:bodyPr>
          <a:lstStyle/>
          <a:p>
            <a:pPr algn="ctr" indent="0" marL="0">
              <a:buNone/>
            </a:pPr>
            <a:r>
              <a:rPr lang="en-US" sz="2100" b="1" dirty="0">
                <a:solidFill>
                  <a:srgbClr val="9DFF00"/>
                </a:solidFill>
                <a:latin typeface="Aptos" pitchFamily="34" charset="0"/>
                <a:ea typeface="Aptos" pitchFamily="34" charset="-122"/>
                <a:cs typeface="Aptos" pitchFamily="34" charset="-120"/>
              </a:rPr>
              <a:t>0.690</a:t>
            </a:r>
            <a:endParaRPr lang="en-US" sz="2100" dirty="0"/>
          </a:p>
        </p:txBody>
      </p:sp>
      <p:sp>
        <p:nvSpPr>
          <p:cNvPr id="8" name="Text 5"/>
          <p:cNvSpPr/>
          <p:nvPr/>
        </p:nvSpPr>
        <p:spPr>
          <a:xfrm>
            <a:off x="685800" y="2075688"/>
            <a:ext cx="1920240" cy="329184"/>
          </a:xfrm>
          <a:prstGeom prst="rect">
            <a:avLst/>
          </a:prstGeom>
          <a:noFill/>
          <a:ln/>
        </p:spPr>
        <p:txBody>
          <a:bodyPr wrap="square" lIns="254" tIns="254" rIns="254" bIns="254" rtlCol="0" anchor="t">
            <a:normAutofit/>
          </a:bodyPr>
          <a:lstStyle/>
          <a:p>
            <a:pPr algn="ctr" indent="0" marL="0">
              <a:buNone/>
            </a:pPr>
            <a:r>
              <a:rPr lang="en-US" sz="840" dirty="0">
                <a:solidFill>
                  <a:srgbClr val="C4CDC6"/>
                </a:solidFill>
                <a:latin typeface="Aptos" pitchFamily="34" charset="0"/>
                <a:ea typeface="Aptos" pitchFamily="34" charset="-122"/>
                <a:cs typeface="Aptos" pitchFamily="34" charset="-120"/>
              </a:rPr>
              <a:t>chosen validation threshold</a:t>
            </a:r>
            <a:endParaRPr lang="en-US" sz="840" dirty="0"/>
          </a:p>
        </p:txBody>
      </p:sp>
      <p:sp>
        <p:nvSpPr>
          <p:cNvPr id="9" name="Text 6"/>
          <p:cNvSpPr/>
          <p:nvPr/>
        </p:nvSpPr>
        <p:spPr>
          <a:xfrm>
            <a:off x="2788920" y="1691640"/>
            <a:ext cx="1417320" cy="347472"/>
          </a:xfrm>
          <a:prstGeom prst="rect">
            <a:avLst/>
          </a:prstGeom>
          <a:noFill/>
          <a:ln/>
        </p:spPr>
        <p:txBody>
          <a:bodyPr wrap="square" lIns="254" tIns="254" rIns="254" bIns="254" rtlCol="0" anchor="t">
            <a:normAutofit/>
          </a:bodyPr>
          <a:lstStyle/>
          <a:p>
            <a:pPr algn="ctr" indent="0" marL="0">
              <a:buNone/>
            </a:pPr>
            <a:r>
              <a:rPr lang="en-US" sz="2100" b="1" dirty="0">
                <a:solidFill>
                  <a:srgbClr val="9DFF00"/>
                </a:solidFill>
                <a:latin typeface="Aptos" pitchFamily="34" charset="0"/>
                <a:ea typeface="Aptos" pitchFamily="34" charset="-122"/>
                <a:cs typeface="Aptos" pitchFamily="34" charset="-120"/>
              </a:rPr>
              <a:t>33.2%</a:t>
            </a:r>
            <a:endParaRPr lang="en-US" sz="2100" dirty="0"/>
          </a:p>
        </p:txBody>
      </p:sp>
      <p:sp>
        <p:nvSpPr>
          <p:cNvPr id="10" name="Text 7"/>
          <p:cNvSpPr/>
          <p:nvPr/>
        </p:nvSpPr>
        <p:spPr>
          <a:xfrm>
            <a:off x="2788920" y="2075688"/>
            <a:ext cx="1417320" cy="329184"/>
          </a:xfrm>
          <a:prstGeom prst="rect">
            <a:avLst/>
          </a:prstGeom>
          <a:noFill/>
          <a:ln/>
        </p:spPr>
        <p:txBody>
          <a:bodyPr wrap="square" lIns="254" tIns="254" rIns="254" bIns="254" rtlCol="0" anchor="t">
            <a:normAutofit/>
          </a:bodyPr>
          <a:lstStyle/>
          <a:p>
            <a:pPr algn="ctr" indent="0" marL="0">
              <a:buNone/>
            </a:pPr>
            <a:r>
              <a:rPr lang="en-US" sz="840" dirty="0">
                <a:solidFill>
                  <a:srgbClr val="C4CDC6"/>
                </a:solidFill>
                <a:latin typeface="Aptos" pitchFamily="34" charset="0"/>
                <a:ea typeface="Aptos" pitchFamily="34" charset="-122"/>
                <a:cs typeface="Aptos" pitchFamily="34" charset="-120"/>
              </a:rPr>
              <a:t>precision</a:t>
            </a:r>
            <a:endParaRPr lang="en-US" sz="840" dirty="0"/>
          </a:p>
        </p:txBody>
      </p:sp>
      <p:sp>
        <p:nvSpPr>
          <p:cNvPr id="11" name="Text 8"/>
          <p:cNvSpPr/>
          <p:nvPr/>
        </p:nvSpPr>
        <p:spPr>
          <a:xfrm>
            <a:off x="4526280" y="1691640"/>
            <a:ext cx="1234440" cy="347472"/>
          </a:xfrm>
          <a:prstGeom prst="rect">
            <a:avLst/>
          </a:prstGeom>
          <a:noFill/>
          <a:ln/>
        </p:spPr>
        <p:txBody>
          <a:bodyPr wrap="square" lIns="254" tIns="254" rIns="254" bIns="254" rtlCol="0" anchor="t">
            <a:normAutofit/>
          </a:bodyPr>
          <a:lstStyle/>
          <a:p>
            <a:pPr algn="ctr" indent="0" marL="0">
              <a:buNone/>
            </a:pPr>
            <a:r>
              <a:rPr lang="en-US" sz="2100" b="1" dirty="0">
                <a:solidFill>
                  <a:srgbClr val="9DFF00"/>
                </a:solidFill>
                <a:latin typeface="Aptos" pitchFamily="34" charset="0"/>
                <a:ea typeface="Aptos" pitchFamily="34" charset="-122"/>
                <a:cs typeface="Aptos" pitchFamily="34" charset="-120"/>
              </a:rPr>
              <a:t>55.7%</a:t>
            </a:r>
            <a:endParaRPr lang="en-US" sz="2100" dirty="0"/>
          </a:p>
        </p:txBody>
      </p:sp>
      <p:sp>
        <p:nvSpPr>
          <p:cNvPr id="12" name="Text 9"/>
          <p:cNvSpPr/>
          <p:nvPr/>
        </p:nvSpPr>
        <p:spPr>
          <a:xfrm>
            <a:off x="4526280" y="2075688"/>
            <a:ext cx="1234440" cy="329184"/>
          </a:xfrm>
          <a:prstGeom prst="rect">
            <a:avLst/>
          </a:prstGeom>
          <a:noFill/>
          <a:ln/>
        </p:spPr>
        <p:txBody>
          <a:bodyPr wrap="square" lIns="254" tIns="254" rIns="254" bIns="254" rtlCol="0" anchor="t">
            <a:normAutofit/>
          </a:bodyPr>
          <a:lstStyle/>
          <a:p>
            <a:pPr algn="ctr" indent="0" marL="0">
              <a:buNone/>
            </a:pPr>
            <a:r>
              <a:rPr lang="en-US" sz="840" dirty="0">
                <a:solidFill>
                  <a:srgbClr val="C4CDC6"/>
                </a:solidFill>
                <a:latin typeface="Aptos" pitchFamily="34" charset="0"/>
                <a:ea typeface="Aptos" pitchFamily="34" charset="-122"/>
                <a:cs typeface="Aptos" pitchFamily="34" charset="-120"/>
              </a:rPr>
              <a:t>recall</a:t>
            </a:r>
            <a:endParaRPr lang="en-US" sz="840" dirty="0"/>
          </a:p>
        </p:txBody>
      </p:sp>
      <p:sp>
        <p:nvSpPr>
          <p:cNvPr id="13" name="Text 10"/>
          <p:cNvSpPr/>
          <p:nvPr/>
        </p:nvSpPr>
        <p:spPr>
          <a:xfrm>
            <a:off x="6080760" y="1691640"/>
            <a:ext cx="1005840" cy="347472"/>
          </a:xfrm>
          <a:prstGeom prst="rect">
            <a:avLst/>
          </a:prstGeom>
          <a:noFill/>
          <a:ln/>
        </p:spPr>
        <p:txBody>
          <a:bodyPr wrap="square" lIns="254" tIns="254" rIns="254" bIns="254" rtlCol="0" anchor="t">
            <a:normAutofit/>
          </a:bodyPr>
          <a:lstStyle/>
          <a:p>
            <a:pPr algn="ctr" indent="0" marL="0">
              <a:buNone/>
            </a:pPr>
            <a:r>
              <a:rPr lang="en-US" sz="2100" b="1" dirty="0">
                <a:solidFill>
                  <a:srgbClr val="9DFF00"/>
                </a:solidFill>
                <a:latin typeface="Aptos" pitchFamily="34" charset="0"/>
                <a:ea typeface="Aptos" pitchFamily="34" charset="-122"/>
                <a:cs typeface="Aptos" pitchFamily="34" charset="-120"/>
              </a:rPr>
              <a:t>41.6%</a:t>
            </a:r>
            <a:endParaRPr lang="en-US" sz="2100" dirty="0"/>
          </a:p>
        </p:txBody>
      </p:sp>
      <p:sp>
        <p:nvSpPr>
          <p:cNvPr id="14" name="Text 11"/>
          <p:cNvSpPr/>
          <p:nvPr/>
        </p:nvSpPr>
        <p:spPr>
          <a:xfrm>
            <a:off x="6080760" y="2075688"/>
            <a:ext cx="1005840" cy="329184"/>
          </a:xfrm>
          <a:prstGeom prst="rect">
            <a:avLst/>
          </a:prstGeom>
          <a:noFill/>
          <a:ln/>
        </p:spPr>
        <p:txBody>
          <a:bodyPr wrap="square" lIns="254" tIns="254" rIns="254" bIns="254" rtlCol="0" anchor="t">
            <a:normAutofit/>
          </a:bodyPr>
          <a:lstStyle/>
          <a:p>
            <a:pPr algn="ctr" indent="0" marL="0">
              <a:buNone/>
            </a:pPr>
            <a:r>
              <a:rPr lang="en-US" sz="840" dirty="0">
                <a:solidFill>
                  <a:srgbClr val="C4CDC6"/>
                </a:solidFill>
                <a:latin typeface="Aptos" pitchFamily="34" charset="0"/>
                <a:ea typeface="Aptos" pitchFamily="34" charset="-122"/>
                <a:cs typeface="Aptos" pitchFamily="34" charset="-120"/>
              </a:rPr>
              <a:t>F1</a:t>
            </a:r>
            <a:endParaRPr lang="en-US" sz="840" dirty="0"/>
          </a:p>
        </p:txBody>
      </p:sp>
      <p:sp>
        <p:nvSpPr>
          <p:cNvPr id="15" name="Shape 12"/>
          <p:cNvSpPr/>
          <p:nvPr/>
        </p:nvSpPr>
        <p:spPr>
          <a:xfrm>
            <a:off x="7543800" y="1691640"/>
            <a:ext cx="3520440" cy="914400"/>
          </a:xfrm>
          <a:prstGeom prst="roundRect">
            <a:avLst>
              <a:gd name="adj" fmla="val 8000"/>
            </a:avLst>
          </a:prstGeom>
          <a:solidFill>
            <a:srgbClr val="000000">
              <a:alpha val="87000"/>
            </a:srgbClr>
          </a:solidFill>
          <a:ln w="12700">
            <a:solidFill>
              <a:srgbClr val="9DFF00">
                <a:alpha val="34000"/>
              </a:srgbClr>
            </a:solidFill>
            <a:prstDash val="solid"/>
          </a:ln>
        </p:spPr>
      </p:sp>
      <p:sp>
        <p:nvSpPr>
          <p:cNvPr id="16" name="Text 13"/>
          <p:cNvSpPr/>
          <p:nvPr/>
        </p:nvSpPr>
        <p:spPr>
          <a:xfrm>
            <a:off x="7818120" y="1874520"/>
            <a:ext cx="1645920" cy="182880"/>
          </a:xfrm>
          <a:prstGeom prst="rect">
            <a:avLst/>
          </a:prstGeom>
          <a:noFill/>
          <a:ln/>
        </p:spPr>
        <p:txBody>
          <a:bodyPr wrap="square" lIns="254" tIns="254" rIns="254" bIns="254" rtlCol="0" anchor="t">
            <a:normAutofit/>
          </a:bodyPr>
          <a:lstStyle/>
          <a:p>
            <a:pPr algn="l" indent="0" marL="0">
              <a:buNone/>
            </a:pPr>
            <a:r>
              <a:rPr lang="en-US" sz="1250" b="1" dirty="0">
                <a:solidFill>
                  <a:srgbClr val="9DFF00"/>
                </a:solidFill>
                <a:latin typeface="Aptos" pitchFamily="34" charset="0"/>
                <a:ea typeface="Aptos" pitchFamily="34" charset="-122"/>
                <a:cs typeface="Aptos" pitchFamily="34" charset="-120"/>
              </a:rPr>
              <a:t>Validation flags</a:t>
            </a:r>
            <a:endParaRPr lang="en-US" sz="1250" dirty="0"/>
          </a:p>
        </p:txBody>
      </p:sp>
      <p:sp>
        <p:nvSpPr>
          <p:cNvPr id="17" name="Text 14"/>
          <p:cNvSpPr/>
          <p:nvPr/>
        </p:nvSpPr>
        <p:spPr>
          <a:xfrm>
            <a:off x="7818120" y="2176272"/>
            <a:ext cx="2697480" cy="228600"/>
          </a:xfrm>
          <a:prstGeom prst="rect">
            <a:avLst/>
          </a:prstGeom>
          <a:noFill/>
          <a:ln/>
        </p:spPr>
        <p:txBody>
          <a:bodyPr wrap="square" lIns="254" tIns="254" rIns="254" bIns="254" rtlCol="0" anchor="t">
            <a:normAutofit/>
          </a:bodyPr>
          <a:lstStyle/>
          <a:p>
            <a:pPr algn="l" indent="0" marL="0">
              <a:buNone/>
            </a:pPr>
            <a:r>
              <a:rPr lang="en-US" sz="1020" dirty="0">
                <a:solidFill>
                  <a:srgbClr val="FFFFFF"/>
                </a:solidFill>
                <a:latin typeface="Aptos" pitchFamily="34" charset="0"/>
                <a:ea typeface="Aptos" pitchFamily="34" charset="-122"/>
                <a:cs typeface="Aptos" pitchFamily="34" charset="-120"/>
              </a:rPr>
              <a:t>6,730 loans flagged; 2,234 were true charge-offs.</a:t>
            </a:r>
            <a:endParaRPr lang="en-US" sz="1020" dirty="0"/>
          </a:p>
        </p:txBody>
      </p:sp>
      <p:sp>
        <p:nvSpPr>
          <p:cNvPr id="18" name="Shape 15"/>
          <p:cNvSpPr/>
          <p:nvPr/>
        </p:nvSpPr>
        <p:spPr>
          <a:xfrm>
            <a:off x="868680" y="3337560"/>
            <a:ext cx="4892040" cy="1508760"/>
          </a:xfrm>
          <a:prstGeom prst="roundRect">
            <a:avLst>
              <a:gd name="adj" fmla="val 4848"/>
            </a:avLst>
          </a:prstGeom>
          <a:solidFill>
            <a:srgbClr val="000000">
              <a:alpha val="82000"/>
            </a:srgbClr>
          </a:solidFill>
          <a:ln w="12700">
            <a:solidFill>
              <a:srgbClr val="9DFF00">
                <a:alpha val="34000"/>
              </a:srgbClr>
            </a:solidFill>
            <a:prstDash val="solid"/>
          </a:ln>
        </p:spPr>
      </p:sp>
      <p:sp>
        <p:nvSpPr>
          <p:cNvPr id="19" name="Text 16"/>
          <p:cNvSpPr/>
          <p:nvPr/>
        </p:nvSpPr>
        <p:spPr>
          <a:xfrm>
            <a:off x="1143000" y="3547872"/>
            <a:ext cx="274320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Validation confusion matrix</a:t>
            </a:r>
            <a:endParaRPr lang="en-US" sz="1360" dirty="0"/>
          </a:p>
        </p:txBody>
      </p:sp>
      <p:sp>
        <p:nvSpPr>
          <p:cNvPr id="20" name="Shape 17"/>
          <p:cNvSpPr/>
          <p:nvPr/>
        </p:nvSpPr>
        <p:spPr>
          <a:xfrm>
            <a:off x="1170432" y="3950208"/>
            <a:ext cx="1453676" cy="259080"/>
          </a:xfrm>
          <a:prstGeom prst="rect">
            <a:avLst/>
          </a:prstGeom>
          <a:solidFill>
            <a:srgbClr val="9DFF00">
              <a:alpha val="18000"/>
            </a:srgbClr>
          </a:solidFill>
          <a:ln w="12700">
            <a:solidFill>
              <a:srgbClr val="333333">
                <a:alpha val="0"/>
              </a:srgbClr>
            </a:solidFill>
            <a:prstDash val="solid"/>
          </a:ln>
        </p:spPr>
      </p:sp>
      <p:sp>
        <p:nvSpPr>
          <p:cNvPr id="21" name="Text 18"/>
          <p:cNvSpPr/>
          <p:nvPr/>
        </p:nvSpPr>
        <p:spPr>
          <a:xfrm>
            <a:off x="1211580" y="3982212"/>
            <a:ext cx="1371380" cy="195072"/>
          </a:xfrm>
          <a:prstGeom prst="rect">
            <a:avLst/>
          </a:prstGeom>
          <a:noFill/>
          <a:ln/>
        </p:spPr>
        <p:txBody>
          <a:bodyPr wrap="square" lIns="254" tIns="254" rIns="254" bIns="254" rtlCol="0" anchor="t">
            <a:normAutofit/>
          </a:bodyPr>
          <a:lstStyle/>
          <a:p>
            <a:pPr algn="l" indent="0" marL="0">
              <a:buNone/>
            </a:pPr>
            <a:endParaRPr lang="en-US" sz="780" dirty="0"/>
          </a:p>
        </p:txBody>
      </p:sp>
      <p:sp>
        <p:nvSpPr>
          <p:cNvPr id="22" name="Shape 19"/>
          <p:cNvSpPr/>
          <p:nvPr/>
        </p:nvSpPr>
        <p:spPr>
          <a:xfrm>
            <a:off x="2624108" y="3950208"/>
            <a:ext cx="1353422" cy="259080"/>
          </a:xfrm>
          <a:prstGeom prst="rect">
            <a:avLst/>
          </a:prstGeom>
          <a:solidFill>
            <a:srgbClr val="9DFF00">
              <a:alpha val="18000"/>
            </a:srgbClr>
          </a:solidFill>
          <a:ln w="12700">
            <a:solidFill>
              <a:srgbClr val="333333">
                <a:alpha val="0"/>
              </a:srgbClr>
            </a:solidFill>
            <a:prstDash val="solid"/>
          </a:ln>
        </p:spPr>
      </p:sp>
      <p:sp>
        <p:nvSpPr>
          <p:cNvPr id="23" name="Text 20"/>
          <p:cNvSpPr/>
          <p:nvPr/>
        </p:nvSpPr>
        <p:spPr>
          <a:xfrm>
            <a:off x="2665256" y="3982212"/>
            <a:ext cx="1271126" cy="195072"/>
          </a:xfrm>
          <a:prstGeom prst="rect">
            <a:avLst/>
          </a:prstGeom>
          <a:noFill/>
          <a:ln/>
        </p:spPr>
        <p:txBody>
          <a:bodyPr wrap="square" lIns="254" tIns="254" rIns="254" bIns="254" rtlCol="0" anchor="t">
            <a:normAutofit/>
          </a:bodyPr>
          <a:lstStyle/>
          <a:p>
            <a:pPr algn="ctr" indent="0" marL="0">
              <a:buNone/>
            </a:pPr>
            <a:r>
              <a:rPr lang="en-US" sz="780" b="1" dirty="0">
                <a:solidFill>
                  <a:srgbClr val="9DFF00"/>
                </a:solidFill>
                <a:latin typeface="Aptos" pitchFamily="34" charset="0"/>
                <a:ea typeface="Aptos" pitchFamily="34" charset="-122"/>
                <a:cs typeface="Aptos" pitchFamily="34" charset="-120"/>
              </a:rPr>
              <a:t>Pred 0</a:t>
            </a:r>
            <a:endParaRPr lang="en-US" sz="780" dirty="0"/>
          </a:p>
        </p:txBody>
      </p:sp>
      <p:sp>
        <p:nvSpPr>
          <p:cNvPr id="24" name="Shape 21"/>
          <p:cNvSpPr/>
          <p:nvPr/>
        </p:nvSpPr>
        <p:spPr>
          <a:xfrm>
            <a:off x="3977530" y="3950208"/>
            <a:ext cx="1353422" cy="259080"/>
          </a:xfrm>
          <a:prstGeom prst="rect">
            <a:avLst/>
          </a:prstGeom>
          <a:solidFill>
            <a:srgbClr val="9DFF00">
              <a:alpha val="18000"/>
            </a:srgbClr>
          </a:solidFill>
          <a:ln w="12700">
            <a:solidFill>
              <a:srgbClr val="333333">
                <a:alpha val="0"/>
              </a:srgbClr>
            </a:solidFill>
            <a:prstDash val="solid"/>
          </a:ln>
        </p:spPr>
      </p:sp>
      <p:sp>
        <p:nvSpPr>
          <p:cNvPr id="25" name="Text 22"/>
          <p:cNvSpPr/>
          <p:nvPr/>
        </p:nvSpPr>
        <p:spPr>
          <a:xfrm>
            <a:off x="4018678" y="3982212"/>
            <a:ext cx="1271126" cy="195072"/>
          </a:xfrm>
          <a:prstGeom prst="rect">
            <a:avLst/>
          </a:prstGeom>
          <a:noFill/>
          <a:ln/>
        </p:spPr>
        <p:txBody>
          <a:bodyPr wrap="square" lIns="254" tIns="254" rIns="254" bIns="254" rtlCol="0" anchor="t">
            <a:normAutofit/>
          </a:bodyPr>
          <a:lstStyle/>
          <a:p>
            <a:pPr algn="ctr" indent="0" marL="0">
              <a:buNone/>
            </a:pPr>
            <a:r>
              <a:rPr lang="en-US" sz="780" b="1" dirty="0">
                <a:solidFill>
                  <a:srgbClr val="9DFF00"/>
                </a:solidFill>
                <a:latin typeface="Aptos" pitchFamily="34" charset="0"/>
                <a:ea typeface="Aptos" pitchFamily="34" charset="-122"/>
                <a:cs typeface="Aptos" pitchFamily="34" charset="-120"/>
              </a:rPr>
              <a:t>Pred 1</a:t>
            </a:r>
            <a:endParaRPr lang="en-US" sz="780" dirty="0"/>
          </a:p>
        </p:txBody>
      </p:sp>
      <p:sp>
        <p:nvSpPr>
          <p:cNvPr id="26" name="Shape 23"/>
          <p:cNvSpPr/>
          <p:nvPr/>
        </p:nvSpPr>
        <p:spPr>
          <a:xfrm>
            <a:off x="1170432" y="4209288"/>
            <a:ext cx="4160520" cy="0"/>
          </a:xfrm>
          <a:prstGeom prst="line">
            <a:avLst/>
          </a:prstGeom>
          <a:noFill/>
          <a:ln w="12700">
            <a:solidFill>
              <a:srgbClr val="9DFF00"/>
            </a:solidFill>
            <a:prstDash val="solid"/>
          </a:ln>
        </p:spPr>
      </p:sp>
      <p:sp>
        <p:nvSpPr>
          <p:cNvPr id="27" name="Text 24"/>
          <p:cNvSpPr/>
          <p:nvPr/>
        </p:nvSpPr>
        <p:spPr>
          <a:xfrm>
            <a:off x="1211580" y="4241292"/>
            <a:ext cx="1371380" cy="195072"/>
          </a:xfrm>
          <a:prstGeom prst="rect">
            <a:avLst/>
          </a:prstGeom>
          <a:noFill/>
          <a:ln/>
        </p:spPr>
        <p:txBody>
          <a:bodyPr wrap="square" lIns="254" tIns="254" rIns="254" bIns="254" rtlCol="0" anchor="t">
            <a:normAutofit/>
          </a:bodyPr>
          <a:lstStyle/>
          <a:p>
            <a:pPr algn="l" indent="0" marL="0">
              <a:buNone/>
            </a:pPr>
            <a:r>
              <a:rPr lang="en-US" sz="820" dirty="0">
                <a:solidFill>
                  <a:srgbClr val="FFFFFF"/>
                </a:solidFill>
                <a:latin typeface="Aptos" pitchFamily="34" charset="0"/>
                <a:ea typeface="Aptos" pitchFamily="34" charset="-122"/>
                <a:cs typeface="Aptos" pitchFamily="34" charset="-120"/>
              </a:rPr>
              <a:t>Actual 0</a:t>
            </a:r>
            <a:endParaRPr lang="en-US" sz="820" dirty="0"/>
          </a:p>
        </p:txBody>
      </p:sp>
      <p:sp>
        <p:nvSpPr>
          <p:cNvPr id="28" name="Text 25"/>
          <p:cNvSpPr/>
          <p:nvPr/>
        </p:nvSpPr>
        <p:spPr>
          <a:xfrm>
            <a:off x="2665256" y="4241292"/>
            <a:ext cx="1271126" cy="195072"/>
          </a:xfrm>
          <a:prstGeom prst="rect">
            <a:avLst/>
          </a:prstGeom>
          <a:noFill/>
          <a:ln/>
        </p:spPr>
        <p:txBody>
          <a:bodyPr wrap="square" lIns="254" tIns="254" rIns="254" bIns="254" rtlCol="0" anchor="t">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87347</a:t>
            </a:r>
            <a:endParaRPr lang="en-US" sz="820" dirty="0"/>
          </a:p>
        </p:txBody>
      </p:sp>
      <p:sp>
        <p:nvSpPr>
          <p:cNvPr id="29" name="Text 26"/>
          <p:cNvSpPr/>
          <p:nvPr/>
        </p:nvSpPr>
        <p:spPr>
          <a:xfrm>
            <a:off x="4018678" y="4241292"/>
            <a:ext cx="1271126" cy="195072"/>
          </a:xfrm>
          <a:prstGeom prst="rect">
            <a:avLst/>
          </a:prstGeom>
          <a:noFill/>
          <a:ln/>
        </p:spPr>
        <p:txBody>
          <a:bodyPr wrap="square" lIns="254" tIns="254" rIns="254" bIns="254" rtlCol="0" anchor="t">
            <a:normAutofit/>
          </a:bodyPr>
          <a:lstStyle/>
          <a:p>
            <a:pPr algn="ctr" indent="0" marL="0">
              <a:buNone/>
            </a:pPr>
            <a:r>
              <a:rPr lang="en-US" sz="820" dirty="0">
                <a:solidFill>
                  <a:srgbClr val="FFFFFF"/>
                </a:solidFill>
                <a:latin typeface="Aptos" pitchFamily="34" charset="0"/>
                <a:ea typeface="Aptos" pitchFamily="34" charset="-122"/>
                <a:cs typeface="Aptos" pitchFamily="34" charset="-120"/>
              </a:rPr>
              <a:t>4496</a:t>
            </a:r>
            <a:endParaRPr lang="en-US" sz="820" dirty="0"/>
          </a:p>
        </p:txBody>
      </p:sp>
      <p:sp>
        <p:nvSpPr>
          <p:cNvPr id="30" name="Shape 27"/>
          <p:cNvSpPr/>
          <p:nvPr/>
        </p:nvSpPr>
        <p:spPr>
          <a:xfrm>
            <a:off x="1170432" y="4468368"/>
            <a:ext cx="4160520" cy="0"/>
          </a:xfrm>
          <a:prstGeom prst="line">
            <a:avLst/>
          </a:prstGeom>
          <a:noFill/>
          <a:ln w="6350">
            <a:solidFill>
              <a:srgbClr val="2D342F">
                <a:alpha val="75000"/>
              </a:srgbClr>
            </a:solidFill>
            <a:prstDash val="solid"/>
          </a:ln>
        </p:spPr>
      </p:sp>
      <p:sp>
        <p:nvSpPr>
          <p:cNvPr id="31" name="Text 28"/>
          <p:cNvSpPr/>
          <p:nvPr/>
        </p:nvSpPr>
        <p:spPr>
          <a:xfrm>
            <a:off x="1211580" y="4500372"/>
            <a:ext cx="1371380" cy="195072"/>
          </a:xfrm>
          <a:prstGeom prst="rect">
            <a:avLst/>
          </a:prstGeom>
          <a:noFill/>
          <a:ln/>
        </p:spPr>
        <p:txBody>
          <a:bodyPr wrap="square" lIns="254" tIns="254" rIns="254" bIns="254" rtlCol="0" anchor="t">
            <a:normAutofit/>
          </a:bodyPr>
          <a:lstStyle/>
          <a:p>
            <a:pPr algn="l" indent="0" marL="0">
              <a:buNone/>
            </a:pPr>
            <a:r>
              <a:rPr lang="en-US" sz="820" dirty="0">
                <a:solidFill>
                  <a:srgbClr val="9DFF00"/>
                </a:solidFill>
                <a:latin typeface="Aptos" pitchFamily="34" charset="0"/>
                <a:ea typeface="Aptos" pitchFamily="34" charset="-122"/>
                <a:cs typeface="Aptos" pitchFamily="34" charset="-120"/>
              </a:rPr>
              <a:t>Actual 1</a:t>
            </a:r>
            <a:endParaRPr lang="en-US" sz="820" dirty="0"/>
          </a:p>
        </p:txBody>
      </p:sp>
      <p:sp>
        <p:nvSpPr>
          <p:cNvPr id="32" name="Text 29"/>
          <p:cNvSpPr/>
          <p:nvPr/>
        </p:nvSpPr>
        <p:spPr>
          <a:xfrm>
            <a:off x="2665256" y="4500372"/>
            <a:ext cx="1271126" cy="195072"/>
          </a:xfrm>
          <a:prstGeom prst="rect">
            <a:avLst/>
          </a:prstGeom>
          <a:noFill/>
          <a:ln/>
        </p:spPr>
        <p:txBody>
          <a:bodyPr wrap="square" lIns="254" tIns="254" rIns="254" bIns="254" rtlCol="0" anchor="t">
            <a:normAutofit/>
          </a:bodyPr>
          <a:lstStyle/>
          <a:p>
            <a:pPr algn="ctr" indent="0" marL="0">
              <a:buNone/>
            </a:pPr>
            <a:r>
              <a:rPr lang="en-US" sz="820" dirty="0">
                <a:solidFill>
                  <a:srgbClr val="9DFF00"/>
                </a:solidFill>
                <a:latin typeface="Aptos" pitchFamily="34" charset="0"/>
                <a:ea typeface="Aptos" pitchFamily="34" charset="-122"/>
                <a:cs typeface="Aptos" pitchFamily="34" charset="-120"/>
              </a:rPr>
              <a:t>1776</a:t>
            </a:r>
            <a:endParaRPr lang="en-US" sz="820" dirty="0"/>
          </a:p>
        </p:txBody>
      </p:sp>
      <p:sp>
        <p:nvSpPr>
          <p:cNvPr id="33" name="Text 30"/>
          <p:cNvSpPr/>
          <p:nvPr/>
        </p:nvSpPr>
        <p:spPr>
          <a:xfrm>
            <a:off x="4018678" y="4500372"/>
            <a:ext cx="1271126" cy="195072"/>
          </a:xfrm>
          <a:prstGeom prst="rect">
            <a:avLst/>
          </a:prstGeom>
          <a:noFill/>
          <a:ln/>
        </p:spPr>
        <p:txBody>
          <a:bodyPr wrap="square" lIns="254" tIns="254" rIns="254" bIns="254" rtlCol="0" anchor="t">
            <a:normAutofit/>
          </a:bodyPr>
          <a:lstStyle/>
          <a:p>
            <a:pPr algn="ctr" indent="0" marL="0">
              <a:buNone/>
            </a:pPr>
            <a:r>
              <a:rPr lang="en-US" sz="820" dirty="0">
                <a:solidFill>
                  <a:srgbClr val="9DFF00"/>
                </a:solidFill>
                <a:latin typeface="Aptos" pitchFamily="34" charset="0"/>
                <a:ea typeface="Aptos" pitchFamily="34" charset="-122"/>
                <a:cs typeface="Aptos" pitchFamily="34" charset="-120"/>
              </a:rPr>
              <a:t>2234</a:t>
            </a:r>
            <a:endParaRPr lang="en-US" sz="820" dirty="0"/>
          </a:p>
        </p:txBody>
      </p:sp>
      <p:sp>
        <p:nvSpPr>
          <p:cNvPr id="34" name="Shape 31"/>
          <p:cNvSpPr/>
          <p:nvPr/>
        </p:nvSpPr>
        <p:spPr>
          <a:xfrm>
            <a:off x="1170432" y="4727448"/>
            <a:ext cx="4160520" cy="0"/>
          </a:xfrm>
          <a:prstGeom prst="line">
            <a:avLst/>
          </a:prstGeom>
          <a:noFill/>
          <a:ln w="6350">
            <a:solidFill>
              <a:srgbClr val="2D342F">
                <a:alpha val="75000"/>
              </a:srgbClr>
            </a:solidFill>
            <a:prstDash val="solid"/>
          </a:ln>
        </p:spPr>
      </p:sp>
      <p:sp>
        <p:nvSpPr>
          <p:cNvPr id="35" name="Shape 32"/>
          <p:cNvSpPr/>
          <p:nvPr/>
        </p:nvSpPr>
        <p:spPr>
          <a:xfrm>
            <a:off x="6355080" y="3337560"/>
            <a:ext cx="4892040" cy="1508760"/>
          </a:xfrm>
          <a:prstGeom prst="roundRect">
            <a:avLst>
              <a:gd name="adj" fmla="val 4848"/>
            </a:avLst>
          </a:prstGeom>
          <a:solidFill>
            <a:srgbClr val="000000">
              <a:alpha val="82000"/>
            </a:srgbClr>
          </a:solidFill>
          <a:ln w="12700">
            <a:solidFill>
              <a:srgbClr val="9DFF00">
                <a:alpha val="34000"/>
              </a:srgbClr>
            </a:solidFill>
            <a:prstDash val="solid"/>
          </a:ln>
        </p:spPr>
      </p:sp>
      <p:sp>
        <p:nvSpPr>
          <p:cNvPr id="36" name="Text 33"/>
          <p:cNvSpPr/>
          <p:nvPr/>
        </p:nvSpPr>
        <p:spPr>
          <a:xfrm>
            <a:off x="6629400" y="3547872"/>
            <a:ext cx="201168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How to explain it</a:t>
            </a:r>
            <a:endParaRPr lang="en-US" sz="1360" dirty="0"/>
          </a:p>
        </p:txBody>
      </p:sp>
      <p:sp>
        <p:nvSpPr>
          <p:cNvPr id="37" name="Text 34"/>
          <p:cNvSpPr/>
          <p:nvPr/>
        </p:nvSpPr>
        <p:spPr>
          <a:xfrm>
            <a:off x="6720840" y="3913632"/>
            <a:ext cx="3749040" cy="566928"/>
          </a:xfrm>
          <a:prstGeom prst="rect">
            <a:avLst/>
          </a:prstGeom>
          <a:noFill/>
          <a:ln/>
        </p:spPr>
        <p:txBody>
          <a:bodyPr wrap="square" lIns="254" tIns="254" rIns="254" bIns="254" rtlCol="0" anchor="ctr">
            <a:normAutofit/>
          </a:bodyPr>
          <a:lstStyle/>
          <a:p>
            <a:r>
              <a:rPr lang="en-US" sz="900" dirty="0">
                <a:solidFill>
                  <a:srgbClr val="FFFFFF"/>
                </a:solidFill>
                <a:latin typeface="Aptos" pitchFamily="34" charset="0"/>
                <a:ea typeface="Aptos" pitchFamily="34" charset="-122"/>
                <a:cs typeface="Aptos" pitchFamily="34" charset="-120"/>
              </a:rPr>
              <a:t>False positives = extra review for loans that perform.</a:t>
            </a:r>
            <a:endParaRPr lang="en-US" sz="900" dirty="0"/>
          </a:p>
          <a:p>
            <a:r>
              <a:rPr lang="en-US" sz="900" dirty="0">
                <a:solidFill>
                  <a:srgbClr val="FFFFFF"/>
                </a:solidFill>
                <a:latin typeface="Aptos" pitchFamily="34" charset="0"/>
                <a:ea typeface="Aptos" pitchFamily="34" charset="-122"/>
                <a:cs typeface="Aptos" pitchFamily="34" charset="-120"/>
              </a:rPr>
              <a:t>False negatives = charge-offs the model misses.</a:t>
            </a:r>
            <a:endParaRPr lang="en-US" sz="900" dirty="0"/>
          </a:p>
          <a:p>
            <a:r>
              <a:rPr lang="en-US" sz="900" dirty="0">
                <a:solidFill>
                  <a:srgbClr val="FFFFFF"/>
                </a:solidFill>
                <a:latin typeface="Aptos" pitchFamily="34" charset="0"/>
                <a:ea typeface="Aptos" pitchFamily="34" charset="-122"/>
                <a:cs typeface="Aptos" pitchFamily="34" charset="-120"/>
              </a:rPr>
              <a:t>This threshold catches more than half of validation charge-offs.</a:t>
            </a:r>
            <a:endParaRPr lang="en-US" sz="900" dirty="0"/>
          </a:p>
        </p:txBody>
      </p:sp>
      <p:sp>
        <p:nvSpPr>
          <p:cNvPr id="38" name="Text 35"/>
          <p:cNvSpPr/>
          <p:nvPr/>
        </p:nvSpPr>
        <p:spPr>
          <a:xfrm>
            <a:off x="566928" y="6473952"/>
            <a:ext cx="6217920" cy="201168"/>
          </a:xfrm>
          <a:prstGeom prst="rect">
            <a:avLst/>
          </a:prstGeom>
          <a:noFill/>
          <a:ln/>
        </p:spPr>
        <p:txBody>
          <a:bodyPr wrap="square" lIns="0" tIns="0" rIns="0" bIns="0" rtlCol="0" anchor="ctr"/>
          <a:lstStyle/>
          <a:p>
            <a:pPr indent="0" marL="0">
              <a:buNone/>
            </a:pPr>
            <a:r>
              <a:rPr lang="en-US" sz="740" dirty="0">
                <a:solidFill>
                  <a:srgbClr val="C4CDC6"/>
                </a:solidFill>
              </a:rPr>
              <a:t>DATA 400 | SBA 7(a) Credit-Risk Mini Project</a:t>
            </a:r>
            <a:endParaRPr lang="en-US" sz="740" dirty="0"/>
          </a:p>
        </p:txBody>
      </p:sp>
      <p:sp>
        <p:nvSpPr>
          <p:cNvPr id="39" name="Text 36"/>
          <p:cNvSpPr/>
          <p:nvPr/>
        </p:nvSpPr>
        <p:spPr>
          <a:xfrm>
            <a:off x="11082528" y="6455664"/>
            <a:ext cx="502920" cy="201168"/>
          </a:xfrm>
          <a:prstGeom prst="rect">
            <a:avLst/>
          </a:prstGeom>
          <a:noFill/>
          <a:ln/>
        </p:spPr>
        <p:txBody>
          <a:bodyPr wrap="square" lIns="0" tIns="0" rIns="0" bIns="0" rtlCol="0" anchor="ctr"/>
          <a:lstStyle/>
          <a:p>
            <a:pPr algn="r" indent="0" marL="0">
              <a:buNone/>
            </a:pPr>
            <a:r>
              <a:rPr lang="en-US" sz="800" b="1" dirty="0">
                <a:solidFill>
                  <a:srgbClr val="9DFF00"/>
                </a:solidFill>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50607"/>
        </a:solidFill>
      </p:bgPr>
    </p:bg>
    <p:spTree>
      <p:nvGrpSpPr>
        <p:cNvPr id="1" name=""/>
        <p:cNvGrpSpPr/>
        <p:nvPr/>
      </p:nvGrpSpPr>
      <p:grpSpPr>
        <a:xfrm>
          <a:off x="0" y="0"/>
          <a:ext cx="0" cy="0"/>
          <a:chOff x="0" y="0"/>
          <a:chExt cx="0" cy="0"/>
        </a:xfrm>
      </p:grpSpPr>
      <p:pic>
        <p:nvPicPr>
          <p:cNvPr id="2" name="Image 0" descr="/mnt/data/sample_ppt_extract/ppt/media/dark_image1.jpeg">    </p:cNvPr>
          <p:cNvPicPr>
            <a:picLocks noChangeAspect="1"/>
          </p:cNvPicPr>
          <p:nvPr/>
        </p:nvPicPr>
        <p:blipFill>
          <a:blip r:embed="rId1"/>
          <a:srcRect l="0" r="0" t="4004" b="4004"/>
          <a:stretch/>
        </p:blipFill>
        <p:spPr>
          <a:xfrm>
            <a:off x="0" y="0"/>
            <a:ext cx="12191695" cy="6858000"/>
          </a:xfrm>
          <a:prstGeom prst="rect">
            <a:avLst/>
          </a:prstGeom>
        </p:spPr>
      </p:pic>
      <p:sp>
        <p:nvSpPr>
          <p:cNvPr id="3" name="Shape 0"/>
          <p:cNvSpPr/>
          <p:nvPr/>
        </p:nvSpPr>
        <p:spPr>
          <a:xfrm>
            <a:off x="201168" y="256032"/>
            <a:ext cx="50292" cy="6263640"/>
          </a:xfrm>
          <a:prstGeom prst="rect">
            <a:avLst/>
          </a:prstGeom>
          <a:solidFill>
            <a:srgbClr val="9DFF00"/>
          </a:solidFill>
          <a:ln w="12700">
            <a:solidFill>
              <a:srgbClr val="333333">
                <a:alpha val="0"/>
              </a:srgbClr>
            </a:solidFill>
            <a:prstDash val="solid"/>
          </a:ln>
        </p:spPr>
      </p:sp>
      <p:sp>
        <p:nvSpPr>
          <p:cNvPr id="4" name="Text 1"/>
          <p:cNvSpPr/>
          <p:nvPr/>
        </p:nvSpPr>
        <p:spPr>
          <a:xfrm>
            <a:off x="566928" y="310896"/>
            <a:ext cx="4754880" cy="228600"/>
          </a:xfrm>
          <a:prstGeom prst="rect">
            <a:avLst/>
          </a:prstGeom>
          <a:noFill/>
          <a:ln/>
        </p:spPr>
        <p:txBody>
          <a:bodyPr wrap="square" lIns="0" tIns="0" rIns="0" bIns="0" rtlCol="0" anchor="ctr">
            <a:normAutofit/>
          </a:bodyPr>
          <a:lstStyle/>
          <a:p>
            <a:pPr indent="0" marL="0">
              <a:buNone/>
            </a:pPr>
            <a:r>
              <a:rPr lang="en-US" sz="850" b="1" dirty="0">
                <a:solidFill>
                  <a:srgbClr val="9DFF00"/>
                </a:solidFill>
                <a:latin typeface="Aptos" pitchFamily="34" charset="0"/>
                <a:ea typeface="Aptos" pitchFamily="34" charset="-122"/>
                <a:cs typeface="Aptos" pitchFamily="34" charset="-120"/>
              </a:rPr>
              <a:t>LOCKED TEST PERFORMANCE</a:t>
            </a:r>
            <a:endParaRPr lang="en-US" sz="850" dirty="0"/>
          </a:p>
        </p:txBody>
      </p:sp>
      <p:sp>
        <p:nvSpPr>
          <p:cNvPr id="5" name="Text 2"/>
          <p:cNvSpPr/>
          <p:nvPr/>
        </p:nvSpPr>
        <p:spPr>
          <a:xfrm>
            <a:off x="566928" y="621792"/>
            <a:ext cx="10652760" cy="566928"/>
          </a:xfrm>
          <a:prstGeom prst="rect">
            <a:avLst/>
          </a:prstGeom>
          <a:noFill/>
          <a:ln/>
        </p:spPr>
        <p:txBody>
          <a:bodyPr wrap="square" lIns="0" tIns="0" rIns="0" bIns="0" rtlCol="0" anchor="ctr">
            <a:normAutofit/>
          </a:bodyPr>
          <a:lstStyle/>
          <a:p>
            <a:pPr indent="0" marL="0">
              <a:buNone/>
            </a:pPr>
            <a:r>
              <a:rPr lang="en-US" sz="2450" b="1" dirty="0">
                <a:solidFill>
                  <a:srgbClr val="FFFFFF"/>
                </a:solidFill>
                <a:latin typeface="Aptos Display" pitchFamily="34" charset="0"/>
                <a:ea typeface="Aptos Display" pitchFamily="34" charset="-122"/>
                <a:cs typeface="Aptos Display" pitchFamily="34" charset="-120"/>
              </a:rPr>
              <a:t>Evaluate once on future-period approvals</a:t>
            </a:r>
            <a:endParaRPr lang="en-US" sz="2450" dirty="0"/>
          </a:p>
        </p:txBody>
      </p:sp>
      <p:sp>
        <p:nvSpPr>
          <p:cNvPr id="6" name="Shape 3"/>
          <p:cNvSpPr/>
          <p:nvPr/>
        </p:nvSpPr>
        <p:spPr>
          <a:xfrm>
            <a:off x="566928" y="1307592"/>
            <a:ext cx="10716768" cy="0"/>
          </a:xfrm>
          <a:prstGeom prst="line">
            <a:avLst/>
          </a:prstGeom>
          <a:noFill/>
          <a:ln w="13335">
            <a:solidFill>
              <a:srgbClr val="9DFF00">
                <a:alpha val="95000"/>
              </a:srgbClr>
            </a:solidFill>
            <a:prstDash val="solid"/>
          </a:ln>
        </p:spPr>
      </p:sp>
      <p:sp>
        <p:nvSpPr>
          <p:cNvPr id="7" name="Shape 4"/>
          <p:cNvSpPr/>
          <p:nvPr/>
        </p:nvSpPr>
        <p:spPr>
          <a:xfrm>
            <a:off x="731520" y="1691640"/>
            <a:ext cx="2560320" cy="429768"/>
          </a:xfrm>
          <a:prstGeom prst="rect">
            <a:avLst/>
          </a:prstGeom>
          <a:solidFill>
            <a:srgbClr val="9DFF00">
              <a:alpha val="18000"/>
            </a:srgbClr>
          </a:solidFill>
          <a:ln w="12700">
            <a:solidFill>
              <a:srgbClr val="333333">
                <a:alpha val="0"/>
              </a:srgbClr>
            </a:solidFill>
            <a:prstDash val="solid"/>
          </a:ln>
        </p:spPr>
      </p:sp>
      <p:sp>
        <p:nvSpPr>
          <p:cNvPr id="8" name="Text 5"/>
          <p:cNvSpPr/>
          <p:nvPr/>
        </p:nvSpPr>
        <p:spPr>
          <a:xfrm>
            <a:off x="772668" y="1723644"/>
            <a:ext cx="2478024" cy="365760"/>
          </a:xfrm>
          <a:prstGeom prst="rect">
            <a:avLst/>
          </a:prstGeom>
          <a:noFill/>
          <a:ln/>
        </p:spPr>
        <p:txBody>
          <a:bodyPr wrap="square" lIns="254" tIns="254" rIns="254" bIns="254" rtlCol="0" anchor="t">
            <a:normAutofit/>
          </a:bodyPr>
          <a:lstStyle/>
          <a:p>
            <a:pPr algn="l" indent="0" marL="0">
              <a:buNone/>
            </a:pPr>
            <a:r>
              <a:rPr lang="en-US" sz="810" b="1" dirty="0">
                <a:solidFill>
                  <a:srgbClr val="9DFF00"/>
                </a:solidFill>
                <a:latin typeface="Aptos" pitchFamily="34" charset="0"/>
                <a:ea typeface="Aptos" pitchFamily="34" charset="-122"/>
                <a:cs typeface="Aptos" pitchFamily="34" charset="-120"/>
              </a:rPr>
              <a:t>Metric</a:t>
            </a:r>
            <a:endParaRPr lang="en-US" sz="810" dirty="0"/>
          </a:p>
        </p:txBody>
      </p:sp>
      <p:sp>
        <p:nvSpPr>
          <p:cNvPr id="9" name="Shape 6"/>
          <p:cNvSpPr/>
          <p:nvPr/>
        </p:nvSpPr>
        <p:spPr>
          <a:xfrm>
            <a:off x="3291840" y="1691640"/>
            <a:ext cx="2606040" cy="429768"/>
          </a:xfrm>
          <a:prstGeom prst="rect">
            <a:avLst/>
          </a:prstGeom>
          <a:solidFill>
            <a:srgbClr val="9DFF00">
              <a:alpha val="18000"/>
            </a:srgbClr>
          </a:solidFill>
          <a:ln w="12700">
            <a:solidFill>
              <a:srgbClr val="333333">
                <a:alpha val="0"/>
              </a:srgbClr>
            </a:solidFill>
            <a:prstDash val="solid"/>
          </a:ln>
        </p:spPr>
      </p:sp>
      <p:sp>
        <p:nvSpPr>
          <p:cNvPr id="10" name="Text 7"/>
          <p:cNvSpPr/>
          <p:nvPr/>
        </p:nvSpPr>
        <p:spPr>
          <a:xfrm>
            <a:off x="3332988" y="1723644"/>
            <a:ext cx="2523744" cy="365760"/>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Test result</a:t>
            </a:r>
            <a:endParaRPr lang="en-US" sz="810" dirty="0"/>
          </a:p>
        </p:txBody>
      </p:sp>
      <p:sp>
        <p:nvSpPr>
          <p:cNvPr id="11" name="Shape 8"/>
          <p:cNvSpPr/>
          <p:nvPr/>
        </p:nvSpPr>
        <p:spPr>
          <a:xfrm>
            <a:off x="731520" y="2121408"/>
            <a:ext cx="5166360" cy="0"/>
          </a:xfrm>
          <a:prstGeom prst="line">
            <a:avLst/>
          </a:prstGeom>
          <a:noFill/>
          <a:ln w="12700">
            <a:solidFill>
              <a:srgbClr val="9DFF00"/>
            </a:solidFill>
            <a:prstDash val="solid"/>
          </a:ln>
        </p:spPr>
      </p:sp>
      <p:sp>
        <p:nvSpPr>
          <p:cNvPr id="12" name="Text 9"/>
          <p:cNvSpPr/>
          <p:nvPr/>
        </p:nvSpPr>
        <p:spPr>
          <a:xfrm>
            <a:off x="772668" y="2153412"/>
            <a:ext cx="2478024" cy="365760"/>
          </a:xfrm>
          <a:prstGeom prst="rect">
            <a:avLst/>
          </a:prstGeom>
          <a:noFill/>
          <a:ln/>
        </p:spPr>
        <p:txBody>
          <a:bodyPr wrap="square" lIns="254" tIns="254" rIns="254" bIns="254" rtlCol="0" anchor="t">
            <a:normAutofit/>
          </a:bodyPr>
          <a:lstStyle/>
          <a:p>
            <a:pPr algn="l" indent="0" marL="0">
              <a:buNone/>
            </a:pPr>
            <a:r>
              <a:rPr lang="en-US" sz="900" dirty="0">
                <a:solidFill>
                  <a:srgbClr val="FFFFFF"/>
                </a:solidFill>
                <a:latin typeface="Aptos" pitchFamily="34" charset="0"/>
                <a:ea typeface="Aptos" pitchFamily="34" charset="-122"/>
                <a:cs typeface="Aptos" pitchFamily="34" charset="-120"/>
              </a:rPr>
              <a:t>Rows / base charge-off rate</a:t>
            </a:r>
            <a:endParaRPr lang="en-US" sz="900" dirty="0"/>
          </a:p>
        </p:txBody>
      </p:sp>
      <p:sp>
        <p:nvSpPr>
          <p:cNvPr id="13" name="Text 10"/>
          <p:cNvSpPr/>
          <p:nvPr/>
        </p:nvSpPr>
        <p:spPr>
          <a:xfrm>
            <a:off x="3332988" y="2153412"/>
            <a:ext cx="2523744" cy="365760"/>
          </a:xfrm>
          <a:prstGeom prst="rect">
            <a:avLst/>
          </a:prstGeom>
          <a:noFill/>
          <a:ln/>
        </p:spPr>
        <p:txBody>
          <a:bodyPr wrap="square" lIns="254" tIns="254" rIns="254" bIns="254" rtlCol="0" anchor="t">
            <a:normAutofit/>
          </a:bodyPr>
          <a:lstStyle/>
          <a:p>
            <a:pPr algn="ctr" indent="0" marL="0">
              <a:buNone/>
            </a:pPr>
            <a:r>
              <a:rPr lang="en-US" sz="900" dirty="0">
                <a:solidFill>
                  <a:srgbClr val="FFFFFF"/>
                </a:solidFill>
                <a:latin typeface="Aptos" pitchFamily="34" charset="0"/>
                <a:ea typeface="Aptos" pitchFamily="34" charset="-122"/>
                <a:cs typeface="Aptos" pitchFamily="34" charset="-120"/>
              </a:rPr>
              <a:t>54,249 / 2.36%</a:t>
            </a:r>
            <a:endParaRPr lang="en-US" sz="900" dirty="0"/>
          </a:p>
        </p:txBody>
      </p:sp>
      <p:sp>
        <p:nvSpPr>
          <p:cNvPr id="14" name="Shape 11"/>
          <p:cNvSpPr/>
          <p:nvPr/>
        </p:nvSpPr>
        <p:spPr>
          <a:xfrm>
            <a:off x="731520" y="2551176"/>
            <a:ext cx="5166360" cy="0"/>
          </a:xfrm>
          <a:prstGeom prst="line">
            <a:avLst/>
          </a:prstGeom>
          <a:noFill/>
          <a:ln w="6350">
            <a:solidFill>
              <a:srgbClr val="2D342F">
                <a:alpha val="75000"/>
              </a:srgbClr>
            </a:solidFill>
            <a:prstDash val="solid"/>
          </a:ln>
        </p:spPr>
      </p:sp>
      <p:sp>
        <p:nvSpPr>
          <p:cNvPr id="15" name="Text 12"/>
          <p:cNvSpPr/>
          <p:nvPr/>
        </p:nvSpPr>
        <p:spPr>
          <a:xfrm>
            <a:off x="772668" y="2583180"/>
            <a:ext cx="2478024" cy="365760"/>
          </a:xfrm>
          <a:prstGeom prst="rect">
            <a:avLst/>
          </a:prstGeom>
          <a:noFill/>
          <a:ln/>
        </p:spPr>
        <p:txBody>
          <a:bodyPr wrap="square" lIns="254" tIns="254" rIns="254" bIns="254" rtlCol="0" anchor="t">
            <a:normAutofit/>
          </a:bodyPr>
          <a:lstStyle/>
          <a:p>
            <a:pPr algn="l" indent="0" marL="0">
              <a:buNone/>
            </a:pPr>
            <a:r>
              <a:rPr lang="en-US" sz="900" dirty="0">
                <a:solidFill>
                  <a:srgbClr val="FFFFFF"/>
                </a:solidFill>
                <a:latin typeface="Aptos" pitchFamily="34" charset="0"/>
                <a:ea typeface="Aptos" pitchFamily="34" charset="-122"/>
                <a:cs typeface="Aptos" pitchFamily="34" charset="-120"/>
              </a:rPr>
              <a:t>PR-AUC</a:t>
            </a:r>
            <a:endParaRPr lang="en-US" sz="900" dirty="0"/>
          </a:p>
        </p:txBody>
      </p:sp>
      <p:sp>
        <p:nvSpPr>
          <p:cNvPr id="16" name="Text 13"/>
          <p:cNvSpPr/>
          <p:nvPr/>
        </p:nvSpPr>
        <p:spPr>
          <a:xfrm>
            <a:off x="3332988" y="2583180"/>
            <a:ext cx="2523744" cy="365760"/>
          </a:xfrm>
          <a:prstGeom prst="rect">
            <a:avLst/>
          </a:prstGeom>
          <a:noFill/>
          <a:ln/>
        </p:spPr>
        <p:txBody>
          <a:bodyPr wrap="square" lIns="254" tIns="254" rIns="254" bIns="254" rtlCol="0" anchor="t">
            <a:normAutofit/>
          </a:bodyPr>
          <a:lstStyle/>
          <a:p>
            <a:pPr algn="ctr" indent="0" marL="0">
              <a:buNone/>
            </a:pPr>
            <a:r>
              <a:rPr lang="en-US" sz="900" dirty="0">
                <a:solidFill>
                  <a:srgbClr val="FFFFFF"/>
                </a:solidFill>
                <a:latin typeface="Aptos" pitchFamily="34" charset="0"/>
                <a:ea typeface="Aptos" pitchFamily="34" charset="-122"/>
                <a:cs typeface="Aptos" pitchFamily="34" charset="-120"/>
              </a:rPr>
              <a:t>0.352</a:t>
            </a:r>
            <a:endParaRPr lang="en-US" sz="900" dirty="0"/>
          </a:p>
        </p:txBody>
      </p:sp>
      <p:sp>
        <p:nvSpPr>
          <p:cNvPr id="17" name="Shape 14"/>
          <p:cNvSpPr/>
          <p:nvPr/>
        </p:nvSpPr>
        <p:spPr>
          <a:xfrm>
            <a:off x="731520" y="2980944"/>
            <a:ext cx="5166360" cy="0"/>
          </a:xfrm>
          <a:prstGeom prst="line">
            <a:avLst/>
          </a:prstGeom>
          <a:noFill/>
          <a:ln w="6350">
            <a:solidFill>
              <a:srgbClr val="2D342F">
                <a:alpha val="75000"/>
              </a:srgbClr>
            </a:solidFill>
            <a:prstDash val="solid"/>
          </a:ln>
        </p:spPr>
      </p:sp>
      <p:sp>
        <p:nvSpPr>
          <p:cNvPr id="18" name="Text 15"/>
          <p:cNvSpPr/>
          <p:nvPr/>
        </p:nvSpPr>
        <p:spPr>
          <a:xfrm>
            <a:off x="772668" y="3012948"/>
            <a:ext cx="2478024" cy="365760"/>
          </a:xfrm>
          <a:prstGeom prst="rect">
            <a:avLst/>
          </a:prstGeom>
          <a:noFill/>
          <a:ln/>
        </p:spPr>
        <p:txBody>
          <a:bodyPr wrap="square" lIns="254" tIns="254" rIns="254" bIns="254" rtlCol="0" anchor="t">
            <a:normAutofit/>
          </a:bodyPr>
          <a:lstStyle/>
          <a:p>
            <a:pPr algn="l" indent="0" marL="0">
              <a:buNone/>
            </a:pPr>
            <a:r>
              <a:rPr lang="en-US" sz="900" dirty="0">
                <a:solidFill>
                  <a:srgbClr val="FFFFFF"/>
                </a:solidFill>
                <a:latin typeface="Aptos" pitchFamily="34" charset="0"/>
                <a:ea typeface="Aptos" pitchFamily="34" charset="-122"/>
                <a:cs typeface="Aptos" pitchFamily="34" charset="-120"/>
              </a:rPr>
              <a:t>ROC-AUC</a:t>
            </a:r>
            <a:endParaRPr lang="en-US" sz="900" dirty="0"/>
          </a:p>
        </p:txBody>
      </p:sp>
      <p:sp>
        <p:nvSpPr>
          <p:cNvPr id="19" name="Text 16"/>
          <p:cNvSpPr/>
          <p:nvPr/>
        </p:nvSpPr>
        <p:spPr>
          <a:xfrm>
            <a:off x="3332988" y="3012948"/>
            <a:ext cx="2523744" cy="365760"/>
          </a:xfrm>
          <a:prstGeom prst="rect">
            <a:avLst/>
          </a:prstGeom>
          <a:noFill/>
          <a:ln/>
        </p:spPr>
        <p:txBody>
          <a:bodyPr wrap="square" lIns="254" tIns="254" rIns="254" bIns="254" rtlCol="0" anchor="t">
            <a:normAutofit/>
          </a:bodyPr>
          <a:lstStyle/>
          <a:p>
            <a:pPr algn="ctr" indent="0" marL="0">
              <a:buNone/>
            </a:pPr>
            <a:r>
              <a:rPr lang="en-US" sz="900" dirty="0">
                <a:solidFill>
                  <a:srgbClr val="FFFFFF"/>
                </a:solidFill>
                <a:latin typeface="Aptos" pitchFamily="34" charset="0"/>
                <a:ea typeface="Aptos" pitchFamily="34" charset="-122"/>
                <a:cs typeface="Aptos" pitchFamily="34" charset="-120"/>
              </a:rPr>
              <a:t>0.931</a:t>
            </a:r>
            <a:endParaRPr lang="en-US" sz="900" dirty="0"/>
          </a:p>
        </p:txBody>
      </p:sp>
      <p:sp>
        <p:nvSpPr>
          <p:cNvPr id="20" name="Shape 17"/>
          <p:cNvSpPr/>
          <p:nvPr/>
        </p:nvSpPr>
        <p:spPr>
          <a:xfrm>
            <a:off x="731520" y="3410712"/>
            <a:ext cx="5166360" cy="0"/>
          </a:xfrm>
          <a:prstGeom prst="line">
            <a:avLst/>
          </a:prstGeom>
          <a:noFill/>
          <a:ln w="6350">
            <a:solidFill>
              <a:srgbClr val="2D342F">
                <a:alpha val="75000"/>
              </a:srgbClr>
            </a:solidFill>
            <a:prstDash val="solid"/>
          </a:ln>
        </p:spPr>
      </p:sp>
      <p:sp>
        <p:nvSpPr>
          <p:cNvPr id="21" name="Text 18"/>
          <p:cNvSpPr/>
          <p:nvPr/>
        </p:nvSpPr>
        <p:spPr>
          <a:xfrm>
            <a:off x="772668" y="3442716"/>
            <a:ext cx="2478024" cy="365760"/>
          </a:xfrm>
          <a:prstGeom prst="rect">
            <a:avLst/>
          </a:prstGeom>
          <a:noFill/>
          <a:ln/>
        </p:spPr>
        <p:txBody>
          <a:bodyPr wrap="square" lIns="254" tIns="254" rIns="254" bIns="254" rtlCol="0" anchor="t">
            <a:normAutofit/>
          </a:bodyPr>
          <a:lstStyle/>
          <a:p>
            <a:pPr algn="l" indent="0" marL="0">
              <a:buNone/>
            </a:pPr>
            <a:r>
              <a:rPr lang="en-US" sz="900" dirty="0">
                <a:solidFill>
                  <a:srgbClr val="FFFFFF"/>
                </a:solidFill>
                <a:latin typeface="Aptos" pitchFamily="34" charset="0"/>
                <a:ea typeface="Aptos" pitchFamily="34" charset="-122"/>
                <a:cs typeface="Aptos" pitchFamily="34" charset="-120"/>
              </a:rPr>
              <a:t>Precision / Recall / F1</a:t>
            </a:r>
            <a:endParaRPr lang="en-US" sz="900" dirty="0"/>
          </a:p>
        </p:txBody>
      </p:sp>
      <p:sp>
        <p:nvSpPr>
          <p:cNvPr id="22" name="Text 19"/>
          <p:cNvSpPr/>
          <p:nvPr/>
        </p:nvSpPr>
        <p:spPr>
          <a:xfrm>
            <a:off x="3332988" y="3442716"/>
            <a:ext cx="2523744" cy="365760"/>
          </a:xfrm>
          <a:prstGeom prst="rect">
            <a:avLst/>
          </a:prstGeom>
          <a:noFill/>
          <a:ln/>
        </p:spPr>
        <p:txBody>
          <a:bodyPr wrap="square" lIns="254" tIns="254" rIns="254" bIns="254" rtlCol="0" anchor="t">
            <a:normAutofit/>
          </a:bodyPr>
          <a:lstStyle/>
          <a:p>
            <a:pPr algn="ctr" indent="0" marL="0">
              <a:buNone/>
            </a:pPr>
            <a:r>
              <a:rPr lang="en-US" sz="900" dirty="0">
                <a:solidFill>
                  <a:srgbClr val="FFFFFF"/>
                </a:solidFill>
                <a:latin typeface="Aptos" pitchFamily="34" charset="0"/>
                <a:ea typeface="Aptos" pitchFamily="34" charset="-122"/>
                <a:cs typeface="Aptos" pitchFamily="34" charset="-120"/>
              </a:rPr>
              <a:t>42.6% / 31.4% / 36.2%</a:t>
            </a:r>
            <a:endParaRPr lang="en-US" sz="900" dirty="0"/>
          </a:p>
        </p:txBody>
      </p:sp>
      <p:sp>
        <p:nvSpPr>
          <p:cNvPr id="23" name="Shape 20"/>
          <p:cNvSpPr/>
          <p:nvPr/>
        </p:nvSpPr>
        <p:spPr>
          <a:xfrm>
            <a:off x="731520" y="3840480"/>
            <a:ext cx="5166360" cy="0"/>
          </a:xfrm>
          <a:prstGeom prst="line">
            <a:avLst/>
          </a:prstGeom>
          <a:noFill/>
          <a:ln w="6350">
            <a:solidFill>
              <a:srgbClr val="2D342F">
                <a:alpha val="75000"/>
              </a:srgbClr>
            </a:solidFill>
            <a:prstDash val="solid"/>
          </a:ln>
        </p:spPr>
      </p:sp>
      <p:sp>
        <p:nvSpPr>
          <p:cNvPr id="24" name="Shape 21"/>
          <p:cNvSpPr/>
          <p:nvPr/>
        </p:nvSpPr>
        <p:spPr>
          <a:xfrm>
            <a:off x="6355080" y="1691640"/>
            <a:ext cx="4754880" cy="2148840"/>
          </a:xfrm>
          <a:prstGeom prst="roundRect">
            <a:avLst>
              <a:gd name="adj" fmla="val 3404"/>
            </a:avLst>
          </a:prstGeom>
          <a:solidFill>
            <a:srgbClr val="000000">
              <a:alpha val="82000"/>
            </a:srgbClr>
          </a:solidFill>
          <a:ln w="12700">
            <a:solidFill>
              <a:srgbClr val="9DFF00">
                <a:alpha val="34000"/>
              </a:srgbClr>
            </a:solidFill>
            <a:prstDash val="solid"/>
          </a:ln>
        </p:spPr>
      </p:sp>
      <p:sp>
        <p:nvSpPr>
          <p:cNvPr id="25" name="Text 22"/>
          <p:cNvSpPr/>
          <p:nvPr/>
        </p:nvSpPr>
        <p:spPr>
          <a:xfrm>
            <a:off x="6629400" y="1920240"/>
            <a:ext cx="237744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Test confusion matrix</a:t>
            </a:r>
            <a:endParaRPr lang="en-US" sz="1360" dirty="0"/>
          </a:p>
        </p:txBody>
      </p:sp>
      <p:sp>
        <p:nvSpPr>
          <p:cNvPr id="26" name="Shape 23"/>
          <p:cNvSpPr/>
          <p:nvPr/>
        </p:nvSpPr>
        <p:spPr>
          <a:xfrm>
            <a:off x="6656832" y="2359152"/>
            <a:ext cx="1437701" cy="280416"/>
          </a:xfrm>
          <a:prstGeom prst="rect">
            <a:avLst/>
          </a:prstGeom>
          <a:solidFill>
            <a:srgbClr val="9DFF00">
              <a:alpha val="18000"/>
            </a:srgbClr>
          </a:solidFill>
          <a:ln w="12700">
            <a:solidFill>
              <a:srgbClr val="333333">
                <a:alpha val="0"/>
              </a:srgbClr>
            </a:solidFill>
            <a:prstDash val="solid"/>
          </a:ln>
        </p:spPr>
      </p:sp>
      <p:sp>
        <p:nvSpPr>
          <p:cNvPr id="27" name="Text 24"/>
          <p:cNvSpPr/>
          <p:nvPr/>
        </p:nvSpPr>
        <p:spPr>
          <a:xfrm>
            <a:off x="6697980" y="2391156"/>
            <a:ext cx="1355405" cy="216408"/>
          </a:xfrm>
          <a:prstGeom prst="rect">
            <a:avLst/>
          </a:prstGeom>
          <a:noFill/>
          <a:ln/>
        </p:spPr>
        <p:txBody>
          <a:bodyPr wrap="square" lIns="254" tIns="254" rIns="254" bIns="254" rtlCol="0" anchor="t">
            <a:normAutofit/>
          </a:bodyPr>
          <a:lstStyle/>
          <a:p>
            <a:pPr algn="l" indent="0" marL="0">
              <a:buNone/>
            </a:pPr>
            <a:endParaRPr lang="en-US" sz="780" dirty="0"/>
          </a:p>
        </p:txBody>
      </p:sp>
      <p:sp>
        <p:nvSpPr>
          <p:cNvPr id="28" name="Shape 25"/>
          <p:cNvSpPr/>
          <p:nvPr/>
        </p:nvSpPr>
        <p:spPr>
          <a:xfrm>
            <a:off x="8094533" y="2359152"/>
            <a:ext cx="1338549" cy="280416"/>
          </a:xfrm>
          <a:prstGeom prst="rect">
            <a:avLst/>
          </a:prstGeom>
          <a:solidFill>
            <a:srgbClr val="9DFF00">
              <a:alpha val="18000"/>
            </a:srgbClr>
          </a:solidFill>
          <a:ln w="12700">
            <a:solidFill>
              <a:srgbClr val="333333">
                <a:alpha val="0"/>
              </a:srgbClr>
            </a:solidFill>
            <a:prstDash val="solid"/>
          </a:ln>
        </p:spPr>
      </p:sp>
      <p:sp>
        <p:nvSpPr>
          <p:cNvPr id="29" name="Text 26"/>
          <p:cNvSpPr/>
          <p:nvPr/>
        </p:nvSpPr>
        <p:spPr>
          <a:xfrm>
            <a:off x="8135681" y="2391156"/>
            <a:ext cx="1256253" cy="216408"/>
          </a:xfrm>
          <a:prstGeom prst="rect">
            <a:avLst/>
          </a:prstGeom>
          <a:noFill/>
          <a:ln/>
        </p:spPr>
        <p:txBody>
          <a:bodyPr wrap="square" lIns="254" tIns="254" rIns="254" bIns="254" rtlCol="0" anchor="t">
            <a:normAutofit/>
          </a:bodyPr>
          <a:lstStyle/>
          <a:p>
            <a:pPr algn="ctr" indent="0" marL="0">
              <a:buNone/>
            </a:pPr>
            <a:r>
              <a:rPr lang="en-US" sz="780" b="1" dirty="0">
                <a:solidFill>
                  <a:srgbClr val="9DFF00"/>
                </a:solidFill>
                <a:latin typeface="Aptos" pitchFamily="34" charset="0"/>
                <a:ea typeface="Aptos" pitchFamily="34" charset="-122"/>
                <a:cs typeface="Aptos" pitchFamily="34" charset="-120"/>
              </a:rPr>
              <a:t>Pred 0</a:t>
            </a:r>
            <a:endParaRPr lang="en-US" sz="780" dirty="0"/>
          </a:p>
        </p:txBody>
      </p:sp>
      <p:sp>
        <p:nvSpPr>
          <p:cNvPr id="30" name="Shape 27"/>
          <p:cNvSpPr/>
          <p:nvPr/>
        </p:nvSpPr>
        <p:spPr>
          <a:xfrm>
            <a:off x="9433083" y="2359152"/>
            <a:ext cx="1338549" cy="280416"/>
          </a:xfrm>
          <a:prstGeom prst="rect">
            <a:avLst/>
          </a:prstGeom>
          <a:solidFill>
            <a:srgbClr val="9DFF00">
              <a:alpha val="18000"/>
            </a:srgbClr>
          </a:solidFill>
          <a:ln w="12700">
            <a:solidFill>
              <a:srgbClr val="333333">
                <a:alpha val="0"/>
              </a:srgbClr>
            </a:solidFill>
            <a:prstDash val="solid"/>
          </a:ln>
        </p:spPr>
      </p:sp>
      <p:sp>
        <p:nvSpPr>
          <p:cNvPr id="31" name="Text 28"/>
          <p:cNvSpPr/>
          <p:nvPr/>
        </p:nvSpPr>
        <p:spPr>
          <a:xfrm>
            <a:off x="9474231" y="2391156"/>
            <a:ext cx="1256253" cy="216408"/>
          </a:xfrm>
          <a:prstGeom prst="rect">
            <a:avLst/>
          </a:prstGeom>
          <a:noFill/>
          <a:ln/>
        </p:spPr>
        <p:txBody>
          <a:bodyPr wrap="square" lIns="254" tIns="254" rIns="254" bIns="254" rtlCol="0" anchor="t">
            <a:normAutofit/>
          </a:bodyPr>
          <a:lstStyle/>
          <a:p>
            <a:pPr algn="ctr" indent="0" marL="0">
              <a:buNone/>
            </a:pPr>
            <a:r>
              <a:rPr lang="en-US" sz="780" b="1" dirty="0">
                <a:solidFill>
                  <a:srgbClr val="9DFF00"/>
                </a:solidFill>
                <a:latin typeface="Aptos" pitchFamily="34" charset="0"/>
                <a:ea typeface="Aptos" pitchFamily="34" charset="-122"/>
                <a:cs typeface="Aptos" pitchFamily="34" charset="-120"/>
              </a:rPr>
              <a:t>Pred 1</a:t>
            </a:r>
            <a:endParaRPr lang="en-US" sz="780" dirty="0"/>
          </a:p>
        </p:txBody>
      </p:sp>
      <p:sp>
        <p:nvSpPr>
          <p:cNvPr id="32" name="Shape 29"/>
          <p:cNvSpPr/>
          <p:nvPr/>
        </p:nvSpPr>
        <p:spPr>
          <a:xfrm>
            <a:off x="6656832" y="2639568"/>
            <a:ext cx="4114800" cy="0"/>
          </a:xfrm>
          <a:prstGeom prst="line">
            <a:avLst/>
          </a:prstGeom>
          <a:noFill/>
          <a:ln w="12700">
            <a:solidFill>
              <a:srgbClr val="9DFF00"/>
            </a:solidFill>
            <a:prstDash val="solid"/>
          </a:ln>
        </p:spPr>
      </p:sp>
      <p:sp>
        <p:nvSpPr>
          <p:cNvPr id="33" name="Text 30"/>
          <p:cNvSpPr/>
          <p:nvPr/>
        </p:nvSpPr>
        <p:spPr>
          <a:xfrm>
            <a:off x="6697980" y="2671572"/>
            <a:ext cx="1355405" cy="216408"/>
          </a:xfrm>
          <a:prstGeom prst="rect">
            <a:avLst/>
          </a:prstGeom>
          <a:noFill/>
          <a:ln/>
        </p:spPr>
        <p:txBody>
          <a:bodyPr wrap="square" lIns="254" tIns="254" rIns="254" bIns="254" rtlCol="0" anchor="t">
            <a:normAutofit/>
          </a:bodyPr>
          <a:lstStyle/>
          <a:p>
            <a:pPr algn="l" indent="0" marL="0">
              <a:buNone/>
            </a:pPr>
            <a:r>
              <a:rPr lang="en-US" sz="850" dirty="0">
                <a:solidFill>
                  <a:srgbClr val="FFFFFF"/>
                </a:solidFill>
                <a:latin typeface="Aptos" pitchFamily="34" charset="0"/>
                <a:ea typeface="Aptos" pitchFamily="34" charset="-122"/>
                <a:cs typeface="Aptos" pitchFamily="34" charset="-120"/>
              </a:rPr>
              <a:t>Actual 0</a:t>
            </a:r>
            <a:endParaRPr lang="en-US" sz="850" dirty="0"/>
          </a:p>
        </p:txBody>
      </p:sp>
      <p:sp>
        <p:nvSpPr>
          <p:cNvPr id="34" name="Text 31"/>
          <p:cNvSpPr/>
          <p:nvPr/>
        </p:nvSpPr>
        <p:spPr>
          <a:xfrm>
            <a:off x="8135681" y="2671572"/>
            <a:ext cx="1256253" cy="216408"/>
          </a:xfrm>
          <a:prstGeom prst="rect">
            <a:avLst/>
          </a:prstGeom>
          <a:noFill/>
          <a:ln/>
        </p:spPr>
        <p:txBody>
          <a:bodyPr wrap="square" lIns="254" tIns="254" rIns="254" bIns="254" rtlCol="0" anchor="t">
            <a:normAutofit/>
          </a:bodyPr>
          <a:lstStyle/>
          <a:p>
            <a:pPr algn="ctr" indent="0" marL="0">
              <a:buNone/>
            </a:pPr>
            <a:r>
              <a:rPr lang="en-US" sz="850" dirty="0">
                <a:solidFill>
                  <a:srgbClr val="FFFFFF"/>
                </a:solidFill>
                <a:latin typeface="Aptos" pitchFamily="34" charset="0"/>
                <a:ea typeface="Aptos" pitchFamily="34" charset="-122"/>
                <a:cs typeface="Aptos" pitchFamily="34" charset="-120"/>
              </a:rPr>
              <a:t>52427</a:t>
            </a:r>
            <a:endParaRPr lang="en-US" sz="850" dirty="0"/>
          </a:p>
        </p:txBody>
      </p:sp>
      <p:sp>
        <p:nvSpPr>
          <p:cNvPr id="35" name="Text 32"/>
          <p:cNvSpPr/>
          <p:nvPr/>
        </p:nvSpPr>
        <p:spPr>
          <a:xfrm>
            <a:off x="9474231" y="2671572"/>
            <a:ext cx="1256253" cy="216408"/>
          </a:xfrm>
          <a:prstGeom prst="rect">
            <a:avLst/>
          </a:prstGeom>
          <a:noFill/>
          <a:ln/>
        </p:spPr>
        <p:txBody>
          <a:bodyPr wrap="square" lIns="254" tIns="254" rIns="254" bIns="254" rtlCol="0" anchor="t">
            <a:normAutofit/>
          </a:bodyPr>
          <a:lstStyle/>
          <a:p>
            <a:pPr algn="ctr" indent="0" marL="0">
              <a:buNone/>
            </a:pPr>
            <a:r>
              <a:rPr lang="en-US" sz="850" dirty="0">
                <a:solidFill>
                  <a:srgbClr val="FFFFFF"/>
                </a:solidFill>
                <a:latin typeface="Aptos" pitchFamily="34" charset="0"/>
                <a:ea typeface="Aptos" pitchFamily="34" charset="-122"/>
                <a:cs typeface="Aptos" pitchFamily="34" charset="-120"/>
              </a:rPr>
              <a:t>542</a:t>
            </a:r>
            <a:endParaRPr lang="en-US" sz="850" dirty="0"/>
          </a:p>
        </p:txBody>
      </p:sp>
      <p:sp>
        <p:nvSpPr>
          <p:cNvPr id="36" name="Shape 33"/>
          <p:cNvSpPr/>
          <p:nvPr/>
        </p:nvSpPr>
        <p:spPr>
          <a:xfrm>
            <a:off x="6656832" y="2919984"/>
            <a:ext cx="4114800" cy="0"/>
          </a:xfrm>
          <a:prstGeom prst="line">
            <a:avLst/>
          </a:prstGeom>
          <a:noFill/>
          <a:ln w="6350">
            <a:solidFill>
              <a:srgbClr val="2D342F">
                <a:alpha val="75000"/>
              </a:srgbClr>
            </a:solidFill>
            <a:prstDash val="solid"/>
          </a:ln>
        </p:spPr>
      </p:sp>
      <p:sp>
        <p:nvSpPr>
          <p:cNvPr id="37" name="Text 34"/>
          <p:cNvSpPr/>
          <p:nvPr/>
        </p:nvSpPr>
        <p:spPr>
          <a:xfrm>
            <a:off x="6697980" y="2951988"/>
            <a:ext cx="1355405" cy="216408"/>
          </a:xfrm>
          <a:prstGeom prst="rect">
            <a:avLst/>
          </a:prstGeom>
          <a:noFill/>
          <a:ln/>
        </p:spPr>
        <p:txBody>
          <a:bodyPr wrap="square" lIns="254" tIns="254" rIns="254" bIns="254" rtlCol="0" anchor="t">
            <a:normAutofit/>
          </a:bodyPr>
          <a:lstStyle/>
          <a:p>
            <a:pPr algn="l" indent="0" marL="0">
              <a:buNone/>
            </a:pPr>
            <a:r>
              <a:rPr lang="en-US" sz="850" dirty="0">
                <a:solidFill>
                  <a:srgbClr val="9DFF00"/>
                </a:solidFill>
                <a:latin typeface="Aptos" pitchFamily="34" charset="0"/>
                <a:ea typeface="Aptos" pitchFamily="34" charset="-122"/>
                <a:cs typeface="Aptos" pitchFamily="34" charset="-120"/>
              </a:rPr>
              <a:t>Actual 1</a:t>
            </a:r>
            <a:endParaRPr lang="en-US" sz="850" dirty="0"/>
          </a:p>
        </p:txBody>
      </p:sp>
      <p:sp>
        <p:nvSpPr>
          <p:cNvPr id="38" name="Text 35"/>
          <p:cNvSpPr/>
          <p:nvPr/>
        </p:nvSpPr>
        <p:spPr>
          <a:xfrm>
            <a:off x="8135681" y="2951988"/>
            <a:ext cx="1256253" cy="216408"/>
          </a:xfrm>
          <a:prstGeom prst="rect">
            <a:avLst/>
          </a:prstGeom>
          <a:noFill/>
          <a:ln/>
        </p:spPr>
        <p:txBody>
          <a:bodyPr wrap="square" lIns="254" tIns="254" rIns="254" bIns="254" rtlCol="0" anchor="t">
            <a:normAutofit/>
          </a:bodyPr>
          <a:lstStyle/>
          <a:p>
            <a:pPr algn="ctr" indent="0" marL="0">
              <a:buNone/>
            </a:pPr>
            <a:r>
              <a:rPr lang="en-US" sz="850" dirty="0">
                <a:solidFill>
                  <a:srgbClr val="9DFF00"/>
                </a:solidFill>
                <a:latin typeface="Aptos" pitchFamily="34" charset="0"/>
                <a:ea typeface="Aptos" pitchFamily="34" charset="-122"/>
                <a:cs typeface="Aptos" pitchFamily="34" charset="-120"/>
              </a:rPr>
              <a:t>878</a:t>
            </a:r>
            <a:endParaRPr lang="en-US" sz="850" dirty="0"/>
          </a:p>
        </p:txBody>
      </p:sp>
      <p:sp>
        <p:nvSpPr>
          <p:cNvPr id="39" name="Text 36"/>
          <p:cNvSpPr/>
          <p:nvPr/>
        </p:nvSpPr>
        <p:spPr>
          <a:xfrm>
            <a:off x="9474231" y="2951988"/>
            <a:ext cx="1256253" cy="216408"/>
          </a:xfrm>
          <a:prstGeom prst="rect">
            <a:avLst/>
          </a:prstGeom>
          <a:noFill/>
          <a:ln/>
        </p:spPr>
        <p:txBody>
          <a:bodyPr wrap="square" lIns="254" tIns="254" rIns="254" bIns="254" rtlCol="0" anchor="t">
            <a:normAutofit/>
          </a:bodyPr>
          <a:lstStyle/>
          <a:p>
            <a:pPr algn="ctr" indent="0" marL="0">
              <a:buNone/>
            </a:pPr>
            <a:r>
              <a:rPr lang="en-US" sz="850" dirty="0">
                <a:solidFill>
                  <a:srgbClr val="9DFF00"/>
                </a:solidFill>
                <a:latin typeface="Aptos" pitchFamily="34" charset="0"/>
                <a:ea typeface="Aptos" pitchFamily="34" charset="-122"/>
                <a:cs typeface="Aptos" pitchFamily="34" charset="-120"/>
              </a:rPr>
              <a:t>402</a:t>
            </a:r>
            <a:endParaRPr lang="en-US" sz="850" dirty="0"/>
          </a:p>
        </p:txBody>
      </p:sp>
      <p:sp>
        <p:nvSpPr>
          <p:cNvPr id="40" name="Shape 37"/>
          <p:cNvSpPr/>
          <p:nvPr/>
        </p:nvSpPr>
        <p:spPr>
          <a:xfrm>
            <a:off x="6656832" y="3200400"/>
            <a:ext cx="4114800" cy="0"/>
          </a:xfrm>
          <a:prstGeom prst="line">
            <a:avLst/>
          </a:prstGeom>
          <a:noFill/>
          <a:ln w="6350">
            <a:solidFill>
              <a:srgbClr val="2D342F">
                <a:alpha val="75000"/>
              </a:srgbClr>
            </a:solidFill>
            <a:prstDash val="solid"/>
          </a:ln>
        </p:spPr>
      </p:sp>
      <p:sp>
        <p:nvSpPr>
          <p:cNvPr id="41" name="Shape 38"/>
          <p:cNvSpPr/>
          <p:nvPr/>
        </p:nvSpPr>
        <p:spPr>
          <a:xfrm>
            <a:off x="914400" y="4343400"/>
            <a:ext cx="4389120" cy="1417320"/>
          </a:xfrm>
          <a:prstGeom prst="rect">
            <a:avLst/>
          </a:prstGeom>
          <a:solidFill>
            <a:srgbClr val="FFFFFF"/>
          </a:solidFill>
          <a:ln w="11430">
            <a:solidFill>
              <a:srgbClr val="9DFF00">
                <a:alpha val="65000"/>
              </a:srgbClr>
            </a:solidFill>
            <a:prstDash val="solid"/>
          </a:ln>
        </p:spPr>
      </p:sp>
      <p:pic>
        <p:nvPicPr>
          <p:cNvPr id="42" name="Image 1" descr="/mnt/data/sba_v4_assets/cell55_out0_img.png">    </p:cNvPr>
          <p:cNvPicPr>
            <a:picLocks noChangeAspect="1"/>
          </p:cNvPicPr>
          <p:nvPr/>
        </p:nvPicPr>
        <p:blipFill>
          <a:blip r:embed="rId2"/>
          <a:stretch>
            <a:fillRect/>
          </a:stretch>
        </p:blipFill>
        <p:spPr>
          <a:xfrm>
            <a:off x="2459587" y="4416552"/>
            <a:ext cx="1298747" cy="1161288"/>
          </a:xfrm>
          <a:prstGeom prst="rect">
            <a:avLst/>
          </a:prstGeom>
        </p:spPr>
      </p:pic>
      <p:sp>
        <p:nvSpPr>
          <p:cNvPr id="43" name="Text 39"/>
          <p:cNvSpPr/>
          <p:nvPr/>
        </p:nvSpPr>
        <p:spPr>
          <a:xfrm>
            <a:off x="987552" y="5577840"/>
            <a:ext cx="4242816" cy="118872"/>
          </a:xfrm>
          <a:prstGeom prst="rect">
            <a:avLst/>
          </a:prstGeom>
          <a:noFill/>
          <a:ln/>
        </p:spPr>
        <p:txBody>
          <a:bodyPr wrap="square" lIns="254" tIns="254" rIns="254" bIns="254" rtlCol="0" anchor="t">
            <a:normAutofit/>
          </a:bodyPr>
          <a:lstStyle/>
          <a:p>
            <a:pPr algn="ctr" indent="0" marL="0">
              <a:buNone/>
            </a:pPr>
            <a:r>
              <a:rPr lang="en-US" sz="670" dirty="0">
                <a:solidFill>
                  <a:srgbClr val="333333"/>
                </a:solidFill>
                <a:latin typeface="Aptos" pitchFamily="34" charset="0"/>
                <a:ea typeface="Aptos" pitchFamily="34" charset="-122"/>
                <a:cs typeface="Aptos" pitchFamily="34" charset="-120"/>
              </a:rPr>
              <a:t>Final test confusion matrix chart</a:t>
            </a:r>
            <a:endParaRPr lang="en-US" sz="670" dirty="0"/>
          </a:p>
        </p:txBody>
      </p:sp>
      <p:sp>
        <p:nvSpPr>
          <p:cNvPr id="44" name="Shape 40"/>
          <p:cNvSpPr/>
          <p:nvPr/>
        </p:nvSpPr>
        <p:spPr>
          <a:xfrm>
            <a:off x="6080760" y="4343400"/>
            <a:ext cx="4937760" cy="1417320"/>
          </a:xfrm>
          <a:prstGeom prst="roundRect">
            <a:avLst>
              <a:gd name="adj" fmla="val 5161"/>
            </a:avLst>
          </a:prstGeom>
          <a:solidFill>
            <a:srgbClr val="000000">
              <a:alpha val="82000"/>
            </a:srgbClr>
          </a:solidFill>
          <a:ln w="12700">
            <a:solidFill>
              <a:srgbClr val="9DFF00">
                <a:alpha val="34000"/>
              </a:srgbClr>
            </a:solidFill>
            <a:prstDash val="solid"/>
          </a:ln>
        </p:spPr>
      </p:sp>
      <p:sp>
        <p:nvSpPr>
          <p:cNvPr id="45" name="Text 41"/>
          <p:cNvSpPr/>
          <p:nvPr/>
        </p:nvSpPr>
        <p:spPr>
          <a:xfrm>
            <a:off x="6355080" y="4535424"/>
            <a:ext cx="164592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Main result</a:t>
            </a:r>
            <a:endParaRPr lang="en-US" sz="1360" dirty="0"/>
          </a:p>
        </p:txBody>
      </p:sp>
      <p:sp>
        <p:nvSpPr>
          <p:cNvPr id="46" name="Text 42"/>
          <p:cNvSpPr/>
          <p:nvPr/>
        </p:nvSpPr>
        <p:spPr>
          <a:xfrm>
            <a:off x="6355080" y="4882896"/>
            <a:ext cx="4160520" cy="384048"/>
          </a:xfrm>
          <a:prstGeom prst="rect">
            <a:avLst/>
          </a:prstGeom>
          <a:noFill/>
          <a:ln/>
        </p:spPr>
        <p:txBody>
          <a:bodyPr wrap="square" lIns="254" tIns="254" rIns="254" bIns="254" rtlCol="0" anchor="t">
            <a:normAutofit/>
          </a:bodyPr>
          <a:lstStyle/>
          <a:p>
            <a:pPr algn="l" indent="0" marL="0">
              <a:buNone/>
            </a:pPr>
            <a:r>
              <a:rPr lang="en-US" sz="1080" dirty="0">
                <a:solidFill>
                  <a:srgbClr val="FFFFFF"/>
                </a:solidFill>
                <a:latin typeface="Aptos" pitchFamily="34" charset="0"/>
                <a:ea typeface="Aptos" pitchFamily="34" charset="-122"/>
                <a:cs typeface="Aptos" pitchFamily="34" charset="-120"/>
              </a:rPr>
              <a:t>The model flagged 944 test loans. Of those, 402 actually charged off within five years. Precision is much higher than the 2.36% test base rate.</a:t>
            </a:r>
            <a:endParaRPr lang="en-US" sz="1080" dirty="0"/>
          </a:p>
        </p:txBody>
      </p:sp>
      <p:sp>
        <p:nvSpPr>
          <p:cNvPr id="47" name="Text 43"/>
          <p:cNvSpPr/>
          <p:nvPr/>
        </p:nvSpPr>
        <p:spPr>
          <a:xfrm>
            <a:off x="566928" y="6473952"/>
            <a:ext cx="6217920" cy="201168"/>
          </a:xfrm>
          <a:prstGeom prst="rect">
            <a:avLst/>
          </a:prstGeom>
          <a:noFill/>
          <a:ln/>
        </p:spPr>
        <p:txBody>
          <a:bodyPr wrap="square" lIns="0" tIns="0" rIns="0" bIns="0" rtlCol="0" anchor="ctr"/>
          <a:lstStyle/>
          <a:p>
            <a:pPr indent="0" marL="0">
              <a:buNone/>
            </a:pPr>
            <a:r>
              <a:rPr lang="en-US" sz="740" dirty="0">
                <a:solidFill>
                  <a:srgbClr val="C4CDC6"/>
                </a:solidFill>
              </a:rPr>
              <a:t>DATA 400 | SBA 7(a) Credit-Risk Mini Project</a:t>
            </a:r>
            <a:endParaRPr lang="en-US" sz="740" dirty="0"/>
          </a:p>
        </p:txBody>
      </p:sp>
      <p:sp>
        <p:nvSpPr>
          <p:cNvPr id="48" name="Text 44"/>
          <p:cNvSpPr/>
          <p:nvPr/>
        </p:nvSpPr>
        <p:spPr>
          <a:xfrm>
            <a:off x="11082528" y="6455664"/>
            <a:ext cx="502920" cy="201168"/>
          </a:xfrm>
          <a:prstGeom prst="rect">
            <a:avLst/>
          </a:prstGeom>
          <a:noFill/>
          <a:ln/>
        </p:spPr>
        <p:txBody>
          <a:bodyPr wrap="square" lIns="0" tIns="0" rIns="0" bIns="0" rtlCol="0" anchor="ctr"/>
          <a:lstStyle/>
          <a:p>
            <a:pPr algn="r" indent="0" marL="0">
              <a:buNone/>
            </a:pPr>
            <a:r>
              <a:rPr lang="en-US" sz="800" b="1" dirty="0">
                <a:solidFill>
                  <a:srgbClr val="9DFF00"/>
                </a:solidFill>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50607"/>
        </a:solidFill>
      </p:bgPr>
    </p:bg>
    <p:spTree>
      <p:nvGrpSpPr>
        <p:cNvPr id="1" name=""/>
        <p:cNvGrpSpPr/>
        <p:nvPr/>
      </p:nvGrpSpPr>
      <p:grpSpPr>
        <a:xfrm>
          <a:off x="0" y="0"/>
          <a:ext cx="0" cy="0"/>
          <a:chOff x="0" y="0"/>
          <a:chExt cx="0" cy="0"/>
        </a:xfrm>
      </p:grpSpPr>
      <p:pic>
        <p:nvPicPr>
          <p:cNvPr id="2" name="Image 0" descr="/mnt/data/sample_ppt_extract/ppt/media/dark_image7.jpeg">    </p:cNvPr>
          <p:cNvPicPr>
            <a:picLocks noChangeAspect="1"/>
          </p:cNvPicPr>
          <p:nvPr/>
        </p:nvPicPr>
        <p:blipFill>
          <a:blip r:embed="rId1"/>
          <a:srcRect l="0" r="0" t="3135" b="3135"/>
          <a:stretch/>
        </p:blipFill>
        <p:spPr>
          <a:xfrm>
            <a:off x="0" y="0"/>
            <a:ext cx="12191695" cy="6858000"/>
          </a:xfrm>
          <a:prstGeom prst="rect">
            <a:avLst/>
          </a:prstGeom>
        </p:spPr>
      </p:pic>
      <p:sp>
        <p:nvSpPr>
          <p:cNvPr id="3" name="Shape 0"/>
          <p:cNvSpPr/>
          <p:nvPr/>
        </p:nvSpPr>
        <p:spPr>
          <a:xfrm>
            <a:off x="201168" y="256032"/>
            <a:ext cx="50292" cy="6263640"/>
          </a:xfrm>
          <a:prstGeom prst="rect">
            <a:avLst/>
          </a:prstGeom>
          <a:solidFill>
            <a:srgbClr val="9DFF00"/>
          </a:solidFill>
          <a:ln w="12700">
            <a:solidFill>
              <a:srgbClr val="333333">
                <a:alpha val="0"/>
              </a:srgbClr>
            </a:solidFill>
            <a:prstDash val="solid"/>
          </a:ln>
        </p:spPr>
      </p:sp>
      <p:sp>
        <p:nvSpPr>
          <p:cNvPr id="4" name="Text 1"/>
          <p:cNvSpPr/>
          <p:nvPr/>
        </p:nvSpPr>
        <p:spPr>
          <a:xfrm>
            <a:off x="566928" y="310896"/>
            <a:ext cx="4754880" cy="228600"/>
          </a:xfrm>
          <a:prstGeom prst="rect">
            <a:avLst/>
          </a:prstGeom>
          <a:noFill/>
          <a:ln/>
        </p:spPr>
        <p:txBody>
          <a:bodyPr wrap="square" lIns="0" tIns="0" rIns="0" bIns="0" rtlCol="0" anchor="ctr">
            <a:normAutofit/>
          </a:bodyPr>
          <a:lstStyle/>
          <a:p>
            <a:pPr indent="0" marL="0">
              <a:buNone/>
            </a:pPr>
            <a:r>
              <a:rPr lang="en-US" sz="850" b="1" dirty="0">
                <a:solidFill>
                  <a:srgbClr val="9DFF00"/>
                </a:solidFill>
                <a:latin typeface="Aptos" pitchFamily="34" charset="0"/>
                <a:ea typeface="Aptos" pitchFamily="34" charset="-122"/>
                <a:cs typeface="Aptos" pitchFamily="34" charset="-120"/>
              </a:rPr>
              <a:t>BUSINESS INTERPRETATION</a:t>
            </a:r>
            <a:endParaRPr lang="en-US" sz="850" dirty="0"/>
          </a:p>
        </p:txBody>
      </p:sp>
      <p:sp>
        <p:nvSpPr>
          <p:cNvPr id="5" name="Text 2"/>
          <p:cNvSpPr/>
          <p:nvPr/>
        </p:nvSpPr>
        <p:spPr>
          <a:xfrm>
            <a:off x="566928" y="621792"/>
            <a:ext cx="10652760" cy="566928"/>
          </a:xfrm>
          <a:prstGeom prst="rect">
            <a:avLst/>
          </a:prstGeom>
          <a:noFill/>
          <a:ln/>
        </p:spPr>
        <p:txBody>
          <a:bodyPr wrap="square" lIns="0" tIns="0" rIns="0" bIns="0" rtlCol="0" anchor="ctr">
            <a:normAutofit/>
          </a:bodyPr>
          <a:lstStyle/>
          <a:p>
            <a:pPr indent="0" marL="0">
              <a:buNone/>
            </a:pPr>
            <a:r>
              <a:rPr lang="en-US" sz="2450" b="1" dirty="0">
                <a:solidFill>
                  <a:srgbClr val="FFFFFF"/>
                </a:solidFill>
                <a:latin typeface="Aptos Display" pitchFamily="34" charset="0"/>
                <a:ea typeface="Aptos Display" pitchFamily="34" charset="-122"/>
                <a:cs typeface="Aptos Display" pitchFamily="34" charset="-120"/>
              </a:rPr>
              <a:t>The model creates risk concentration, not perfect prediction</a:t>
            </a:r>
            <a:endParaRPr lang="en-US" sz="2450" dirty="0"/>
          </a:p>
        </p:txBody>
      </p:sp>
      <p:sp>
        <p:nvSpPr>
          <p:cNvPr id="6" name="Shape 3"/>
          <p:cNvSpPr/>
          <p:nvPr/>
        </p:nvSpPr>
        <p:spPr>
          <a:xfrm>
            <a:off x="566928" y="1307592"/>
            <a:ext cx="10716768" cy="0"/>
          </a:xfrm>
          <a:prstGeom prst="line">
            <a:avLst/>
          </a:prstGeom>
          <a:noFill/>
          <a:ln w="13335">
            <a:solidFill>
              <a:srgbClr val="9DFF00">
                <a:alpha val="95000"/>
              </a:srgbClr>
            </a:solidFill>
            <a:prstDash val="solid"/>
          </a:ln>
        </p:spPr>
      </p:sp>
      <p:sp>
        <p:nvSpPr>
          <p:cNvPr id="7" name="Text 4"/>
          <p:cNvSpPr/>
          <p:nvPr/>
        </p:nvSpPr>
        <p:spPr>
          <a:xfrm>
            <a:off x="868680" y="1737360"/>
            <a:ext cx="1828800" cy="347472"/>
          </a:xfrm>
          <a:prstGeom prst="rect">
            <a:avLst/>
          </a:prstGeom>
          <a:noFill/>
          <a:ln/>
        </p:spPr>
        <p:txBody>
          <a:bodyPr wrap="square" lIns="254" tIns="254" rIns="254" bIns="254" rtlCol="0" anchor="t">
            <a:normAutofit/>
          </a:bodyPr>
          <a:lstStyle/>
          <a:p>
            <a:pPr algn="ctr" indent="0" marL="0">
              <a:buNone/>
            </a:pPr>
            <a:r>
              <a:rPr lang="en-US" sz="2200" b="1" dirty="0">
                <a:solidFill>
                  <a:srgbClr val="9DFF00"/>
                </a:solidFill>
                <a:latin typeface="Aptos" pitchFamily="34" charset="0"/>
                <a:ea typeface="Aptos" pitchFamily="34" charset="-122"/>
                <a:cs typeface="Aptos" pitchFamily="34" charset="-120"/>
              </a:rPr>
              <a:t>2.36%</a:t>
            </a:r>
            <a:endParaRPr lang="en-US" sz="2200" dirty="0"/>
          </a:p>
        </p:txBody>
      </p:sp>
      <p:sp>
        <p:nvSpPr>
          <p:cNvPr id="8" name="Text 5"/>
          <p:cNvSpPr/>
          <p:nvPr/>
        </p:nvSpPr>
        <p:spPr>
          <a:xfrm>
            <a:off x="868680" y="2121408"/>
            <a:ext cx="1828800" cy="329184"/>
          </a:xfrm>
          <a:prstGeom prst="rect">
            <a:avLst/>
          </a:prstGeom>
          <a:noFill/>
          <a:ln/>
        </p:spPr>
        <p:txBody>
          <a:bodyPr wrap="square" lIns="254" tIns="254" rIns="254" bIns="254" rtlCol="0" anchor="t">
            <a:normAutofit/>
          </a:bodyPr>
          <a:lstStyle/>
          <a:p>
            <a:pPr algn="ctr" indent="0" marL="0">
              <a:buNone/>
            </a:pPr>
            <a:r>
              <a:rPr lang="en-US" sz="840" dirty="0">
                <a:solidFill>
                  <a:srgbClr val="C4CDC6"/>
                </a:solidFill>
                <a:latin typeface="Aptos" pitchFamily="34" charset="0"/>
                <a:ea typeface="Aptos" pitchFamily="34" charset="-122"/>
                <a:cs typeface="Aptos" pitchFamily="34" charset="-120"/>
              </a:rPr>
              <a:t>test base charge-off rate</a:t>
            </a:r>
            <a:endParaRPr lang="en-US" sz="840" dirty="0"/>
          </a:p>
        </p:txBody>
      </p:sp>
      <p:sp>
        <p:nvSpPr>
          <p:cNvPr id="9" name="Text 6"/>
          <p:cNvSpPr/>
          <p:nvPr/>
        </p:nvSpPr>
        <p:spPr>
          <a:xfrm>
            <a:off x="3291840" y="1737360"/>
            <a:ext cx="1920240" cy="347472"/>
          </a:xfrm>
          <a:prstGeom prst="rect">
            <a:avLst/>
          </a:prstGeom>
          <a:noFill/>
          <a:ln/>
        </p:spPr>
        <p:txBody>
          <a:bodyPr wrap="square" lIns="254" tIns="254" rIns="254" bIns="254" rtlCol="0" anchor="t">
            <a:normAutofit/>
          </a:bodyPr>
          <a:lstStyle/>
          <a:p>
            <a:pPr algn="ctr" indent="0" marL="0">
              <a:buNone/>
            </a:pPr>
            <a:r>
              <a:rPr lang="en-US" sz="2200" b="1" dirty="0">
                <a:solidFill>
                  <a:srgbClr val="9DFF00"/>
                </a:solidFill>
                <a:latin typeface="Aptos" pitchFamily="34" charset="0"/>
                <a:ea typeface="Aptos" pitchFamily="34" charset="-122"/>
                <a:cs typeface="Aptos" pitchFamily="34" charset="-120"/>
              </a:rPr>
              <a:t>42.6%</a:t>
            </a:r>
            <a:endParaRPr lang="en-US" sz="2200" dirty="0"/>
          </a:p>
        </p:txBody>
      </p:sp>
      <p:sp>
        <p:nvSpPr>
          <p:cNvPr id="10" name="Text 7"/>
          <p:cNvSpPr/>
          <p:nvPr/>
        </p:nvSpPr>
        <p:spPr>
          <a:xfrm>
            <a:off x="3291840" y="2121408"/>
            <a:ext cx="1920240" cy="329184"/>
          </a:xfrm>
          <a:prstGeom prst="rect">
            <a:avLst/>
          </a:prstGeom>
          <a:noFill/>
          <a:ln/>
        </p:spPr>
        <p:txBody>
          <a:bodyPr wrap="square" lIns="254" tIns="254" rIns="254" bIns="254" rtlCol="0" anchor="t">
            <a:normAutofit/>
          </a:bodyPr>
          <a:lstStyle/>
          <a:p>
            <a:pPr algn="ctr" indent="0" marL="0">
              <a:buNone/>
            </a:pPr>
            <a:r>
              <a:rPr lang="en-US" sz="840" dirty="0">
                <a:solidFill>
                  <a:srgbClr val="C4CDC6"/>
                </a:solidFill>
                <a:latin typeface="Aptos" pitchFamily="34" charset="0"/>
                <a:ea typeface="Aptos" pitchFamily="34" charset="-122"/>
                <a:cs typeface="Aptos" pitchFamily="34" charset="-120"/>
              </a:rPr>
              <a:t>precision among flagged loans</a:t>
            </a:r>
            <a:endParaRPr lang="en-US" sz="840" dirty="0"/>
          </a:p>
        </p:txBody>
      </p:sp>
      <p:sp>
        <p:nvSpPr>
          <p:cNvPr id="11" name="Text 8"/>
          <p:cNvSpPr/>
          <p:nvPr/>
        </p:nvSpPr>
        <p:spPr>
          <a:xfrm>
            <a:off x="5715000" y="1737360"/>
            <a:ext cx="1645920" cy="347472"/>
          </a:xfrm>
          <a:prstGeom prst="rect">
            <a:avLst/>
          </a:prstGeom>
          <a:noFill/>
          <a:ln/>
        </p:spPr>
        <p:txBody>
          <a:bodyPr wrap="square" lIns="254" tIns="254" rIns="254" bIns="254" rtlCol="0" anchor="t">
            <a:normAutofit/>
          </a:bodyPr>
          <a:lstStyle/>
          <a:p>
            <a:pPr algn="ctr" indent="0" marL="0">
              <a:buNone/>
            </a:pPr>
            <a:r>
              <a:rPr lang="en-US" sz="2200" b="1" dirty="0">
                <a:solidFill>
                  <a:srgbClr val="9DFF00"/>
                </a:solidFill>
                <a:latin typeface="Aptos" pitchFamily="34" charset="0"/>
                <a:ea typeface="Aptos" pitchFamily="34" charset="-122"/>
                <a:cs typeface="Aptos" pitchFamily="34" charset="-120"/>
              </a:rPr>
              <a:t>~18×</a:t>
            </a:r>
            <a:endParaRPr lang="en-US" sz="2200" dirty="0"/>
          </a:p>
        </p:txBody>
      </p:sp>
      <p:sp>
        <p:nvSpPr>
          <p:cNvPr id="12" name="Text 9"/>
          <p:cNvSpPr/>
          <p:nvPr/>
        </p:nvSpPr>
        <p:spPr>
          <a:xfrm>
            <a:off x="5715000" y="2121408"/>
            <a:ext cx="1645920" cy="329184"/>
          </a:xfrm>
          <a:prstGeom prst="rect">
            <a:avLst/>
          </a:prstGeom>
          <a:noFill/>
          <a:ln/>
        </p:spPr>
        <p:txBody>
          <a:bodyPr wrap="square" lIns="254" tIns="254" rIns="254" bIns="254" rtlCol="0" anchor="t">
            <a:normAutofit/>
          </a:bodyPr>
          <a:lstStyle/>
          <a:p>
            <a:pPr algn="ctr" indent="0" marL="0">
              <a:buNone/>
            </a:pPr>
            <a:r>
              <a:rPr lang="en-US" sz="840" dirty="0">
                <a:solidFill>
                  <a:srgbClr val="C4CDC6"/>
                </a:solidFill>
                <a:latin typeface="Aptos" pitchFamily="34" charset="0"/>
                <a:ea typeface="Aptos" pitchFamily="34" charset="-122"/>
                <a:cs typeface="Aptos" pitchFamily="34" charset="-120"/>
              </a:rPr>
              <a:t>risk enrichment vs base rate</a:t>
            </a:r>
            <a:endParaRPr lang="en-US" sz="840" dirty="0"/>
          </a:p>
        </p:txBody>
      </p:sp>
      <p:sp>
        <p:nvSpPr>
          <p:cNvPr id="13" name="Text 10"/>
          <p:cNvSpPr/>
          <p:nvPr/>
        </p:nvSpPr>
        <p:spPr>
          <a:xfrm>
            <a:off x="7863840" y="1737360"/>
            <a:ext cx="1645920" cy="347472"/>
          </a:xfrm>
          <a:prstGeom prst="rect">
            <a:avLst/>
          </a:prstGeom>
          <a:noFill/>
          <a:ln/>
        </p:spPr>
        <p:txBody>
          <a:bodyPr wrap="square" lIns="254" tIns="254" rIns="254" bIns="254" rtlCol="0" anchor="t">
            <a:normAutofit/>
          </a:bodyPr>
          <a:lstStyle/>
          <a:p>
            <a:pPr algn="ctr" indent="0" marL="0">
              <a:buNone/>
            </a:pPr>
            <a:r>
              <a:rPr lang="en-US" sz="2200" b="1" dirty="0">
                <a:solidFill>
                  <a:srgbClr val="9DFF00"/>
                </a:solidFill>
                <a:latin typeface="Aptos" pitchFamily="34" charset="0"/>
                <a:ea typeface="Aptos" pitchFamily="34" charset="-122"/>
                <a:cs typeface="Aptos" pitchFamily="34" charset="-120"/>
              </a:rPr>
              <a:t>31.4%</a:t>
            </a:r>
            <a:endParaRPr lang="en-US" sz="2200" dirty="0"/>
          </a:p>
        </p:txBody>
      </p:sp>
      <p:sp>
        <p:nvSpPr>
          <p:cNvPr id="14" name="Text 11"/>
          <p:cNvSpPr/>
          <p:nvPr/>
        </p:nvSpPr>
        <p:spPr>
          <a:xfrm>
            <a:off x="7863840" y="2121408"/>
            <a:ext cx="1645920" cy="329184"/>
          </a:xfrm>
          <a:prstGeom prst="rect">
            <a:avLst/>
          </a:prstGeom>
          <a:noFill/>
          <a:ln/>
        </p:spPr>
        <p:txBody>
          <a:bodyPr wrap="square" lIns="254" tIns="254" rIns="254" bIns="254" rtlCol="0" anchor="t">
            <a:normAutofit/>
          </a:bodyPr>
          <a:lstStyle/>
          <a:p>
            <a:pPr algn="ctr" indent="0" marL="0">
              <a:buNone/>
            </a:pPr>
            <a:r>
              <a:rPr lang="en-US" sz="840" dirty="0">
                <a:solidFill>
                  <a:srgbClr val="C4CDC6"/>
                </a:solidFill>
                <a:latin typeface="Aptos" pitchFamily="34" charset="0"/>
                <a:ea typeface="Aptos" pitchFamily="34" charset="-122"/>
                <a:cs typeface="Aptos" pitchFamily="34" charset="-120"/>
              </a:rPr>
              <a:t>charge-offs caught</a:t>
            </a:r>
            <a:endParaRPr lang="en-US" sz="840" dirty="0"/>
          </a:p>
        </p:txBody>
      </p:sp>
      <p:sp>
        <p:nvSpPr>
          <p:cNvPr id="15" name="Shape 12"/>
          <p:cNvSpPr/>
          <p:nvPr/>
        </p:nvSpPr>
        <p:spPr>
          <a:xfrm>
            <a:off x="914400" y="3474720"/>
            <a:ext cx="4892040" cy="1508760"/>
          </a:xfrm>
          <a:prstGeom prst="roundRect">
            <a:avLst>
              <a:gd name="adj" fmla="val 4848"/>
            </a:avLst>
          </a:prstGeom>
          <a:solidFill>
            <a:srgbClr val="000000">
              <a:alpha val="82000"/>
            </a:srgbClr>
          </a:solidFill>
          <a:ln w="12700">
            <a:solidFill>
              <a:srgbClr val="9DFF00">
                <a:alpha val="34000"/>
              </a:srgbClr>
            </a:solidFill>
            <a:prstDash val="solid"/>
          </a:ln>
        </p:spPr>
      </p:sp>
      <p:sp>
        <p:nvSpPr>
          <p:cNvPr id="16" name="Text 13"/>
          <p:cNvSpPr/>
          <p:nvPr/>
        </p:nvSpPr>
        <p:spPr>
          <a:xfrm>
            <a:off x="1188720" y="3675888"/>
            <a:ext cx="146304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What works</a:t>
            </a:r>
            <a:endParaRPr lang="en-US" sz="1360" dirty="0"/>
          </a:p>
        </p:txBody>
      </p:sp>
      <p:sp>
        <p:nvSpPr>
          <p:cNvPr id="17" name="Text 14"/>
          <p:cNvSpPr/>
          <p:nvPr/>
        </p:nvSpPr>
        <p:spPr>
          <a:xfrm>
            <a:off x="1298448" y="4005072"/>
            <a:ext cx="3749040" cy="585216"/>
          </a:xfrm>
          <a:prstGeom prst="rect">
            <a:avLst/>
          </a:prstGeom>
          <a:noFill/>
          <a:ln/>
        </p:spPr>
        <p:txBody>
          <a:bodyPr wrap="square" lIns="254" tIns="254" rIns="254" bIns="254" rtlCol="0" anchor="ctr">
            <a:normAutofit/>
          </a:bodyPr>
          <a:lstStyle/>
          <a:p>
            <a:r>
              <a:rPr lang="en-US" sz="930" dirty="0">
                <a:solidFill>
                  <a:srgbClr val="FFFFFF"/>
                </a:solidFill>
                <a:latin typeface="Aptos" pitchFamily="34" charset="0"/>
                <a:ea typeface="Aptos" pitchFamily="34" charset="-122"/>
                <a:cs typeface="Aptos" pitchFamily="34" charset="-120"/>
              </a:rPr>
              <a:t>Flagged group is much riskier than average.</a:t>
            </a:r>
            <a:endParaRPr lang="en-US" sz="930" dirty="0"/>
          </a:p>
          <a:p>
            <a:r>
              <a:rPr lang="en-US" sz="930" dirty="0">
                <a:solidFill>
                  <a:srgbClr val="FFFFFF"/>
                </a:solidFill>
                <a:latin typeface="Aptos" pitchFamily="34" charset="0"/>
                <a:ea typeface="Aptos" pitchFamily="34" charset="-122"/>
                <a:cs typeface="Aptos" pitchFamily="34" charset="-120"/>
              </a:rPr>
              <a:t>Useful for prioritizing review capacity.</a:t>
            </a:r>
            <a:endParaRPr lang="en-US" sz="930" dirty="0"/>
          </a:p>
          <a:p>
            <a:r>
              <a:rPr lang="en-US" sz="930" dirty="0">
                <a:solidFill>
                  <a:srgbClr val="FFFFFF"/>
                </a:solidFill>
                <a:latin typeface="Aptos" pitchFamily="34" charset="0"/>
                <a:ea typeface="Aptos" pitchFamily="34" charset="-122"/>
                <a:cs typeface="Aptos" pitchFamily="34" charset="-120"/>
              </a:rPr>
              <a:t>Precision is far above the base event rate.</a:t>
            </a:r>
            <a:endParaRPr lang="en-US" sz="930" dirty="0"/>
          </a:p>
        </p:txBody>
      </p:sp>
      <p:sp>
        <p:nvSpPr>
          <p:cNvPr id="18" name="Shape 15"/>
          <p:cNvSpPr/>
          <p:nvPr/>
        </p:nvSpPr>
        <p:spPr>
          <a:xfrm>
            <a:off x="6355080" y="3474720"/>
            <a:ext cx="4892040" cy="1508760"/>
          </a:xfrm>
          <a:prstGeom prst="roundRect">
            <a:avLst>
              <a:gd name="adj" fmla="val 4848"/>
            </a:avLst>
          </a:prstGeom>
          <a:solidFill>
            <a:srgbClr val="000000">
              <a:alpha val="82000"/>
            </a:srgbClr>
          </a:solidFill>
          <a:ln w="12700">
            <a:solidFill>
              <a:srgbClr val="9DFF00">
                <a:alpha val="34000"/>
              </a:srgbClr>
            </a:solidFill>
            <a:prstDash val="solid"/>
          </a:ln>
        </p:spPr>
      </p:sp>
      <p:sp>
        <p:nvSpPr>
          <p:cNvPr id="19" name="Text 16"/>
          <p:cNvSpPr/>
          <p:nvPr/>
        </p:nvSpPr>
        <p:spPr>
          <a:xfrm>
            <a:off x="6629400" y="3675888"/>
            <a:ext cx="164592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What still fails</a:t>
            </a:r>
            <a:endParaRPr lang="en-US" sz="1360" dirty="0"/>
          </a:p>
        </p:txBody>
      </p:sp>
      <p:sp>
        <p:nvSpPr>
          <p:cNvPr id="20" name="Text 17"/>
          <p:cNvSpPr/>
          <p:nvPr/>
        </p:nvSpPr>
        <p:spPr>
          <a:xfrm>
            <a:off x="6739128" y="4005072"/>
            <a:ext cx="3749040" cy="585216"/>
          </a:xfrm>
          <a:prstGeom prst="rect">
            <a:avLst/>
          </a:prstGeom>
          <a:noFill/>
          <a:ln/>
        </p:spPr>
        <p:txBody>
          <a:bodyPr wrap="square" lIns="254" tIns="254" rIns="254" bIns="254" rtlCol="0" anchor="ctr">
            <a:normAutofit/>
          </a:bodyPr>
          <a:lstStyle/>
          <a:p>
            <a:r>
              <a:rPr lang="en-US" sz="930" dirty="0">
                <a:solidFill>
                  <a:srgbClr val="FFFFFF"/>
                </a:solidFill>
                <a:latin typeface="Aptos" pitchFamily="34" charset="0"/>
                <a:ea typeface="Aptos" pitchFamily="34" charset="-122"/>
                <a:cs typeface="Aptos" pitchFamily="34" charset="-120"/>
              </a:rPr>
              <a:t>Recall is only 31.4%, so many charge-offs are missed.</a:t>
            </a:r>
            <a:endParaRPr lang="en-US" sz="930" dirty="0"/>
          </a:p>
          <a:p>
            <a:r>
              <a:rPr lang="en-US" sz="930" dirty="0">
                <a:solidFill>
                  <a:srgbClr val="FFFFFF"/>
                </a:solidFill>
                <a:latin typeface="Aptos" pitchFamily="34" charset="0"/>
                <a:ea typeface="Aptos" pitchFamily="34" charset="-122"/>
                <a:cs typeface="Aptos" pitchFamily="34" charset="-120"/>
              </a:rPr>
              <a:t>Public SBA data lacks key borrower credit variables.</a:t>
            </a:r>
            <a:endParaRPr lang="en-US" sz="930" dirty="0"/>
          </a:p>
          <a:p>
            <a:r>
              <a:rPr lang="en-US" sz="930" dirty="0">
                <a:solidFill>
                  <a:srgbClr val="FFFFFF"/>
                </a:solidFill>
                <a:latin typeface="Aptos" pitchFamily="34" charset="0"/>
                <a:ea typeface="Aptos" pitchFamily="34" charset="-122"/>
                <a:cs typeface="Aptos" pitchFamily="34" charset="-120"/>
              </a:rPr>
              <a:t>Not strong enough for standalone approval/denial.</a:t>
            </a:r>
            <a:endParaRPr lang="en-US" sz="930" dirty="0"/>
          </a:p>
        </p:txBody>
      </p:sp>
      <p:sp>
        <p:nvSpPr>
          <p:cNvPr id="21" name="Text 18"/>
          <p:cNvSpPr/>
          <p:nvPr/>
        </p:nvSpPr>
        <p:spPr>
          <a:xfrm>
            <a:off x="566928" y="6473952"/>
            <a:ext cx="6217920" cy="201168"/>
          </a:xfrm>
          <a:prstGeom prst="rect">
            <a:avLst/>
          </a:prstGeom>
          <a:noFill/>
          <a:ln/>
        </p:spPr>
        <p:txBody>
          <a:bodyPr wrap="square" lIns="0" tIns="0" rIns="0" bIns="0" rtlCol="0" anchor="ctr"/>
          <a:lstStyle/>
          <a:p>
            <a:pPr indent="0" marL="0">
              <a:buNone/>
            </a:pPr>
            <a:r>
              <a:rPr lang="en-US" sz="740" dirty="0">
                <a:solidFill>
                  <a:srgbClr val="C4CDC6"/>
                </a:solidFill>
              </a:rPr>
              <a:t>DATA 400 | SBA 7(a) Credit-Risk Mini Project</a:t>
            </a:r>
            <a:endParaRPr lang="en-US" sz="740" dirty="0"/>
          </a:p>
        </p:txBody>
      </p:sp>
      <p:sp>
        <p:nvSpPr>
          <p:cNvPr id="22" name="Text 19"/>
          <p:cNvSpPr/>
          <p:nvPr/>
        </p:nvSpPr>
        <p:spPr>
          <a:xfrm>
            <a:off x="11082528" y="6455664"/>
            <a:ext cx="502920" cy="201168"/>
          </a:xfrm>
          <a:prstGeom prst="rect">
            <a:avLst/>
          </a:prstGeom>
          <a:noFill/>
          <a:ln/>
        </p:spPr>
        <p:txBody>
          <a:bodyPr wrap="square" lIns="0" tIns="0" rIns="0" bIns="0" rtlCol="0" anchor="ctr"/>
          <a:lstStyle/>
          <a:p>
            <a:pPr algn="r" indent="0" marL="0">
              <a:buNone/>
            </a:pPr>
            <a:r>
              <a:rPr lang="en-US" sz="800" b="1" dirty="0">
                <a:solidFill>
                  <a:srgbClr val="9DFF00"/>
                </a:solidFill>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50607"/>
        </a:solidFill>
      </p:bgPr>
    </p:bg>
    <p:spTree>
      <p:nvGrpSpPr>
        <p:cNvPr id="1" name=""/>
        <p:cNvGrpSpPr/>
        <p:nvPr/>
      </p:nvGrpSpPr>
      <p:grpSpPr>
        <a:xfrm>
          <a:off x="0" y="0"/>
          <a:ext cx="0" cy="0"/>
          <a:chOff x="0" y="0"/>
          <a:chExt cx="0" cy="0"/>
        </a:xfrm>
      </p:grpSpPr>
      <p:pic>
        <p:nvPicPr>
          <p:cNvPr id="2" name="Image 0" descr="/mnt/data/sample_ppt_extract/ppt/media/dark_image5.jpeg">    </p:cNvPr>
          <p:cNvPicPr>
            <a:picLocks noChangeAspect="1"/>
          </p:cNvPicPr>
          <p:nvPr/>
        </p:nvPicPr>
        <p:blipFill>
          <a:blip r:embed="rId1"/>
          <a:srcRect l="0" r="0" t="7811" b="7811"/>
          <a:stretch/>
        </p:blipFill>
        <p:spPr>
          <a:xfrm>
            <a:off x="0" y="0"/>
            <a:ext cx="12191695" cy="6858000"/>
          </a:xfrm>
          <a:prstGeom prst="rect">
            <a:avLst/>
          </a:prstGeom>
        </p:spPr>
      </p:pic>
      <p:sp>
        <p:nvSpPr>
          <p:cNvPr id="3" name="Shape 0"/>
          <p:cNvSpPr/>
          <p:nvPr/>
        </p:nvSpPr>
        <p:spPr>
          <a:xfrm>
            <a:off x="201168" y="256032"/>
            <a:ext cx="50292" cy="6263640"/>
          </a:xfrm>
          <a:prstGeom prst="rect">
            <a:avLst/>
          </a:prstGeom>
          <a:solidFill>
            <a:srgbClr val="9DFF00"/>
          </a:solidFill>
          <a:ln w="12700">
            <a:solidFill>
              <a:srgbClr val="333333">
                <a:alpha val="0"/>
              </a:srgbClr>
            </a:solidFill>
            <a:prstDash val="solid"/>
          </a:ln>
        </p:spPr>
      </p:sp>
      <p:sp>
        <p:nvSpPr>
          <p:cNvPr id="4" name="Text 1"/>
          <p:cNvSpPr/>
          <p:nvPr/>
        </p:nvSpPr>
        <p:spPr>
          <a:xfrm>
            <a:off x="566928" y="310896"/>
            <a:ext cx="4754880" cy="228600"/>
          </a:xfrm>
          <a:prstGeom prst="rect">
            <a:avLst/>
          </a:prstGeom>
          <a:noFill/>
          <a:ln/>
        </p:spPr>
        <p:txBody>
          <a:bodyPr wrap="square" lIns="0" tIns="0" rIns="0" bIns="0" rtlCol="0" anchor="ctr">
            <a:normAutofit/>
          </a:bodyPr>
          <a:lstStyle/>
          <a:p>
            <a:pPr indent="0" marL="0">
              <a:buNone/>
            </a:pPr>
            <a:r>
              <a:rPr lang="en-US" sz="850" b="1" dirty="0">
                <a:solidFill>
                  <a:srgbClr val="9DFF00"/>
                </a:solidFill>
                <a:latin typeface="Aptos" pitchFamily="34" charset="0"/>
                <a:ea typeface="Aptos" pitchFamily="34" charset="-122"/>
                <a:cs typeface="Aptos" pitchFamily="34" charset="-120"/>
              </a:rPr>
              <a:t>GENERALIZATION CHECK</a:t>
            </a:r>
            <a:endParaRPr lang="en-US" sz="850" dirty="0"/>
          </a:p>
        </p:txBody>
      </p:sp>
      <p:sp>
        <p:nvSpPr>
          <p:cNvPr id="5" name="Text 2"/>
          <p:cNvSpPr/>
          <p:nvPr/>
        </p:nvSpPr>
        <p:spPr>
          <a:xfrm>
            <a:off x="566928" y="621792"/>
            <a:ext cx="10652760" cy="566928"/>
          </a:xfrm>
          <a:prstGeom prst="rect">
            <a:avLst/>
          </a:prstGeom>
          <a:noFill/>
          <a:ln/>
        </p:spPr>
        <p:txBody>
          <a:bodyPr wrap="square" lIns="0" tIns="0" rIns="0" bIns="0" rtlCol="0" anchor="ctr">
            <a:normAutofit/>
          </a:bodyPr>
          <a:lstStyle/>
          <a:p>
            <a:pPr indent="0" marL="0">
              <a:buNone/>
            </a:pPr>
            <a:r>
              <a:rPr lang="en-US" sz="2450" b="1" dirty="0">
                <a:solidFill>
                  <a:srgbClr val="FFFFFF"/>
                </a:solidFill>
                <a:latin typeface="Aptos Display" pitchFamily="34" charset="0"/>
                <a:ea typeface="Aptos Display" pitchFamily="34" charset="-122"/>
                <a:cs typeface="Aptos Display" pitchFamily="34" charset="-120"/>
              </a:rPr>
              <a:t>Learning curve suggests benefit from more data, but overfitting remains</a:t>
            </a:r>
            <a:endParaRPr lang="en-US" sz="2450" dirty="0"/>
          </a:p>
        </p:txBody>
      </p:sp>
      <p:sp>
        <p:nvSpPr>
          <p:cNvPr id="6" name="Shape 3"/>
          <p:cNvSpPr/>
          <p:nvPr/>
        </p:nvSpPr>
        <p:spPr>
          <a:xfrm>
            <a:off x="566928" y="1307592"/>
            <a:ext cx="10716768" cy="0"/>
          </a:xfrm>
          <a:prstGeom prst="line">
            <a:avLst/>
          </a:prstGeom>
          <a:noFill/>
          <a:ln w="13335">
            <a:solidFill>
              <a:srgbClr val="9DFF00">
                <a:alpha val="95000"/>
              </a:srgbClr>
            </a:solidFill>
            <a:prstDash val="solid"/>
          </a:ln>
        </p:spPr>
      </p:sp>
      <p:sp>
        <p:nvSpPr>
          <p:cNvPr id="7" name="Shape 4"/>
          <p:cNvSpPr/>
          <p:nvPr/>
        </p:nvSpPr>
        <p:spPr>
          <a:xfrm>
            <a:off x="777240" y="1645920"/>
            <a:ext cx="5257800" cy="3246120"/>
          </a:xfrm>
          <a:prstGeom prst="rect">
            <a:avLst/>
          </a:prstGeom>
          <a:solidFill>
            <a:srgbClr val="FFFFFF"/>
          </a:solidFill>
          <a:ln w="11430">
            <a:solidFill>
              <a:srgbClr val="9DFF00">
                <a:alpha val="65000"/>
              </a:srgbClr>
            </a:solidFill>
            <a:prstDash val="solid"/>
          </a:ln>
        </p:spPr>
      </p:sp>
      <p:pic>
        <p:nvPicPr>
          <p:cNvPr id="8" name="Image 1" descr="/mnt/data/sba_v4_assets/cell46_out2_img.png">    </p:cNvPr>
          <p:cNvPicPr>
            <a:picLocks noChangeAspect="1"/>
          </p:cNvPicPr>
          <p:nvPr/>
        </p:nvPicPr>
        <p:blipFill>
          <a:blip r:embed="rId2"/>
          <a:stretch>
            <a:fillRect/>
          </a:stretch>
        </p:blipFill>
        <p:spPr>
          <a:xfrm>
            <a:off x="995763" y="1719072"/>
            <a:ext cx="4820754" cy="2990088"/>
          </a:xfrm>
          <a:prstGeom prst="rect">
            <a:avLst/>
          </a:prstGeom>
        </p:spPr>
      </p:pic>
      <p:sp>
        <p:nvSpPr>
          <p:cNvPr id="9" name="Text 5"/>
          <p:cNvSpPr/>
          <p:nvPr/>
        </p:nvSpPr>
        <p:spPr>
          <a:xfrm>
            <a:off x="850392" y="4709160"/>
            <a:ext cx="5111496" cy="118872"/>
          </a:xfrm>
          <a:prstGeom prst="rect">
            <a:avLst/>
          </a:prstGeom>
          <a:noFill/>
          <a:ln/>
        </p:spPr>
        <p:txBody>
          <a:bodyPr wrap="square" lIns="254" tIns="254" rIns="254" bIns="254" rtlCol="0" anchor="t">
            <a:normAutofit/>
          </a:bodyPr>
          <a:lstStyle/>
          <a:p>
            <a:pPr algn="ctr" indent="0" marL="0">
              <a:buNone/>
            </a:pPr>
            <a:r>
              <a:rPr lang="en-US" sz="670" dirty="0">
                <a:solidFill>
                  <a:srgbClr val="333333"/>
                </a:solidFill>
                <a:latin typeface="Aptos" pitchFamily="34" charset="0"/>
                <a:ea typeface="Aptos" pitchFamily="34" charset="-122"/>
                <a:cs typeface="Aptos" pitchFamily="34" charset="-120"/>
              </a:rPr>
              <a:t>Learning curve: Train vs validation PR-AUC</a:t>
            </a:r>
            <a:endParaRPr lang="en-US" sz="670" dirty="0"/>
          </a:p>
        </p:txBody>
      </p:sp>
      <p:sp>
        <p:nvSpPr>
          <p:cNvPr id="10" name="Shape 6"/>
          <p:cNvSpPr/>
          <p:nvPr/>
        </p:nvSpPr>
        <p:spPr>
          <a:xfrm>
            <a:off x="6400800" y="1783080"/>
            <a:ext cx="1142067" cy="384048"/>
          </a:xfrm>
          <a:prstGeom prst="rect">
            <a:avLst/>
          </a:prstGeom>
          <a:solidFill>
            <a:srgbClr val="9DFF00">
              <a:alpha val="18000"/>
            </a:srgbClr>
          </a:solidFill>
          <a:ln w="12700">
            <a:solidFill>
              <a:srgbClr val="333333">
                <a:alpha val="0"/>
              </a:srgbClr>
            </a:solidFill>
            <a:prstDash val="solid"/>
          </a:ln>
        </p:spPr>
      </p:sp>
      <p:sp>
        <p:nvSpPr>
          <p:cNvPr id="11" name="Text 7"/>
          <p:cNvSpPr/>
          <p:nvPr/>
        </p:nvSpPr>
        <p:spPr>
          <a:xfrm>
            <a:off x="6441948" y="1815084"/>
            <a:ext cx="1059771" cy="320040"/>
          </a:xfrm>
          <a:prstGeom prst="rect">
            <a:avLst/>
          </a:prstGeom>
          <a:noFill/>
          <a:ln/>
        </p:spPr>
        <p:txBody>
          <a:bodyPr wrap="square" lIns="254" tIns="254" rIns="254" bIns="254" rtlCol="0" anchor="t">
            <a:normAutofit/>
          </a:bodyPr>
          <a:lstStyle/>
          <a:p>
            <a:pPr algn="l" indent="0" marL="0">
              <a:buNone/>
            </a:pPr>
            <a:r>
              <a:rPr lang="en-US" sz="810" b="1" dirty="0">
                <a:solidFill>
                  <a:srgbClr val="9DFF00"/>
                </a:solidFill>
                <a:latin typeface="Aptos" pitchFamily="34" charset="0"/>
                <a:ea typeface="Aptos" pitchFamily="34" charset="-122"/>
                <a:cs typeface="Aptos" pitchFamily="34" charset="-120"/>
              </a:rPr>
              <a:t>Rows</a:t>
            </a:r>
            <a:endParaRPr lang="en-US" sz="810" dirty="0"/>
          </a:p>
        </p:txBody>
      </p:sp>
      <p:sp>
        <p:nvSpPr>
          <p:cNvPr id="12" name="Shape 8"/>
          <p:cNvSpPr/>
          <p:nvPr/>
        </p:nvSpPr>
        <p:spPr>
          <a:xfrm>
            <a:off x="7542867" y="1783080"/>
            <a:ext cx="1237239" cy="384048"/>
          </a:xfrm>
          <a:prstGeom prst="rect">
            <a:avLst/>
          </a:prstGeom>
          <a:solidFill>
            <a:srgbClr val="9DFF00">
              <a:alpha val="18000"/>
            </a:srgbClr>
          </a:solidFill>
          <a:ln w="12700">
            <a:solidFill>
              <a:srgbClr val="333333">
                <a:alpha val="0"/>
              </a:srgbClr>
            </a:solidFill>
            <a:prstDash val="solid"/>
          </a:ln>
        </p:spPr>
      </p:sp>
      <p:sp>
        <p:nvSpPr>
          <p:cNvPr id="13" name="Text 9"/>
          <p:cNvSpPr/>
          <p:nvPr/>
        </p:nvSpPr>
        <p:spPr>
          <a:xfrm>
            <a:off x="7584015" y="1815084"/>
            <a:ext cx="1154943" cy="320040"/>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Train PR-AUC</a:t>
            </a:r>
            <a:endParaRPr lang="en-US" sz="810" dirty="0"/>
          </a:p>
        </p:txBody>
      </p:sp>
      <p:sp>
        <p:nvSpPr>
          <p:cNvPr id="14" name="Shape 10"/>
          <p:cNvSpPr/>
          <p:nvPr/>
        </p:nvSpPr>
        <p:spPr>
          <a:xfrm>
            <a:off x="8780106" y="1783080"/>
            <a:ext cx="1237239" cy="384048"/>
          </a:xfrm>
          <a:prstGeom prst="rect">
            <a:avLst/>
          </a:prstGeom>
          <a:solidFill>
            <a:srgbClr val="9DFF00">
              <a:alpha val="18000"/>
            </a:srgbClr>
          </a:solidFill>
          <a:ln w="12700">
            <a:solidFill>
              <a:srgbClr val="333333">
                <a:alpha val="0"/>
              </a:srgbClr>
            </a:solidFill>
            <a:prstDash val="solid"/>
          </a:ln>
        </p:spPr>
      </p:sp>
      <p:sp>
        <p:nvSpPr>
          <p:cNvPr id="15" name="Text 11"/>
          <p:cNvSpPr/>
          <p:nvPr/>
        </p:nvSpPr>
        <p:spPr>
          <a:xfrm>
            <a:off x="8821254" y="1815084"/>
            <a:ext cx="1154943" cy="320040"/>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Val PR-AUC</a:t>
            </a:r>
            <a:endParaRPr lang="en-US" sz="810" dirty="0"/>
          </a:p>
        </p:txBody>
      </p:sp>
      <p:sp>
        <p:nvSpPr>
          <p:cNvPr id="16" name="Shape 12"/>
          <p:cNvSpPr/>
          <p:nvPr/>
        </p:nvSpPr>
        <p:spPr>
          <a:xfrm>
            <a:off x="10017345" y="1783080"/>
            <a:ext cx="1046895" cy="384048"/>
          </a:xfrm>
          <a:prstGeom prst="rect">
            <a:avLst/>
          </a:prstGeom>
          <a:solidFill>
            <a:srgbClr val="9DFF00">
              <a:alpha val="18000"/>
            </a:srgbClr>
          </a:solidFill>
          <a:ln w="12700">
            <a:solidFill>
              <a:srgbClr val="333333">
                <a:alpha val="0"/>
              </a:srgbClr>
            </a:solidFill>
            <a:prstDash val="solid"/>
          </a:ln>
        </p:spPr>
      </p:sp>
      <p:sp>
        <p:nvSpPr>
          <p:cNvPr id="17" name="Text 13"/>
          <p:cNvSpPr/>
          <p:nvPr/>
        </p:nvSpPr>
        <p:spPr>
          <a:xfrm>
            <a:off x="10058493" y="1815084"/>
            <a:ext cx="964599" cy="320040"/>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Gap</a:t>
            </a:r>
            <a:endParaRPr lang="en-US" sz="810" dirty="0"/>
          </a:p>
        </p:txBody>
      </p:sp>
      <p:sp>
        <p:nvSpPr>
          <p:cNvPr id="18" name="Shape 14"/>
          <p:cNvSpPr/>
          <p:nvPr/>
        </p:nvSpPr>
        <p:spPr>
          <a:xfrm>
            <a:off x="6400800" y="2167128"/>
            <a:ext cx="4663440" cy="0"/>
          </a:xfrm>
          <a:prstGeom prst="line">
            <a:avLst/>
          </a:prstGeom>
          <a:noFill/>
          <a:ln w="12700">
            <a:solidFill>
              <a:srgbClr val="9DFF00"/>
            </a:solidFill>
            <a:prstDash val="solid"/>
          </a:ln>
        </p:spPr>
      </p:sp>
      <p:sp>
        <p:nvSpPr>
          <p:cNvPr id="19" name="Text 15"/>
          <p:cNvSpPr/>
          <p:nvPr/>
        </p:nvSpPr>
        <p:spPr>
          <a:xfrm>
            <a:off x="6441948" y="2199132"/>
            <a:ext cx="1059771" cy="320040"/>
          </a:xfrm>
          <a:prstGeom prst="rect">
            <a:avLst/>
          </a:prstGeom>
          <a:noFill/>
          <a:ln/>
        </p:spPr>
        <p:txBody>
          <a:bodyPr wrap="square" lIns="254" tIns="254" rIns="254" bIns="254" rtlCol="0" anchor="t">
            <a:normAutofit/>
          </a:bodyPr>
          <a:lstStyle/>
          <a:p>
            <a:pPr algn="l" indent="0" marL="0">
              <a:buNone/>
            </a:pPr>
            <a:r>
              <a:rPr lang="en-US" sz="880" dirty="0">
                <a:solidFill>
                  <a:srgbClr val="FFFFFF"/>
                </a:solidFill>
                <a:latin typeface="Aptos" pitchFamily="34" charset="0"/>
                <a:ea typeface="Aptos" pitchFamily="34" charset="-122"/>
                <a:cs typeface="Aptos" pitchFamily="34" charset="-120"/>
              </a:rPr>
              <a:t>25k</a:t>
            </a:r>
            <a:endParaRPr lang="en-US" sz="880" dirty="0"/>
          </a:p>
        </p:txBody>
      </p:sp>
      <p:sp>
        <p:nvSpPr>
          <p:cNvPr id="20" name="Text 16"/>
          <p:cNvSpPr/>
          <p:nvPr/>
        </p:nvSpPr>
        <p:spPr>
          <a:xfrm>
            <a:off x="7584015" y="2199132"/>
            <a:ext cx="1154943" cy="320040"/>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0.503</a:t>
            </a:r>
            <a:endParaRPr lang="en-US" sz="880" dirty="0"/>
          </a:p>
        </p:txBody>
      </p:sp>
      <p:sp>
        <p:nvSpPr>
          <p:cNvPr id="21" name="Text 17"/>
          <p:cNvSpPr/>
          <p:nvPr/>
        </p:nvSpPr>
        <p:spPr>
          <a:xfrm>
            <a:off x="8821254" y="2199132"/>
            <a:ext cx="1154943" cy="320040"/>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0.285</a:t>
            </a:r>
            <a:endParaRPr lang="en-US" sz="880" dirty="0"/>
          </a:p>
        </p:txBody>
      </p:sp>
      <p:sp>
        <p:nvSpPr>
          <p:cNvPr id="22" name="Text 18"/>
          <p:cNvSpPr/>
          <p:nvPr/>
        </p:nvSpPr>
        <p:spPr>
          <a:xfrm>
            <a:off x="10058493" y="2199132"/>
            <a:ext cx="964599" cy="320040"/>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0.218</a:t>
            </a:r>
            <a:endParaRPr lang="en-US" sz="880" dirty="0"/>
          </a:p>
        </p:txBody>
      </p:sp>
      <p:sp>
        <p:nvSpPr>
          <p:cNvPr id="23" name="Shape 19"/>
          <p:cNvSpPr/>
          <p:nvPr/>
        </p:nvSpPr>
        <p:spPr>
          <a:xfrm>
            <a:off x="6400800" y="2551176"/>
            <a:ext cx="4663440" cy="0"/>
          </a:xfrm>
          <a:prstGeom prst="line">
            <a:avLst/>
          </a:prstGeom>
          <a:noFill/>
          <a:ln w="6350">
            <a:solidFill>
              <a:srgbClr val="2D342F">
                <a:alpha val="75000"/>
              </a:srgbClr>
            </a:solidFill>
            <a:prstDash val="solid"/>
          </a:ln>
        </p:spPr>
      </p:sp>
      <p:sp>
        <p:nvSpPr>
          <p:cNvPr id="24" name="Text 20"/>
          <p:cNvSpPr/>
          <p:nvPr/>
        </p:nvSpPr>
        <p:spPr>
          <a:xfrm>
            <a:off x="6441948" y="2583180"/>
            <a:ext cx="1059771" cy="320040"/>
          </a:xfrm>
          <a:prstGeom prst="rect">
            <a:avLst/>
          </a:prstGeom>
          <a:noFill/>
          <a:ln/>
        </p:spPr>
        <p:txBody>
          <a:bodyPr wrap="square" lIns="254" tIns="254" rIns="254" bIns="254" rtlCol="0" anchor="t">
            <a:normAutofit/>
          </a:bodyPr>
          <a:lstStyle/>
          <a:p>
            <a:pPr algn="l" indent="0" marL="0">
              <a:buNone/>
            </a:pPr>
            <a:r>
              <a:rPr lang="en-US" sz="880" dirty="0">
                <a:solidFill>
                  <a:srgbClr val="FFFFFF"/>
                </a:solidFill>
                <a:latin typeface="Aptos" pitchFamily="34" charset="0"/>
                <a:ea typeface="Aptos" pitchFamily="34" charset="-122"/>
                <a:cs typeface="Aptos" pitchFamily="34" charset="-120"/>
              </a:rPr>
              <a:t>50k</a:t>
            </a:r>
            <a:endParaRPr lang="en-US" sz="880" dirty="0"/>
          </a:p>
        </p:txBody>
      </p:sp>
      <p:sp>
        <p:nvSpPr>
          <p:cNvPr id="25" name="Text 21"/>
          <p:cNvSpPr/>
          <p:nvPr/>
        </p:nvSpPr>
        <p:spPr>
          <a:xfrm>
            <a:off x="7584015" y="2583180"/>
            <a:ext cx="1154943" cy="320040"/>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0.509</a:t>
            </a:r>
            <a:endParaRPr lang="en-US" sz="880" dirty="0"/>
          </a:p>
        </p:txBody>
      </p:sp>
      <p:sp>
        <p:nvSpPr>
          <p:cNvPr id="26" name="Text 22"/>
          <p:cNvSpPr/>
          <p:nvPr/>
        </p:nvSpPr>
        <p:spPr>
          <a:xfrm>
            <a:off x="8821254" y="2583180"/>
            <a:ext cx="1154943" cy="320040"/>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0.297</a:t>
            </a:r>
            <a:endParaRPr lang="en-US" sz="880" dirty="0"/>
          </a:p>
        </p:txBody>
      </p:sp>
      <p:sp>
        <p:nvSpPr>
          <p:cNvPr id="27" name="Text 23"/>
          <p:cNvSpPr/>
          <p:nvPr/>
        </p:nvSpPr>
        <p:spPr>
          <a:xfrm>
            <a:off x="10058493" y="2583180"/>
            <a:ext cx="964599" cy="320040"/>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0.212</a:t>
            </a:r>
            <a:endParaRPr lang="en-US" sz="880" dirty="0"/>
          </a:p>
        </p:txBody>
      </p:sp>
      <p:sp>
        <p:nvSpPr>
          <p:cNvPr id="28" name="Shape 24"/>
          <p:cNvSpPr/>
          <p:nvPr/>
        </p:nvSpPr>
        <p:spPr>
          <a:xfrm>
            <a:off x="6400800" y="2935224"/>
            <a:ext cx="4663440" cy="0"/>
          </a:xfrm>
          <a:prstGeom prst="line">
            <a:avLst/>
          </a:prstGeom>
          <a:noFill/>
          <a:ln w="6350">
            <a:solidFill>
              <a:srgbClr val="2D342F">
                <a:alpha val="75000"/>
              </a:srgbClr>
            </a:solidFill>
            <a:prstDash val="solid"/>
          </a:ln>
        </p:spPr>
      </p:sp>
      <p:sp>
        <p:nvSpPr>
          <p:cNvPr id="29" name="Text 25"/>
          <p:cNvSpPr/>
          <p:nvPr/>
        </p:nvSpPr>
        <p:spPr>
          <a:xfrm>
            <a:off x="6441948" y="2967228"/>
            <a:ext cx="1059771" cy="320040"/>
          </a:xfrm>
          <a:prstGeom prst="rect">
            <a:avLst/>
          </a:prstGeom>
          <a:noFill/>
          <a:ln/>
        </p:spPr>
        <p:txBody>
          <a:bodyPr wrap="square" lIns="254" tIns="254" rIns="254" bIns="254" rtlCol="0" anchor="t">
            <a:normAutofit/>
          </a:bodyPr>
          <a:lstStyle/>
          <a:p>
            <a:pPr algn="l" indent="0" marL="0">
              <a:buNone/>
            </a:pPr>
            <a:r>
              <a:rPr lang="en-US" sz="880" dirty="0">
                <a:solidFill>
                  <a:srgbClr val="FFFFFF"/>
                </a:solidFill>
                <a:latin typeface="Aptos" pitchFamily="34" charset="0"/>
                <a:ea typeface="Aptos" pitchFamily="34" charset="-122"/>
                <a:cs typeface="Aptos" pitchFamily="34" charset="-120"/>
              </a:rPr>
              <a:t>75k</a:t>
            </a:r>
            <a:endParaRPr lang="en-US" sz="880" dirty="0"/>
          </a:p>
        </p:txBody>
      </p:sp>
      <p:sp>
        <p:nvSpPr>
          <p:cNvPr id="30" name="Text 26"/>
          <p:cNvSpPr/>
          <p:nvPr/>
        </p:nvSpPr>
        <p:spPr>
          <a:xfrm>
            <a:off x="7584015" y="2967228"/>
            <a:ext cx="1154943" cy="320040"/>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0.487</a:t>
            </a:r>
            <a:endParaRPr lang="en-US" sz="880" dirty="0"/>
          </a:p>
        </p:txBody>
      </p:sp>
      <p:sp>
        <p:nvSpPr>
          <p:cNvPr id="31" name="Text 27"/>
          <p:cNvSpPr/>
          <p:nvPr/>
        </p:nvSpPr>
        <p:spPr>
          <a:xfrm>
            <a:off x="8821254" y="2967228"/>
            <a:ext cx="1154943" cy="320040"/>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0.291</a:t>
            </a:r>
            <a:endParaRPr lang="en-US" sz="880" dirty="0"/>
          </a:p>
        </p:txBody>
      </p:sp>
      <p:sp>
        <p:nvSpPr>
          <p:cNvPr id="32" name="Text 28"/>
          <p:cNvSpPr/>
          <p:nvPr/>
        </p:nvSpPr>
        <p:spPr>
          <a:xfrm>
            <a:off x="10058493" y="2967228"/>
            <a:ext cx="964599" cy="320040"/>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0.196</a:t>
            </a:r>
            <a:endParaRPr lang="en-US" sz="880" dirty="0"/>
          </a:p>
        </p:txBody>
      </p:sp>
      <p:sp>
        <p:nvSpPr>
          <p:cNvPr id="33" name="Shape 29"/>
          <p:cNvSpPr/>
          <p:nvPr/>
        </p:nvSpPr>
        <p:spPr>
          <a:xfrm>
            <a:off x="6400800" y="3319272"/>
            <a:ext cx="4663440" cy="0"/>
          </a:xfrm>
          <a:prstGeom prst="line">
            <a:avLst/>
          </a:prstGeom>
          <a:noFill/>
          <a:ln w="6350">
            <a:solidFill>
              <a:srgbClr val="2D342F">
                <a:alpha val="75000"/>
              </a:srgbClr>
            </a:solidFill>
            <a:prstDash val="solid"/>
          </a:ln>
        </p:spPr>
      </p:sp>
      <p:sp>
        <p:nvSpPr>
          <p:cNvPr id="34" name="Text 30"/>
          <p:cNvSpPr/>
          <p:nvPr/>
        </p:nvSpPr>
        <p:spPr>
          <a:xfrm>
            <a:off x="6441948" y="3351276"/>
            <a:ext cx="1059771" cy="320040"/>
          </a:xfrm>
          <a:prstGeom prst="rect">
            <a:avLst/>
          </a:prstGeom>
          <a:noFill/>
          <a:ln/>
        </p:spPr>
        <p:txBody>
          <a:bodyPr wrap="square" lIns="254" tIns="254" rIns="254" bIns="254" rtlCol="0" anchor="t">
            <a:normAutofit/>
          </a:bodyPr>
          <a:lstStyle/>
          <a:p>
            <a:pPr algn="l" indent="0" marL="0">
              <a:buNone/>
            </a:pPr>
            <a:r>
              <a:rPr lang="en-US" sz="880" dirty="0">
                <a:solidFill>
                  <a:srgbClr val="FFFFFF"/>
                </a:solidFill>
                <a:latin typeface="Aptos" pitchFamily="34" charset="0"/>
                <a:ea typeface="Aptos" pitchFamily="34" charset="-122"/>
                <a:cs typeface="Aptos" pitchFamily="34" charset="-120"/>
              </a:rPr>
              <a:t>100k</a:t>
            </a:r>
            <a:endParaRPr lang="en-US" sz="880" dirty="0"/>
          </a:p>
        </p:txBody>
      </p:sp>
      <p:sp>
        <p:nvSpPr>
          <p:cNvPr id="35" name="Text 31"/>
          <p:cNvSpPr/>
          <p:nvPr/>
        </p:nvSpPr>
        <p:spPr>
          <a:xfrm>
            <a:off x="7584015" y="3351276"/>
            <a:ext cx="1154943" cy="320040"/>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0.484</a:t>
            </a:r>
            <a:endParaRPr lang="en-US" sz="880" dirty="0"/>
          </a:p>
        </p:txBody>
      </p:sp>
      <p:sp>
        <p:nvSpPr>
          <p:cNvPr id="36" name="Text 32"/>
          <p:cNvSpPr/>
          <p:nvPr/>
        </p:nvSpPr>
        <p:spPr>
          <a:xfrm>
            <a:off x="8821254" y="3351276"/>
            <a:ext cx="1154943" cy="320040"/>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0.309</a:t>
            </a:r>
            <a:endParaRPr lang="en-US" sz="880" dirty="0"/>
          </a:p>
        </p:txBody>
      </p:sp>
      <p:sp>
        <p:nvSpPr>
          <p:cNvPr id="37" name="Text 33"/>
          <p:cNvSpPr/>
          <p:nvPr/>
        </p:nvSpPr>
        <p:spPr>
          <a:xfrm>
            <a:off x="10058493" y="3351276"/>
            <a:ext cx="964599" cy="320040"/>
          </a:xfrm>
          <a:prstGeom prst="rect">
            <a:avLst/>
          </a:prstGeom>
          <a:noFill/>
          <a:ln/>
        </p:spPr>
        <p:txBody>
          <a:bodyPr wrap="square" lIns="254" tIns="254" rIns="254" bIns="254" rtlCol="0" anchor="t">
            <a:normAutofit/>
          </a:bodyPr>
          <a:lstStyle/>
          <a:p>
            <a:pPr algn="ctr" indent="0" marL="0">
              <a:buNone/>
            </a:pPr>
            <a:r>
              <a:rPr lang="en-US" sz="880" dirty="0">
                <a:solidFill>
                  <a:srgbClr val="FFFFFF"/>
                </a:solidFill>
                <a:latin typeface="Aptos" pitchFamily="34" charset="0"/>
                <a:ea typeface="Aptos" pitchFamily="34" charset="-122"/>
                <a:cs typeface="Aptos" pitchFamily="34" charset="-120"/>
              </a:rPr>
              <a:t>0.174</a:t>
            </a:r>
            <a:endParaRPr lang="en-US" sz="880" dirty="0"/>
          </a:p>
        </p:txBody>
      </p:sp>
      <p:sp>
        <p:nvSpPr>
          <p:cNvPr id="38" name="Shape 34"/>
          <p:cNvSpPr/>
          <p:nvPr/>
        </p:nvSpPr>
        <p:spPr>
          <a:xfrm>
            <a:off x="6400800" y="3703320"/>
            <a:ext cx="4663440" cy="0"/>
          </a:xfrm>
          <a:prstGeom prst="line">
            <a:avLst/>
          </a:prstGeom>
          <a:noFill/>
          <a:ln w="6350">
            <a:solidFill>
              <a:srgbClr val="2D342F">
                <a:alpha val="75000"/>
              </a:srgbClr>
            </a:solidFill>
            <a:prstDash val="solid"/>
          </a:ln>
        </p:spPr>
      </p:sp>
      <p:sp>
        <p:nvSpPr>
          <p:cNvPr id="39" name="Shape 35"/>
          <p:cNvSpPr/>
          <p:nvPr/>
        </p:nvSpPr>
        <p:spPr>
          <a:xfrm>
            <a:off x="6400800" y="4343400"/>
            <a:ext cx="4663440" cy="1097280"/>
          </a:xfrm>
          <a:prstGeom prst="roundRect">
            <a:avLst>
              <a:gd name="adj" fmla="val 6667"/>
            </a:avLst>
          </a:prstGeom>
          <a:solidFill>
            <a:srgbClr val="000000">
              <a:alpha val="82000"/>
            </a:srgbClr>
          </a:solidFill>
          <a:ln w="12700">
            <a:solidFill>
              <a:srgbClr val="9DFF00">
                <a:alpha val="34000"/>
              </a:srgbClr>
            </a:solidFill>
            <a:prstDash val="solid"/>
          </a:ln>
        </p:spPr>
      </p:sp>
      <p:sp>
        <p:nvSpPr>
          <p:cNvPr id="40" name="Text 36"/>
          <p:cNvSpPr/>
          <p:nvPr/>
        </p:nvSpPr>
        <p:spPr>
          <a:xfrm>
            <a:off x="6656832" y="4535424"/>
            <a:ext cx="164592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Interpretation</a:t>
            </a:r>
            <a:endParaRPr lang="en-US" sz="1360" dirty="0"/>
          </a:p>
        </p:txBody>
      </p:sp>
      <p:sp>
        <p:nvSpPr>
          <p:cNvPr id="41" name="Text 37"/>
          <p:cNvSpPr/>
          <p:nvPr/>
        </p:nvSpPr>
        <p:spPr>
          <a:xfrm>
            <a:off x="6656832" y="4864608"/>
            <a:ext cx="3840480" cy="384048"/>
          </a:xfrm>
          <a:prstGeom prst="rect">
            <a:avLst/>
          </a:prstGeom>
          <a:noFill/>
          <a:ln/>
        </p:spPr>
        <p:txBody>
          <a:bodyPr wrap="square" lIns="254" tIns="254" rIns="254" bIns="254" rtlCol="0" anchor="t">
            <a:normAutofit/>
          </a:bodyPr>
          <a:lstStyle/>
          <a:p>
            <a:pPr algn="l" indent="0" marL="0">
              <a:buNone/>
            </a:pPr>
            <a:r>
              <a:rPr lang="en-US" sz="1010" dirty="0">
                <a:solidFill>
                  <a:srgbClr val="FFFFFF"/>
                </a:solidFill>
                <a:latin typeface="Aptos" pitchFamily="34" charset="0"/>
                <a:ea typeface="Aptos" pitchFamily="34" charset="-122"/>
                <a:cs typeface="Aptos" pitchFamily="34" charset="-120"/>
              </a:rPr>
              <a:t>Training PR-AUC remains higher, but the gap shrinks as more rows are used. Random Forest benefits from data but still needs tuning/complexity control.</a:t>
            </a:r>
            <a:endParaRPr lang="en-US" sz="1010" dirty="0"/>
          </a:p>
        </p:txBody>
      </p:sp>
      <p:sp>
        <p:nvSpPr>
          <p:cNvPr id="42" name="Text 38"/>
          <p:cNvSpPr/>
          <p:nvPr/>
        </p:nvSpPr>
        <p:spPr>
          <a:xfrm>
            <a:off x="566928" y="6473952"/>
            <a:ext cx="6217920" cy="201168"/>
          </a:xfrm>
          <a:prstGeom prst="rect">
            <a:avLst/>
          </a:prstGeom>
          <a:noFill/>
          <a:ln/>
        </p:spPr>
        <p:txBody>
          <a:bodyPr wrap="square" lIns="0" tIns="0" rIns="0" bIns="0" rtlCol="0" anchor="ctr"/>
          <a:lstStyle/>
          <a:p>
            <a:pPr indent="0" marL="0">
              <a:buNone/>
            </a:pPr>
            <a:r>
              <a:rPr lang="en-US" sz="740" dirty="0">
                <a:solidFill>
                  <a:srgbClr val="C4CDC6"/>
                </a:solidFill>
              </a:rPr>
              <a:t>DATA 400 | SBA 7(a) Credit-Risk Mini Project</a:t>
            </a:r>
            <a:endParaRPr lang="en-US" sz="740" dirty="0"/>
          </a:p>
        </p:txBody>
      </p:sp>
      <p:sp>
        <p:nvSpPr>
          <p:cNvPr id="43" name="Text 39"/>
          <p:cNvSpPr/>
          <p:nvPr/>
        </p:nvSpPr>
        <p:spPr>
          <a:xfrm>
            <a:off x="11082528" y="6455664"/>
            <a:ext cx="502920" cy="201168"/>
          </a:xfrm>
          <a:prstGeom prst="rect">
            <a:avLst/>
          </a:prstGeom>
          <a:noFill/>
          <a:ln/>
        </p:spPr>
        <p:txBody>
          <a:bodyPr wrap="square" lIns="0" tIns="0" rIns="0" bIns="0" rtlCol="0" anchor="ctr"/>
          <a:lstStyle/>
          <a:p>
            <a:pPr algn="r" indent="0" marL="0">
              <a:buNone/>
            </a:pPr>
            <a:r>
              <a:rPr lang="en-US" sz="800" b="1" dirty="0">
                <a:solidFill>
                  <a:srgbClr val="9DFF00"/>
                </a:solidFill>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50607"/>
        </a:solidFill>
      </p:bgPr>
    </p:bg>
    <p:spTree>
      <p:nvGrpSpPr>
        <p:cNvPr id="1" name=""/>
        <p:cNvGrpSpPr/>
        <p:nvPr/>
      </p:nvGrpSpPr>
      <p:grpSpPr>
        <a:xfrm>
          <a:off x="0" y="0"/>
          <a:ext cx="0" cy="0"/>
          <a:chOff x="0" y="0"/>
          <a:chExt cx="0" cy="0"/>
        </a:xfrm>
      </p:grpSpPr>
      <p:pic>
        <p:nvPicPr>
          <p:cNvPr id="2" name="Image 0" descr="/mnt/data/sample_ppt_extract/ppt/media/dark_image1.jpeg">    </p:cNvPr>
          <p:cNvPicPr>
            <a:picLocks noChangeAspect="1"/>
          </p:cNvPicPr>
          <p:nvPr/>
        </p:nvPicPr>
        <p:blipFill>
          <a:blip r:embed="rId1"/>
          <a:srcRect l="0" r="0" t="4004" b="4004"/>
          <a:stretch/>
        </p:blipFill>
        <p:spPr>
          <a:xfrm>
            <a:off x="0" y="0"/>
            <a:ext cx="12191695" cy="6858000"/>
          </a:xfrm>
          <a:prstGeom prst="rect">
            <a:avLst/>
          </a:prstGeom>
        </p:spPr>
      </p:pic>
      <p:sp>
        <p:nvSpPr>
          <p:cNvPr id="3" name="Shape 0"/>
          <p:cNvSpPr/>
          <p:nvPr/>
        </p:nvSpPr>
        <p:spPr>
          <a:xfrm>
            <a:off x="201168" y="256032"/>
            <a:ext cx="50292" cy="6263640"/>
          </a:xfrm>
          <a:prstGeom prst="rect">
            <a:avLst/>
          </a:prstGeom>
          <a:solidFill>
            <a:srgbClr val="9DFF00"/>
          </a:solidFill>
          <a:ln w="12700">
            <a:solidFill>
              <a:srgbClr val="333333">
                <a:alpha val="0"/>
              </a:srgbClr>
            </a:solidFill>
            <a:prstDash val="solid"/>
          </a:ln>
        </p:spPr>
      </p:sp>
      <p:sp>
        <p:nvSpPr>
          <p:cNvPr id="4" name="Text 1"/>
          <p:cNvSpPr/>
          <p:nvPr/>
        </p:nvSpPr>
        <p:spPr>
          <a:xfrm>
            <a:off x="566928" y="310896"/>
            <a:ext cx="4754880" cy="228600"/>
          </a:xfrm>
          <a:prstGeom prst="rect">
            <a:avLst/>
          </a:prstGeom>
          <a:noFill/>
          <a:ln/>
        </p:spPr>
        <p:txBody>
          <a:bodyPr wrap="square" lIns="0" tIns="0" rIns="0" bIns="0" rtlCol="0" anchor="ctr">
            <a:normAutofit/>
          </a:bodyPr>
          <a:lstStyle/>
          <a:p>
            <a:pPr indent="0" marL="0">
              <a:buNone/>
            </a:pPr>
            <a:r>
              <a:rPr lang="en-US" sz="850" b="1" dirty="0">
                <a:solidFill>
                  <a:srgbClr val="9DFF00"/>
                </a:solidFill>
                <a:latin typeface="Aptos" pitchFamily="34" charset="0"/>
                <a:ea typeface="Aptos" pitchFamily="34" charset="-122"/>
                <a:cs typeface="Aptos" pitchFamily="34" charset="-120"/>
              </a:rPr>
              <a:t>MODEL INTERPRETATION</a:t>
            </a:r>
            <a:endParaRPr lang="en-US" sz="850" dirty="0"/>
          </a:p>
        </p:txBody>
      </p:sp>
      <p:sp>
        <p:nvSpPr>
          <p:cNvPr id="5" name="Text 2"/>
          <p:cNvSpPr/>
          <p:nvPr/>
        </p:nvSpPr>
        <p:spPr>
          <a:xfrm>
            <a:off x="566928" y="621792"/>
            <a:ext cx="10652760" cy="566928"/>
          </a:xfrm>
          <a:prstGeom prst="rect">
            <a:avLst/>
          </a:prstGeom>
          <a:noFill/>
          <a:ln/>
        </p:spPr>
        <p:txBody>
          <a:bodyPr wrap="square" lIns="0" tIns="0" rIns="0" bIns="0" rtlCol="0" anchor="ctr">
            <a:normAutofit/>
          </a:bodyPr>
          <a:lstStyle/>
          <a:p>
            <a:pPr indent="0" marL="0">
              <a:buNone/>
            </a:pPr>
            <a:r>
              <a:rPr lang="en-US" sz="2450" b="1" dirty="0">
                <a:solidFill>
                  <a:srgbClr val="FFFFFF"/>
                </a:solidFill>
                <a:latin typeface="Aptos Display" pitchFamily="34" charset="0"/>
                <a:ea typeface="Aptos Display" pitchFamily="34" charset="-122"/>
                <a:cs typeface="Aptos Display" pitchFamily="34" charset="-120"/>
              </a:rPr>
              <a:t>Random Forest feature importance supports the EDA story</a:t>
            </a:r>
            <a:endParaRPr lang="en-US" sz="2450" dirty="0"/>
          </a:p>
        </p:txBody>
      </p:sp>
      <p:sp>
        <p:nvSpPr>
          <p:cNvPr id="6" name="Shape 3"/>
          <p:cNvSpPr/>
          <p:nvPr/>
        </p:nvSpPr>
        <p:spPr>
          <a:xfrm>
            <a:off x="566928" y="1307592"/>
            <a:ext cx="10716768" cy="0"/>
          </a:xfrm>
          <a:prstGeom prst="line">
            <a:avLst/>
          </a:prstGeom>
          <a:noFill/>
          <a:ln w="13335">
            <a:solidFill>
              <a:srgbClr val="9DFF00">
                <a:alpha val="95000"/>
              </a:srgbClr>
            </a:solidFill>
            <a:prstDash val="solid"/>
          </a:ln>
        </p:spPr>
      </p:sp>
      <p:sp>
        <p:nvSpPr>
          <p:cNvPr id="7" name="Shape 4"/>
          <p:cNvSpPr/>
          <p:nvPr/>
        </p:nvSpPr>
        <p:spPr>
          <a:xfrm>
            <a:off x="685800" y="1627632"/>
            <a:ext cx="5532120" cy="3931920"/>
          </a:xfrm>
          <a:prstGeom prst="rect">
            <a:avLst/>
          </a:prstGeom>
          <a:solidFill>
            <a:srgbClr val="FFFFFF"/>
          </a:solidFill>
          <a:ln w="11430">
            <a:solidFill>
              <a:srgbClr val="9DFF00">
                <a:alpha val="65000"/>
              </a:srgbClr>
            </a:solidFill>
            <a:prstDash val="solid"/>
          </a:ln>
        </p:spPr>
      </p:sp>
      <p:pic>
        <p:nvPicPr>
          <p:cNvPr id="8" name="Image 1" descr="/mnt/data/sba_v4_assets/cell57_out1_img.png">    </p:cNvPr>
          <p:cNvPicPr>
            <a:picLocks noChangeAspect="1"/>
          </p:cNvPicPr>
          <p:nvPr/>
        </p:nvPicPr>
        <p:blipFill>
          <a:blip r:embed="rId2"/>
          <a:stretch>
            <a:fillRect/>
          </a:stretch>
        </p:blipFill>
        <p:spPr>
          <a:xfrm>
            <a:off x="1083842" y="1700784"/>
            <a:ext cx="4736035" cy="3675888"/>
          </a:xfrm>
          <a:prstGeom prst="rect">
            <a:avLst/>
          </a:prstGeom>
        </p:spPr>
      </p:pic>
      <p:sp>
        <p:nvSpPr>
          <p:cNvPr id="9" name="Text 5"/>
          <p:cNvSpPr/>
          <p:nvPr/>
        </p:nvSpPr>
        <p:spPr>
          <a:xfrm>
            <a:off x="758952" y="5376672"/>
            <a:ext cx="5385816" cy="118872"/>
          </a:xfrm>
          <a:prstGeom prst="rect">
            <a:avLst/>
          </a:prstGeom>
          <a:noFill/>
          <a:ln/>
        </p:spPr>
        <p:txBody>
          <a:bodyPr wrap="square" lIns="254" tIns="254" rIns="254" bIns="254" rtlCol="0" anchor="t">
            <a:normAutofit/>
          </a:bodyPr>
          <a:lstStyle/>
          <a:p>
            <a:pPr algn="ctr" indent="0" marL="0">
              <a:buNone/>
            </a:pPr>
            <a:r>
              <a:rPr lang="en-US" sz="670" dirty="0">
                <a:solidFill>
                  <a:srgbClr val="333333"/>
                </a:solidFill>
                <a:latin typeface="Aptos" pitchFamily="34" charset="0"/>
                <a:ea typeface="Aptos" pitchFamily="34" charset="-122"/>
                <a:cs typeface="Aptos" pitchFamily="34" charset="-120"/>
              </a:rPr>
              <a:t>Top Random Forest feature importances</a:t>
            </a:r>
            <a:endParaRPr lang="en-US" sz="670" dirty="0"/>
          </a:p>
        </p:txBody>
      </p:sp>
      <p:sp>
        <p:nvSpPr>
          <p:cNvPr id="10" name="Shape 6"/>
          <p:cNvSpPr/>
          <p:nvPr/>
        </p:nvSpPr>
        <p:spPr>
          <a:xfrm>
            <a:off x="6537960" y="1737360"/>
            <a:ext cx="3033713" cy="320040"/>
          </a:xfrm>
          <a:prstGeom prst="rect">
            <a:avLst/>
          </a:prstGeom>
          <a:solidFill>
            <a:srgbClr val="9DFF00">
              <a:alpha val="18000"/>
            </a:srgbClr>
          </a:solidFill>
          <a:ln w="12700">
            <a:solidFill>
              <a:srgbClr val="333333">
                <a:alpha val="0"/>
              </a:srgbClr>
            </a:solidFill>
            <a:prstDash val="solid"/>
          </a:ln>
        </p:spPr>
      </p:sp>
      <p:sp>
        <p:nvSpPr>
          <p:cNvPr id="11" name="Text 7"/>
          <p:cNvSpPr/>
          <p:nvPr/>
        </p:nvSpPr>
        <p:spPr>
          <a:xfrm>
            <a:off x="6579108" y="1769364"/>
            <a:ext cx="2951417" cy="256032"/>
          </a:xfrm>
          <a:prstGeom prst="rect">
            <a:avLst/>
          </a:prstGeom>
          <a:noFill/>
          <a:ln/>
        </p:spPr>
        <p:txBody>
          <a:bodyPr wrap="square" lIns="254" tIns="254" rIns="254" bIns="254" rtlCol="0" anchor="t">
            <a:normAutofit/>
          </a:bodyPr>
          <a:lstStyle/>
          <a:p>
            <a:pPr algn="l" indent="0" marL="0">
              <a:buNone/>
            </a:pPr>
            <a:r>
              <a:rPr lang="en-US" sz="810" b="1" dirty="0">
                <a:solidFill>
                  <a:srgbClr val="9DFF00"/>
                </a:solidFill>
                <a:latin typeface="Aptos" pitchFamily="34" charset="0"/>
                <a:ea typeface="Aptos" pitchFamily="34" charset="-122"/>
                <a:cs typeface="Aptos" pitchFamily="34" charset="-120"/>
              </a:rPr>
              <a:t>Top feature</a:t>
            </a:r>
            <a:endParaRPr lang="en-US" sz="810" dirty="0"/>
          </a:p>
        </p:txBody>
      </p:sp>
      <p:sp>
        <p:nvSpPr>
          <p:cNvPr id="12" name="Shape 8"/>
          <p:cNvSpPr/>
          <p:nvPr/>
        </p:nvSpPr>
        <p:spPr>
          <a:xfrm>
            <a:off x="9571673" y="1737360"/>
            <a:ext cx="1446848" cy="320040"/>
          </a:xfrm>
          <a:prstGeom prst="rect">
            <a:avLst/>
          </a:prstGeom>
          <a:solidFill>
            <a:srgbClr val="9DFF00">
              <a:alpha val="18000"/>
            </a:srgbClr>
          </a:solidFill>
          <a:ln w="12700">
            <a:solidFill>
              <a:srgbClr val="333333">
                <a:alpha val="0"/>
              </a:srgbClr>
            </a:solidFill>
            <a:prstDash val="solid"/>
          </a:ln>
        </p:spPr>
      </p:sp>
      <p:sp>
        <p:nvSpPr>
          <p:cNvPr id="13" name="Text 9"/>
          <p:cNvSpPr/>
          <p:nvPr/>
        </p:nvSpPr>
        <p:spPr>
          <a:xfrm>
            <a:off x="9612821" y="1769364"/>
            <a:ext cx="1364552" cy="256032"/>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Importance</a:t>
            </a:r>
            <a:endParaRPr lang="en-US" sz="810" dirty="0"/>
          </a:p>
        </p:txBody>
      </p:sp>
      <p:sp>
        <p:nvSpPr>
          <p:cNvPr id="14" name="Shape 10"/>
          <p:cNvSpPr/>
          <p:nvPr/>
        </p:nvSpPr>
        <p:spPr>
          <a:xfrm>
            <a:off x="6537960" y="2057400"/>
            <a:ext cx="4480560" cy="0"/>
          </a:xfrm>
          <a:prstGeom prst="line">
            <a:avLst/>
          </a:prstGeom>
          <a:noFill/>
          <a:ln w="12700">
            <a:solidFill>
              <a:srgbClr val="9DFF00"/>
            </a:solidFill>
            <a:prstDash val="solid"/>
          </a:ln>
        </p:spPr>
      </p:sp>
      <p:sp>
        <p:nvSpPr>
          <p:cNvPr id="15" name="Text 11"/>
          <p:cNvSpPr/>
          <p:nvPr/>
        </p:nvSpPr>
        <p:spPr>
          <a:xfrm>
            <a:off x="6579108" y="2089404"/>
            <a:ext cx="2951417" cy="256032"/>
          </a:xfrm>
          <a:prstGeom prst="rect">
            <a:avLst/>
          </a:prstGeom>
          <a:noFill/>
          <a:ln/>
        </p:spPr>
        <p:txBody>
          <a:bodyPr wrap="square" lIns="254" tIns="254" rIns="254" bIns="254" rtlCol="0" anchor="t">
            <a:normAutofit/>
          </a:bodyPr>
          <a:lstStyle/>
          <a:p>
            <a:pPr algn="l" indent="0" marL="0">
              <a:buNone/>
            </a:pPr>
            <a:r>
              <a:rPr lang="en-US" sz="870" dirty="0">
                <a:solidFill>
                  <a:srgbClr val="FFFFFF"/>
                </a:solidFill>
                <a:latin typeface="Aptos" pitchFamily="34" charset="0"/>
                <a:ea typeface="Aptos" pitchFamily="34" charset="-122"/>
                <a:cs typeface="Aptos" pitchFamily="34" charset="-120"/>
              </a:rPr>
              <a:t>term_months</a:t>
            </a:r>
            <a:endParaRPr lang="en-US" sz="870" dirty="0"/>
          </a:p>
        </p:txBody>
      </p:sp>
      <p:sp>
        <p:nvSpPr>
          <p:cNvPr id="16" name="Text 12"/>
          <p:cNvSpPr/>
          <p:nvPr/>
        </p:nvSpPr>
        <p:spPr>
          <a:xfrm>
            <a:off x="9612821" y="2089404"/>
            <a:ext cx="1364552" cy="256032"/>
          </a:xfrm>
          <a:prstGeom prst="rect">
            <a:avLst/>
          </a:prstGeom>
          <a:noFill/>
          <a:ln/>
        </p:spPr>
        <p:txBody>
          <a:bodyPr wrap="square" lIns="254" tIns="254" rIns="254" bIns="254" rtlCol="0" anchor="t">
            <a:normAutofit/>
          </a:bodyPr>
          <a:lstStyle/>
          <a:p>
            <a:pPr algn="ctr" indent="0" marL="0">
              <a:buNone/>
            </a:pPr>
            <a:r>
              <a:rPr lang="en-US" sz="870" dirty="0">
                <a:solidFill>
                  <a:srgbClr val="FFFFFF"/>
                </a:solidFill>
                <a:latin typeface="Aptos" pitchFamily="34" charset="0"/>
                <a:ea typeface="Aptos" pitchFamily="34" charset="-122"/>
                <a:cs typeface="Aptos" pitchFamily="34" charset="-120"/>
              </a:rPr>
              <a:t>0.594</a:t>
            </a:r>
            <a:endParaRPr lang="en-US" sz="870" dirty="0"/>
          </a:p>
        </p:txBody>
      </p:sp>
      <p:sp>
        <p:nvSpPr>
          <p:cNvPr id="17" name="Shape 13"/>
          <p:cNvSpPr/>
          <p:nvPr/>
        </p:nvSpPr>
        <p:spPr>
          <a:xfrm>
            <a:off x="6537960" y="2377440"/>
            <a:ext cx="4480560" cy="0"/>
          </a:xfrm>
          <a:prstGeom prst="line">
            <a:avLst/>
          </a:prstGeom>
          <a:noFill/>
          <a:ln w="6350">
            <a:solidFill>
              <a:srgbClr val="2D342F">
                <a:alpha val="75000"/>
              </a:srgbClr>
            </a:solidFill>
            <a:prstDash val="solid"/>
          </a:ln>
        </p:spPr>
      </p:sp>
      <p:sp>
        <p:nvSpPr>
          <p:cNvPr id="18" name="Text 14"/>
          <p:cNvSpPr/>
          <p:nvPr/>
        </p:nvSpPr>
        <p:spPr>
          <a:xfrm>
            <a:off x="6579108" y="2409444"/>
            <a:ext cx="2951417" cy="256032"/>
          </a:xfrm>
          <a:prstGeom prst="rect">
            <a:avLst/>
          </a:prstGeom>
          <a:noFill/>
          <a:ln/>
        </p:spPr>
        <p:txBody>
          <a:bodyPr wrap="square" lIns="254" tIns="254" rIns="254" bIns="254" rtlCol="0" anchor="t">
            <a:normAutofit/>
          </a:bodyPr>
          <a:lstStyle/>
          <a:p>
            <a:pPr algn="l" indent="0" marL="0">
              <a:buNone/>
            </a:pPr>
            <a:r>
              <a:rPr lang="en-US" sz="870" dirty="0">
                <a:solidFill>
                  <a:srgbClr val="FFFFFF"/>
                </a:solidFill>
                <a:latin typeface="Aptos" pitchFamily="34" charset="0"/>
                <a:ea typeface="Aptos" pitchFamily="34" charset="-122"/>
                <a:cs typeface="Aptos" pitchFamily="34" charset="-120"/>
              </a:rPr>
              <a:t>initial_interest_rate</a:t>
            </a:r>
            <a:endParaRPr lang="en-US" sz="870" dirty="0"/>
          </a:p>
        </p:txBody>
      </p:sp>
      <p:sp>
        <p:nvSpPr>
          <p:cNvPr id="19" name="Text 15"/>
          <p:cNvSpPr/>
          <p:nvPr/>
        </p:nvSpPr>
        <p:spPr>
          <a:xfrm>
            <a:off x="9612821" y="2409444"/>
            <a:ext cx="1364552" cy="256032"/>
          </a:xfrm>
          <a:prstGeom prst="rect">
            <a:avLst/>
          </a:prstGeom>
          <a:noFill/>
          <a:ln/>
        </p:spPr>
        <p:txBody>
          <a:bodyPr wrap="square" lIns="254" tIns="254" rIns="254" bIns="254" rtlCol="0" anchor="t">
            <a:normAutofit/>
          </a:bodyPr>
          <a:lstStyle/>
          <a:p>
            <a:pPr algn="ctr" indent="0" marL="0">
              <a:buNone/>
            </a:pPr>
            <a:r>
              <a:rPr lang="en-US" sz="870" dirty="0">
                <a:solidFill>
                  <a:srgbClr val="FFFFFF"/>
                </a:solidFill>
                <a:latin typeface="Aptos" pitchFamily="34" charset="0"/>
                <a:ea typeface="Aptos" pitchFamily="34" charset="-122"/>
                <a:cs typeface="Aptos" pitchFamily="34" charset="-120"/>
              </a:rPr>
              <a:t>0.078</a:t>
            </a:r>
            <a:endParaRPr lang="en-US" sz="870" dirty="0"/>
          </a:p>
        </p:txBody>
      </p:sp>
      <p:sp>
        <p:nvSpPr>
          <p:cNvPr id="20" name="Shape 16"/>
          <p:cNvSpPr/>
          <p:nvPr/>
        </p:nvSpPr>
        <p:spPr>
          <a:xfrm>
            <a:off x="6537960" y="2697480"/>
            <a:ext cx="4480560" cy="0"/>
          </a:xfrm>
          <a:prstGeom prst="line">
            <a:avLst/>
          </a:prstGeom>
          <a:noFill/>
          <a:ln w="6350">
            <a:solidFill>
              <a:srgbClr val="2D342F">
                <a:alpha val="75000"/>
              </a:srgbClr>
            </a:solidFill>
            <a:prstDash val="solid"/>
          </a:ln>
        </p:spPr>
      </p:sp>
      <p:sp>
        <p:nvSpPr>
          <p:cNvPr id="21" name="Text 17"/>
          <p:cNvSpPr/>
          <p:nvPr/>
        </p:nvSpPr>
        <p:spPr>
          <a:xfrm>
            <a:off x="6579108" y="2729484"/>
            <a:ext cx="2951417" cy="256032"/>
          </a:xfrm>
          <a:prstGeom prst="rect">
            <a:avLst/>
          </a:prstGeom>
          <a:noFill/>
          <a:ln/>
        </p:spPr>
        <p:txBody>
          <a:bodyPr wrap="square" lIns="254" tIns="254" rIns="254" bIns="254" rtlCol="0" anchor="t">
            <a:normAutofit/>
          </a:bodyPr>
          <a:lstStyle/>
          <a:p>
            <a:pPr algn="l" indent="0" marL="0">
              <a:buNone/>
            </a:pPr>
            <a:r>
              <a:rPr lang="en-US" sz="870" dirty="0">
                <a:solidFill>
                  <a:srgbClr val="FFFFFF"/>
                </a:solidFill>
                <a:latin typeface="Aptos" pitchFamily="34" charset="0"/>
                <a:ea typeface="Aptos" pitchFamily="34" charset="-122"/>
                <a:cs typeface="Aptos" pitchFamily="34" charset="-120"/>
              </a:rPr>
              <a:t>log_gross_approval</a:t>
            </a:r>
            <a:endParaRPr lang="en-US" sz="870" dirty="0"/>
          </a:p>
        </p:txBody>
      </p:sp>
      <p:sp>
        <p:nvSpPr>
          <p:cNvPr id="22" name="Text 18"/>
          <p:cNvSpPr/>
          <p:nvPr/>
        </p:nvSpPr>
        <p:spPr>
          <a:xfrm>
            <a:off x="9612821" y="2729484"/>
            <a:ext cx="1364552" cy="256032"/>
          </a:xfrm>
          <a:prstGeom prst="rect">
            <a:avLst/>
          </a:prstGeom>
          <a:noFill/>
          <a:ln/>
        </p:spPr>
        <p:txBody>
          <a:bodyPr wrap="square" lIns="254" tIns="254" rIns="254" bIns="254" rtlCol="0" anchor="t">
            <a:normAutofit/>
          </a:bodyPr>
          <a:lstStyle/>
          <a:p>
            <a:pPr algn="ctr" indent="0" marL="0">
              <a:buNone/>
            </a:pPr>
            <a:r>
              <a:rPr lang="en-US" sz="870" dirty="0">
                <a:solidFill>
                  <a:srgbClr val="FFFFFF"/>
                </a:solidFill>
                <a:latin typeface="Aptos" pitchFamily="34" charset="0"/>
                <a:ea typeface="Aptos" pitchFamily="34" charset="-122"/>
                <a:cs typeface="Aptos" pitchFamily="34" charset="-120"/>
              </a:rPr>
              <a:t>0.076</a:t>
            </a:r>
            <a:endParaRPr lang="en-US" sz="870" dirty="0"/>
          </a:p>
        </p:txBody>
      </p:sp>
      <p:sp>
        <p:nvSpPr>
          <p:cNvPr id="23" name="Shape 19"/>
          <p:cNvSpPr/>
          <p:nvPr/>
        </p:nvSpPr>
        <p:spPr>
          <a:xfrm>
            <a:off x="6537960" y="3017520"/>
            <a:ext cx="4480560" cy="0"/>
          </a:xfrm>
          <a:prstGeom prst="line">
            <a:avLst/>
          </a:prstGeom>
          <a:noFill/>
          <a:ln w="6350">
            <a:solidFill>
              <a:srgbClr val="2D342F">
                <a:alpha val="75000"/>
              </a:srgbClr>
            </a:solidFill>
            <a:prstDash val="solid"/>
          </a:ln>
        </p:spPr>
      </p:sp>
      <p:sp>
        <p:nvSpPr>
          <p:cNvPr id="24" name="Text 20"/>
          <p:cNvSpPr/>
          <p:nvPr/>
        </p:nvSpPr>
        <p:spPr>
          <a:xfrm>
            <a:off x="6579108" y="3049524"/>
            <a:ext cx="2951417" cy="256032"/>
          </a:xfrm>
          <a:prstGeom prst="rect">
            <a:avLst/>
          </a:prstGeom>
          <a:noFill/>
          <a:ln/>
        </p:spPr>
        <p:txBody>
          <a:bodyPr wrap="square" lIns="254" tIns="254" rIns="254" bIns="254" rtlCol="0" anchor="t">
            <a:normAutofit/>
          </a:bodyPr>
          <a:lstStyle/>
          <a:p>
            <a:pPr algn="l" indent="0" marL="0">
              <a:buNone/>
            </a:pPr>
            <a:r>
              <a:rPr lang="en-US" sz="870" dirty="0">
                <a:solidFill>
                  <a:srgbClr val="FFFFFF"/>
                </a:solidFill>
                <a:latin typeface="Aptos" pitchFamily="34" charset="0"/>
                <a:ea typeface="Aptos" pitchFamily="34" charset="-122"/>
                <a:cs typeface="Aptos" pitchFamily="34" charset="-120"/>
              </a:rPr>
              <a:t>guarantee_pct</a:t>
            </a:r>
            <a:endParaRPr lang="en-US" sz="870" dirty="0"/>
          </a:p>
        </p:txBody>
      </p:sp>
      <p:sp>
        <p:nvSpPr>
          <p:cNvPr id="25" name="Text 21"/>
          <p:cNvSpPr/>
          <p:nvPr/>
        </p:nvSpPr>
        <p:spPr>
          <a:xfrm>
            <a:off x="9612821" y="3049524"/>
            <a:ext cx="1364552" cy="256032"/>
          </a:xfrm>
          <a:prstGeom prst="rect">
            <a:avLst/>
          </a:prstGeom>
          <a:noFill/>
          <a:ln/>
        </p:spPr>
        <p:txBody>
          <a:bodyPr wrap="square" lIns="254" tIns="254" rIns="254" bIns="254" rtlCol="0" anchor="t">
            <a:normAutofit/>
          </a:bodyPr>
          <a:lstStyle/>
          <a:p>
            <a:pPr algn="ctr" indent="0" marL="0">
              <a:buNone/>
            </a:pPr>
            <a:r>
              <a:rPr lang="en-US" sz="870" dirty="0">
                <a:solidFill>
                  <a:srgbClr val="FFFFFF"/>
                </a:solidFill>
                <a:latin typeface="Aptos" pitchFamily="34" charset="0"/>
                <a:ea typeface="Aptos" pitchFamily="34" charset="-122"/>
                <a:cs typeface="Aptos" pitchFamily="34" charset="-120"/>
              </a:rPr>
              <a:t>0.034</a:t>
            </a:r>
            <a:endParaRPr lang="en-US" sz="870" dirty="0"/>
          </a:p>
        </p:txBody>
      </p:sp>
      <p:sp>
        <p:nvSpPr>
          <p:cNvPr id="26" name="Shape 22"/>
          <p:cNvSpPr/>
          <p:nvPr/>
        </p:nvSpPr>
        <p:spPr>
          <a:xfrm>
            <a:off x="6537960" y="3337560"/>
            <a:ext cx="4480560" cy="0"/>
          </a:xfrm>
          <a:prstGeom prst="line">
            <a:avLst/>
          </a:prstGeom>
          <a:noFill/>
          <a:ln w="6350">
            <a:solidFill>
              <a:srgbClr val="2D342F">
                <a:alpha val="75000"/>
              </a:srgbClr>
            </a:solidFill>
            <a:prstDash val="solid"/>
          </a:ln>
        </p:spPr>
      </p:sp>
      <p:sp>
        <p:nvSpPr>
          <p:cNvPr id="27" name="Text 23"/>
          <p:cNvSpPr/>
          <p:nvPr/>
        </p:nvSpPr>
        <p:spPr>
          <a:xfrm>
            <a:off x="6579108" y="3369564"/>
            <a:ext cx="2951417" cy="256032"/>
          </a:xfrm>
          <a:prstGeom prst="rect">
            <a:avLst/>
          </a:prstGeom>
          <a:noFill/>
          <a:ln/>
        </p:spPr>
        <p:txBody>
          <a:bodyPr wrap="square" lIns="254" tIns="254" rIns="254" bIns="254" rtlCol="0" anchor="t">
            <a:normAutofit/>
          </a:bodyPr>
          <a:lstStyle/>
          <a:p>
            <a:pPr algn="l" indent="0" marL="0">
              <a:buNone/>
            </a:pPr>
            <a:r>
              <a:rPr lang="en-US" sz="870" dirty="0">
                <a:solidFill>
                  <a:srgbClr val="FFFFFF"/>
                </a:solidFill>
                <a:latin typeface="Aptos" pitchFamily="34" charset="0"/>
                <a:ea typeface="Aptos" pitchFamily="34" charset="-122"/>
                <a:cs typeface="Aptos" pitchFamily="34" charset="-120"/>
              </a:rPr>
              <a:t>collateral_ind = N</a:t>
            </a:r>
            <a:endParaRPr lang="en-US" sz="870" dirty="0"/>
          </a:p>
        </p:txBody>
      </p:sp>
      <p:sp>
        <p:nvSpPr>
          <p:cNvPr id="28" name="Text 24"/>
          <p:cNvSpPr/>
          <p:nvPr/>
        </p:nvSpPr>
        <p:spPr>
          <a:xfrm>
            <a:off x="9612821" y="3369564"/>
            <a:ext cx="1364552" cy="256032"/>
          </a:xfrm>
          <a:prstGeom prst="rect">
            <a:avLst/>
          </a:prstGeom>
          <a:noFill/>
          <a:ln/>
        </p:spPr>
        <p:txBody>
          <a:bodyPr wrap="square" lIns="254" tIns="254" rIns="254" bIns="254" rtlCol="0" anchor="t">
            <a:normAutofit/>
          </a:bodyPr>
          <a:lstStyle/>
          <a:p>
            <a:pPr algn="ctr" indent="0" marL="0">
              <a:buNone/>
            </a:pPr>
            <a:r>
              <a:rPr lang="en-US" sz="870" dirty="0">
                <a:solidFill>
                  <a:srgbClr val="FFFFFF"/>
                </a:solidFill>
                <a:latin typeface="Aptos" pitchFamily="34" charset="0"/>
                <a:ea typeface="Aptos" pitchFamily="34" charset="-122"/>
                <a:cs typeface="Aptos" pitchFamily="34" charset="-120"/>
              </a:rPr>
              <a:t>0.019</a:t>
            </a:r>
            <a:endParaRPr lang="en-US" sz="870" dirty="0"/>
          </a:p>
        </p:txBody>
      </p:sp>
      <p:sp>
        <p:nvSpPr>
          <p:cNvPr id="29" name="Shape 25"/>
          <p:cNvSpPr/>
          <p:nvPr/>
        </p:nvSpPr>
        <p:spPr>
          <a:xfrm>
            <a:off x="6537960" y="3657600"/>
            <a:ext cx="4480560" cy="0"/>
          </a:xfrm>
          <a:prstGeom prst="line">
            <a:avLst/>
          </a:prstGeom>
          <a:noFill/>
          <a:ln w="6350">
            <a:solidFill>
              <a:srgbClr val="2D342F">
                <a:alpha val="75000"/>
              </a:srgbClr>
            </a:solidFill>
            <a:prstDash val="solid"/>
          </a:ln>
        </p:spPr>
      </p:sp>
      <p:sp>
        <p:nvSpPr>
          <p:cNvPr id="30" name="Text 26"/>
          <p:cNvSpPr/>
          <p:nvPr/>
        </p:nvSpPr>
        <p:spPr>
          <a:xfrm>
            <a:off x="6579108" y="3689604"/>
            <a:ext cx="2951417" cy="256032"/>
          </a:xfrm>
          <a:prstGeom prst="rect">
            <a:avLst/>
          </a:prstGeom>
          <a:noFill/>
          <a:ln/>
        </p:spPr>
        <p:txBody>
          <a:bodyPr wrap="square" lIns="254" tIns="254" rIns="254" bIns="254" rtlCol="0" anchor="t">
            <a:normAutofit/>
          </a:bodyPr>
          <a:lstStyle/>
          <a:p>
            <a:pPr algn="l" indent="0" marL="0">
              <a:buNone/>
            </a:pPr>
            <a:r>
              <a:rPr lang="en-US" sz="870" dirty="0">
                <a:solidFill>
                  <a:srgbClr val="FFFFFF"/>
                </a:solidFill>
                <a:latin typeface="Aptos" pitchFamily="34" charset="0"/>
                <a:ea typeface="Aptos" pitchFamily="34" charset="-122"/>
                <a:cs typeface="Aptos" pitchFamily="34" charset="-120"/>
              </a:rPr>
              <a:t>approval_year</a:t>
            </a:r>
            <a:endParaRPr lang="en-US" sz="870" dirty="0"/>
          </a:p>
        </p:txBody>
      </p:sp>
      <p:sp>
        <p:nvSpPr>
          <p:cNvPr id="31" name="Text 27"/>
          <p:cNvSpPr/>
          <p:nvPr/>
        </p:nvSpPr>
        <p:spPr>
          <a:xfrm>
            <a:off x="9612821" y="3689604"/>
            <a:ext cx="1364552" cy="256032"/>
          </a:xfrm>
          <a:prstGeom prst="rect">
            <a:avLst/>
          </a:prstGeom>
          <a:noFill/>
          <a:ln/>
        </p:spPr>
        <p:txBody>
          <a:bodyPr wrap="square" lIns="254" tIns="254" rIns="254" bIns="254" rtlCol="0" anchor="t">
            <a:normAutofit/>
          </a:bodyPr>
          <a:lstStyle/>
          <a:p>
            <a:pPr algn="ctr" indent="0" marL="0">
              <a:buNone/>
            </a:pPr>
            <a:r>
              <a:rPr lang="en-US" sz="870" dirty="0">
                <a:solidFill>
                  <a:srgbClr val="FFFFFF"/>
                </a:solidFill>
                <a:latin typeface="Aptos" pitchFamily="34" charset="0"/>
                <a:ea typeface="Aptos" pitchFamily="34" charset="-122"/>
                <a:cs typeface="Aptos" pitchFamily="34" charset="-120"/>
              </a:rPr>
              <a:t>0.017</a:t>
            </a:r>
            <a:endParaRPr lang="en-US" sz="870" dirty="0"/>
          </a:p>
        </p:txBody>
      </p:sp>
      <p:sp>
        <p:nvSpPr>
          <p:cNvPr id="32" name="Shape 28"/>
          <p:cNvSpPr/>
          <p:nvPr/>
        </p:nvSpPr>
        <p:spPr>
          <a:xfrm>
            <a:off x="6537960" y="3977640"/>
            <a:ext cx="4480560" cy="0"/>
          </a:xfrm>
          <a:prstGeom prst="line">
            <a:avLst/>
          </a:prstGeom>
          <a:noFill/>
          <a:ln w="6350">
            <a:solidFill>
              <a:srgbClr val="2D342F">
                <a:alpha val="75000"/>
              </a:srgbClr>
            </a:solidFill>
            <a:prstDash val="solid"/>
          </a:ln>
        </p:spPr>
      </p:sp>
      <p:sp>
        <p:nvSpPr>
          <p:cNvPr id="33" name="Shape 29"/>
          <p:cNvSpPr/>
          <p:nvPr/>
        </p:nvSpPr>
        <p:spPr>
          <a:xfrm>
            <a:off x="6537960" y="4434840"/>
            <a:ext cx="4480560" cy="960120"/>
          </a:xfrm>
          <a:prstGeom prst="roundRect">
            <a:avLst>
              <a:gd name="adj" fmla="val 7619"/>
            </a:avLst>
          </a:prstGeom>
          <a:solidFill>
            <a:srgbClr val="000000">
              <a:alpha val="82000"/>
            </a:srgbClr>
          </a:solidFill>
          <a:ln w="12700">
            <a:solidFill>
              <a:srgbClr val="9DFF00">
                <a:alpha val="34000"/>
              </a:srgbClr>
            </a:solidFill>
            <a:prstDash val="solid"/>
          </a:ln>
        </p:spPr>
      </p:sp>
      <p:sp>
        <p:nvSpPr>
          <p:cNvPr id="34" name="Text 30"/>
          <p:cNvSpPr/>
          <p:nvPr/>
        </p:nvSpPr>
        <p:spPr>
          <a:xfrm>
            <a:off x="6812280" y="4626864"/>
            <a:ext cx="118872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Caution</a:t>
            </a:r>
            <a:endParaRPr lang="en-US" sz="1360" dirty="0"/>
          </a:p>
        </p:txBody>
      </p:sp>
      <p:sp>
        <p:nvSpPr>
          <p:cNvPr id="35" name="Text 31"/>
          <p:cNvSpPr/>
          <p:nvPr/>
        </p:nvSpPr>
        <p:spPr>
          <a:xfrm>
            <a:off x="6812280" y="4919472"/>
            <a:ext cx="3611880" cy="256032"/>
          </a:xfrm>
          <a:prstGeom prst="rect">
            <a:avLst/>
          </a:prstGeom>
          <a:noFill/>
          <a:ln/>
        </p:spPr>
        <p:txBody>
          <a:bodyPr wrap="square" lIns="254" tIns="254" rIns="254" bIns="254" rtlCol="0" anchor="t">
            <a:normAutofit/>
          </a:bodyPr>
          <a:lstStyle/>
          <a:p>
            <a:pPr algn="l" indent="0" marL="0">
              <a:buNone/>
            </a:pPr>
            <a:r>
              <a:rPr lang="en-US" sz="1020" dirty="0">
                <a:solidFill>
                  <a:srgbClr val="FFFFFF"/>
                </a:solidFill>
                <a:latin typeface="Aptos" pitchFamily="34" charset="0"/>
                <a:ea typeface="Aptos" pitchFamily="34" charset="-122"/>
                <a:cs typeface="Aptos" pitchFamily="34" charset="-120"/>
              </a:rPr>
              <a:t>Feature importance means the variable helped prediction. It does not mean the feature caused charge-off.</a:t>
            </a:r>
            <a:endParaRPr lang="en-US" sz="1020" dirty="0"/>
          </a:p>
        </p:txBody>
      </p:sp>
      <p:sp>
        <p:nvSpPr>
          <p:cNvPr id="36" name="Text 32"/>
          <p:cNvSpPr/>
          <p:nvPr/>
        </p:nvSpPr>
        <p:spPr>
          <a:xfrm>
            <a:off x="566928" y="6473952"/>
            <a:ext cx="6217920" cy="201168"/>
          </a:xfrm>
          <a:prstGeom prst="rect">
            <a:avLst/>
          </a:prstGeom>
          <a:noFill/>
          <a:ln/>
        </p:spPr>
        <p:txBody>
          <a:bodyPr wrap="square" lIns="0" tIns="0" rIns="0" bIns="0" rtlCol="0" anchor="ctr"/>
          <a:lstStyle/>
          <a:p>
            <a:pPr indent="0" marL="0">
              <a:buNone/>
            </a:pPr>
            <a:r>
              <a:rPr lang="en-US" sz="740" dirty="0">
                <a:solidFill>
                  <a:srgbClr val="C4CDC6"/>
                </a:solidFill>
              </a:rPr>
              <a:t>DATA 400 | SBA 7(a) Credit-Risk Mini Project</a:t>
            </a:r>
            <a:endParaRPr lang="en-US" sz="740" dirty="0"/>
          </a:p>
        </p:txBody>
      </p:sp>
      <p:sp>
        <p:nvSpPr>
          <p:cNvPr id="37" name="Text 33"/>
          <p:cNvSpPr/>
          <p:nvPr/>
        </p:nvSpPr>
        <p:spPr>
          <a:xfrm>
            <a:off x="11082528" y="6455664"/>
            <a:ext cx="502920" cy="201168"/>
          </a:xfrm>
          <a:prstGeom prst="rect">
            <a:avLst/>
          </a:prstGeom>
          <a:noFill/>
          <a:ln/>
        </p:spPr>
        <p:txBody>
          <a:bodyPr wrap="square" lIns="0" tIns="0" rIns="0" bIns="0" rtlCol="0" anchor="ctr"/>
          <a:lstStyle/>
          <a:p>
            <a:pPr algn="r" indent="0" marL="0">
              <a:buNone/>
            </a:pPr>
            <a:r>
              <a:rPr lang="en-US" sz="800" b="1" dirty="0">
                <a:solidFill>
                  <a:srgbClr val="9DFF00"/>
                </a:solidFill>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50607"/>
        </a:solidFill>
      </p:bgPr>
    </p:bg>
    <p:spTree>
      <p:nvGrpSpPr>
        <p:cNvPr id="1" name=""/>
        <p:cNvGrpSpPr/>
        <p:nvPr/>
      </p:nvGrpSpPr>
      <p:grpSpPr>
        <a:xfrm>
          <a:off x="0" y="0"/>
          <a:ext cx="0" cy="0"/>
          <a:chOff x="0" y="0"/>
          <a:chExt cx="0" cy="0"/>
        </a:xfrm>
      </p:grpSpPr>
      <p:pic>
        <p:nvPicPr>
          <p:cNvPr id="2" name="Image 0" descr="/mnt/data/sample_ppt_extract/ppt/media/dark_image7.jpeg">    </p:cNvPr>
          <p:cNvPicPr>
            <a:picLocks noChangeAspect="1"/>
          </p:cNvPicPr>
          <p:nvPr/>
        </p:nvPicPr>
        <p:blipFill>
          <a:blip r:embed="rId1"/>
          <a:srcRect l="0" r="0" t="3135" b="3135"/>
          <a:stretch/>
        </p:blipFill>
        <p:spPr>
          <a:xfrm>
            <a:off x="0" y="0"/>
            <a:ext cx="12191695" cy="6858000"/>
          </a:xfrm>
          <a:prstGeom prst="rect">
            <a:avLst/>
          </a:prstGeom>
        </p:spPr>
      </p:pic>
      <p:sp>
        <p:nvSpPr>
          <p:cNvPr id="3" name="Shape 0"/>
          <p:cNvSpPr/>
          <p:nvPr/>
        </p:nvSpPr>
        <p:spPr>
          <a:xfrm>
            <a:off x="201168" y="256032"/>
            <a:ext cx="50292" cy="6263640"/>
          </a:xfrm>
          <a:prstGeom prst="rect">
            <a:avLst/>
          </a:prstGeom>
          <a:solidFill>
            <a:srgbClr val="9DFF00"/>
          </a:solidFill>
          <a:ln w="12700">
            <a:solidFill>
              <a:srgbClr val="333333">
                <a:alpha val="0"/>
              </a:srgbClr>
            </a:solidFill>
            <a:prstDash val="solid"/>
          </a:ln>
        </p:spPr>
      </p:sp>
      <p:sp>
        <p:nvSpPr>
          <p:cNvPr id="4" name="Text 1"/>
          <p:cNvSpPr/>
          <p:nvPr/>
        </p:nvSpPr>
        <p:spPr>
          <a:xfrm>
            <a:off x="566928" y="310896"/>
            <a:ext cx="4754880" cy="228600"/>
          </a:xfrm>
          <a:prstGeom prst="rect">
            <a:avLst/>
          </a:prstGeom>
          <a:noFill/>
          <a:ln/>
        </p:spPr>
        <p:txBody>
          <a:bodyPr wrap="square" lIns="0" tIns="0" rIns="0" bIns="0" rtlCol="0" anchor="ctr">
            <a:normAutofit/>
          </a:bodyPr>
          <a:lstStyle/>
          <a:p>
            <a:pPr indent="0" marL="0">
              <a:buNone/>
            </a:pPr>
            <a:r>
              <a:rPr lang="en-US" sz="850" b="1" dirty="0">
                <a:solidFill>
                  <a:srgbClr val="9DFF00"/>
                </a:solidFill>
                <a:latin typeface="Aptos" pitchFamily="34" charset="0"/>
                <a:ea typeface="Aptos" pitchFamily="34" charset="-122"/>
                <a:cs typeface="Aptos" pitchFamily="34" charset="-120"/>
              </a:rPr>
              <a:t>ERROR ANALYSIS</a:t>
            </a:r>
            <a:endParaRPr lang="en-US" sz="850" dirty="0"/>
          </a:p>
        </p:txBody>
      </p:sp>
      <p:sp>
        <p:nvSpPr>
          <p:cNvPr id="5" name="Text 2"/>
          <p:cNvSpPr/>
          <p:nvPr/>
        </p:nvSpPr>
        <p:spPr>
          <a:xfrm>
            <a:off x="566928" y="621792"/>
            <a:ext cx="10652760" cy="566928"/>
          </a:xfrm>
          <a:prstGeom prst="rect">
            <a:avLst/>
          </a:prstGeom>
          <a:noFill/>
          <a:ln/>
        </p:spPr>
        <p:txBody>
          <a:bodyPr wrap="square" lIns="0" tIns="0" rIns="0" bIns="0" rtlCol="0" anchor="ctr">
            <a:normAutofit/>
          </a:bodyPr>
          <a:lstStyle/>
          <a:p>
            <a:pPr indent="0" marL="0">
              <a:buNone/>
            </a:pPr>
            <a:r>
              <a:rPr lang="en-US" sz="2450" b="1" dirty="0">
                <a:solidFill>
                  <a:srgbClr val="FFFFFF"/>
                </a:solidFill>
                <a:latin typeface="Aptos Display" pitchFamily="34" charset="0"/>
                <a:ea typeface="Aptos Display" pitchFamily="34" charset="-122"/>
                <a:cs typeface="Aptos Display" pitchFamily="34" charset="-120"/>
              </a:rPr>
              <a:t>Where does the model still struggle?</a:t>
            </a:r>
            <a:endParaRPr lang="en-US" sz="2450" dirty="0"/>
          </a:p>
        </p:txBody>
      </p:sp>
      <p:sp>
        <p:nvSpPr>
          <p:cNvPr id="6" name="Shape 3"/>
          <p:cNvSpPr/>
          <p:nvPr/>
        </p:nvSpPr>
        <p:spPr>
          <a:xfrm>
            <a:off x="566928" y="1307592"/>
            <a:ext cx="10716768" cy="0"/>
          </a:xfrm>
          <a:prstGeom prst="line">
            <a:avLst/>
          </a:prstGeom>
          <a:noFill/>
          <a:ln w="13335">
            <a:solidFill>
              <a:srgbClr val="9DFF00">
                <a:alpha val="95000"/>
              </a:srgbClr>
            </a:solidFill>
            <a:prstDash val="solid"/>
          </a:ln>
        </p:spPr>
      </p:sp>
      <p:sp>
        <p:nvSpPr>
          <p:cNvPr id="7" name="Shape 4"/>
          <p:cNvSpPr/>
          <p:nvPr/>
        </p:nvSpPr>
        <p:spPr>
          <a:xfrm>
            <a:off x="731520" y="1691640"/>
            <a:ext cx="2011680" cy="381000"/>
          </a:xfrm>
          <a:prstGeom prst="rect">
            <a:avLst/>
          </a:prstGeom>
          <a:solidFill>
            <a:srgbClr val="9DFF00">
              <a:alpha val="18000"/>
            </a:srgbClr>
          </a:solidFill>
          <a:ln w="12700">
            <a:solidFill>
              <a:srgbClr val="333333">
                <a:alpha val="0"/>
              </a:srgbClr>
            </a:solidFill>
            <a:prstDash val="solid"/>
          </a:ln>
        </p:spPr>
      </p:sp>
      <p:sp>
        <p:nvSpPr>
          <p:cNvPr id="8" name="Text 5"/>
          <p:cNvSpPr/>
          <p:nvPr/>
        </p:nvSpPr>
        <p:spPr>
          <a:xfrm>
            <a:off x="772668" y="1723644"/>
            <a:ext cx="1929384" cy="316992"/>
          </a:xfrm>
          <a:prstGeom prst="rect">
            <a:avLst/>
          </a:prstGeom>
          <a:noFill/>
          <a:ln/>
        </p:spPr>
        <p:txBody>
          <a:bodyPr wrap="square" lIns="254" tIns="254" rIns="254" bIns="254" rtlCol="0" anchor="t">
            <a:normAutofit/>
          </a:bodyPr>
          <a:lstStyle/>
          <a:p>
            <a:pPr algn="l" indent="0" marL="0">
              <a:buNone/>
            </a:pPr>
            <a:r>
              <a:rPr lang="en-US" sz="810" b="1" dirty="0">
                <a:solidFill>
                  <a:srgbClr val="9DFF00"/>
                </a:solidFill>
                <a:latin typeface="Aptos" pitchFamily="34" charset="0"/>
                <a:ea typeface="Aptos" pitchFamily="34" charset="-122"/>
                <a:cs typeface="Aptos" pitchFamily="34" charset="-120"/>
              </a:rPr>
              <a:t>Validation error type</a:t>
            </a:r>
            <a:endParaRPr lang="en-US" sz="810" dirty="0"/>
          </a:p>
        </p:txBody>
      </p:sp>
      <p:sp>
        <p:nvSpPr>
          <p:cNvPr id="9" name="Shape 6"/>
          <p:cNvSpPr/>
          <p:nvPr/>
        </p:nvSpPr>
        <p:spPr>
          <a:xfrm>
            <a:off x="2743200" y="1691640"/>
            <a:ext cx="1097280" cy="381000"/>
          </a:xfrm>
          <a:prstGeom prst="rect">
            <a:avLst/>
          </a:prstGeom>
          <a:solidFill>
            <a:srgbClr val="9DFF00">
              <a:alpha val="18000"/>
            </a:srgbClr>
          </a:solidFill>
          <a:ln w="12700">
            <a:solidFill>
              <a:srgbClr val="333333">
                <a:alpha val="0"/>
              </a:srgbClr>
            </a:solidFill>
            <a:prstDash val="solid"/>
          </a:ln>
        </p:spPr>
      </p:sp>
      <p:sp>
        <p:nvSpPr>
          <p:cNvPr id="10" name="Text 7"/>
          <p:cNvSpPr/>
          <p:nvPr/>
        </p:nvSpPr>
        <p:spPr>
          <a:xfrm>
            <a:off x="2784348" y="1723644"/>
            <a:ext cx="1014984" cy="316992"/>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Count</a:t>
            </a:r>
            <a:endParaRPr lang="en-US" sz="810" dirty="0"/>
          </a:p>
        </p:txBody>
      </p:sp>
      <p:sp>
        <p:nvSpPr>
          <p:cNvPr id="11" name="Shape 8"/>
          <p:cNvSpPr/>
          <p:nvPr/>
        </p:nvSpPr>
        <p:spPr>
          <a:xfrm>
            <a:off x="3840480" y="1691640"/>
            <a:ext cx="2103120" cy="381000"/>
          </a:xfrm>
          <a:prstGeom prst="rect">
            <a:avLst/>
          </a:prstGeom>
          <a:solidFill>
            <a:srgbClr val="9DFF00">
              <a:alpha val="18000"/>
            </a:srgbClr>
          </a:solidFill>
          <a:ln w="12700">
            <a:solidFill>
              <a:srgbClr val="333333">
                <a:alpha val="0"/>
              </a:srgbClr>
            </a:solidFill>
            <a:prstDash val="solid"/>
          </a:ln>
        </p:spPr>
      </p:sp>
      <p:sp>
        <p:nvSpPr>
          <p:cNvPr id="12" name="Text 9"/>
          <p:cNvSpPr/>
          <p:nvPr/>
        </p:nvSpPr>
        <p:spPr>
          <a:xfrm>
            <a:off x="3881628" y="1723644"/>
            <a:ext cx="2020824" cy="316992"/>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Meaning</a:t>
            </a:r>
            <a:endParaRPr lang="en-US" sz="810" dirty="0"/>
          </a:p>
        </p:txBody>
      </p:sp>
      <p:sp>
        <p:nvSpPr>
          <p:cNvPr id="13" name="Shape 10"/>
          <p:cNvSpPr/>
          <p:nvPr/>
        </p:nvSpPr>
        <p:spPr>
          <a:xfrm>
            <a:off x="731520" y="2072640"/>
            <a:ext cx="5212080" cy="0"/>
          </a:xfrm>
          <a:prstGeom prst="line">
            <a:avLst/>
          </a:prstGeom>
          <a:noFill/>
          <a:ln w="12700">
            <a:solidFill>
              <a:srgbClr val="9DFF00"/>
            </a:solidFill>
            <a:prstDash val="solid"/>
          </a:ln>
        </p:spPr>
      </p:sp>
      <p:sp>
        <p:nvSpPr>
          <p:cNvPr id="14" name="Text 11"/>
          <p:cNvSpPr/>
          <p:nvPr/>
        </p:nvSpPr>
        <p:spPr>
          <a:xfrm>
            <a:off x="772668" y="2104644"/>
            <a:ext cx="1929384" cy="316992"/>
          </a:xfrm>
          <a:prstGeom prst="rect">
            <a:avLst/>
          </a:prstGeom>
          <a:noFill/>
          <a:ln/>
        </p:spPr>
        <p:txBody>
          <a:bodyPr wrap="square" lIns="254" tIns="254" rIns="254" bIns="254" rtlCol="0" anchor="t">
            <a:normAutofit/>
          </a:bodyPr>
          <a:lstStyle/>
          <a:p>
            <a:pPr algn="l" indent="0" marL="0">
              <a:buNone/>
            </a:pPr>
            <a:r>
              <a:rPr lang="en-US" sz="850" dirty="0">
                <a:solidFill>
                  <a:srgbClr val="FFFFFF"/>
                </a:solidFill>
                <a:latin typeface="Aptos" pitchFamily="34" charset="0"/>
                <a:ea typeface="Aptos" pitchFamily="34" charset="-122"/>
                <a:cs typeface="Aptos" pitchFamily="34" charset="-120"/>
              </a:rPr>
              <a:t>False Positive</a:t>
            </a:r>
            <a:endParaRPr lang="en-US" sz="850" dirty="0"/>
          </a:p>
        </p:txBody>
      </p:sp>
      <p:sp>
        <p:nvSpPr>
          <p:cNvPr id="15" name="Text 12"/>
          <p:cNvSpPr/>
          <p:nvPr/>
        </p:nvSpPr>
        <p:spPr>
          <a:xfrm>
            <a:off x="2784348" y="2104644"/>
            <a:ext cx="1014984" cy="316992"/>
          </a:xfrm>
          <a:prstGeom prst="rect">
            <a:avLst/>
          </a:prstGeom>
          <a:noFill/>
          <a:ln/>
        </p:spPr>
        <p:txBody>
          <a:bodyPr wrap="square" lIns="254" tIns="254" rIns="254" bIns="254" rtlCol="0" anchor="t">
            <a:normAutofit/>
          </a:bodyPr>
          <a:lstStyle/>
          <a:p>
            <a:pPr algn="ctr" indent="0" marL="0">
              <a:buNone/>
            </a:pPr>
            <a:r>
              <a:rPr lang="en-US" sz="850" dirty="0">
                <a:solidFill>
                  <a:srgbClr val="FFFFFF"/>
                </a:solidFill>
                <a:latin typeface="Aptos" pitchFamily="34" charset="0"/>
                <a:ea typeface="Aptos" pitchFamily="34" charset="-122"/>
                <a:cs typeface="Aptos" pitchFamily="34" charset="-120"/>
              </a:rPr>
              <a:t>4,496</a:t>
            </a:r>
            <a:endParaRPr lang="en-US" sz="850" dirty="0"/>
          </a:p>
        </p:txBody>
      </p:sp>
      <p:sp>
        <p:nvSpPr>
          <p:cNvPr id="16" name="Text 13"/>
          <p:cNvSpPr/>
          <p:nvPr/>
        </p:nvSpPr>
        <p:spPr>
          <a:xfrm>
            <a:off x="3881628" y="2104644"/>
            <a:ext cx="2020824" cy="316992"/>
          </a:xfrm>
          <a:prstGeom prst="rect">
            <a:avLst/>
          </a:prstGeom>
          <a:noFill/>
          <a:ln/>
        </p:spPr>
        <p:txBody>
          <a:bodyPr wrap="square" lIns="254" tIns="254" rIns="254" bIns="254" rtlCol="0" anchor="t">
            <a:normAutofit/>
          </a:bodyPr>
          <a:lstStyle/>
          <a:p>
            <a:pPr algn="ctr" indent="0" marL="0">
              <a:buNone/>
            </a:pPr>
            <a:r>
              <a:rPr lang="en-US" sz="850" dirty="0">
                <a:solidFill>
                  <a:srgbClr val="FFFFFF"/>
                </a:solidFill>
                <a:latin typeface="Aptos" pitchFamily="34" charset="0"/>
                <a:ea typeface="Aptos" pitchFamily="34" charset="-122"/>
                <a:cs typeface="Aptos" pitchFamily="34" charset="-120"/>
              </a:rPr>
              <a:t>Flagged for review but did not charge off</a:t>
            </a:r>
            <a:endParaRPr lang="en-US" sz="850" dirty="0"/>
          </a:p>
        </p:txBody>
      </p:sp>
      <p:sp>
        <p:nvSpPr>
          <p:cNvPr id="17" name="Shape 14"/>
          <p:cNvSpPr/>
          <p:nvPr/>
        </p:nvSpPr>
        <p:spPr>
          <a:xfrm>
            <a:off x="731520" y="2453640"/>
            <a:ext cx="5212080" cy="0"/>
          </a:xfrm>
          <a:prstGeom prst="line">
            <a:avLst/>
          </a:prstGeom>
          <a:noFill/>
          <a:ln w="6350">
            <a:solidFill>
              <a:srgbClr val="2D342F">
                <a:alpha val="75000"/>
              </a:srgbClr>
            </a:solidFill>
            <a:prstDash val="solid"/>
          </a:ln>
        </p:spPr>
      </p:sp>
      <p:sp>
        <p:nvSpPr>
          <p:cNvPr id="18" name="Text 15"/>
          <p:cNvSpPr/>
          <p:nvPr/>
        </p:nvSpPr>
        <p:spPr>
          <a:xfrm>
            <a:off x="772668" y="2485644"/>
            <a:ext cx="1929384" cy="316992"/>
          </a:xfrm>
          <a:prstGeom prst="rect">
            <a:avLst/>
          </a:prstGeom>
          <a:noFill/>
          <a:ln/>
        </p:spPr>
        <p:txBody>
          <a:bodyPr wrap="square" lIns="254" tIns="254" rIns="254" bIns="254" rtlCol="0" anchor="t">
            <a:normAutofit/>
          </a:bodyPr>
          <a:lstStyle/>
          <a:p>
            <a:pPr algn="l" indent="0" marL="0">
              <a:buNone/>
            </a:pPr>
            <a:r>
              <a:rPr lang="en-US" sz="850" dirty="0">
                <a:solidFill>
                  <a:srgbClr val="FFFFFF"/>
                </a:solidFill>
                <a:latin typeface="Aptos" pitchFamily="34" charset="0"/>
                <a:ea typeface="Aptos" pitchFamily="34" charset="-122"/>
                <a:cs typeface="Aptos" pitchFamily="34" charset="-120"/>
              </a:rPr>
              <a:t>False Negative</a:t>
            </a:r>
            <a:endParaRPr lang="en-US" sz="850" dirty="0"/>
          </a:p>
        </p:txBody>
      </p:sp>
      <p:sp>
        <p:nvSpPr>
          <p:cNvPr id="19" name="Text 16"/>
          <p:cNvSpPr/>
          <p:nvPr/>
        </p:nvSpPr>
        <p:spPr>
          <a:xfrm>
            <a:off x="2784348" y="2485644"/>
            <a:ext cx="1014984" cy="316992"/>
          </a:xfrm>
          <a:prstGeom prst="rect">
            <a:avLst/>
          </a:prstGeom>
          <a:noFill/>
          <a:ln/>
        </p:spPr>
        <p:txBody>
          <a:bodyPr wrap="square" lIns="254" tIns="254" rIns="254" bIns="254" rtlCol="0" anchor="t">
            <a:normAutofit/>
          </a:bodyPr>
          <a:lstStyle/>
          <a:p>
            <a:pPr algn="ctr" indent="0" marL="0">
              <a:buNone/>
            </a:pPr>
            <a:r>
              <a:rPr lang="en-US" sz="850" dirty="0">
                <a:solidFill>
                  <a:srgbClr val="FFFFFF"/>
                </a:solidFill>
                <a:latin typeface="Aptos" pitchFamily="34" charset="0"/>
                <a:ea typeface="Aptos" pitchFamily="34" charset="-122"/>
                <a:cs typeface="Aptos" pitchFamily="34" charset="-120"/>
              </a:rPr>
              <a:t>1,777</a:t>
            </a:r>
            <a:endParaRPr lang="en-US" sz="850" dirty="0"/>
          </a:p>
        </p:txBody>
      </p:sp>
      <p:sp>
        <p:nvSpPr>
          <p:cNvPr id="20" name="Text 17"/>
          <p:cNvSpPr/>
          <p:nvPr/>
        </p:nvSpPr>
        <p:spPr>
          <a:xfrm>
            <a:off x="3881628" y="2485644"/>
            <a:ext cx="2020824" cy="316992"/>
          </a:xfrm>
          <a:prstGeom prst="rect">
            <a:avLst/>
          </a:prstGeom>
          <a:noFill/>
          <a:ln/>
        </p:spPr>
        <p:txBody>
          <a:bodyPr wrap="square" lIns="254" tIns="254" rIns="254" bIns="254" rtlCol="0" anchor="t">
            <a:normAutofit/>
          </a:bodyPr>
          <a:lstStyle/>
          <a:p>
            <a:pPr algn="ctr" indent="0" marL="0">
              <a:buNone/>
            </a:pPr>
            <a:r>
              <a:rPr lang="en-US" sz="850" dirty="0">
                <a:solidFill>
                  <a:srgbClr val="FFFFFF"/>
                </a:solidFill>
                <a:latin typeface="Aptos" pitchFamily="34" charset="0"/>
                <a:ea typeface="Aptos" pitchFamily="34" charset="-122"/>
                <a:cs typeface="Aptos" pitchFamily="34" charset="-120"/>
              </a:rPr>
              <a:t>Actually charged off but scored below threshold</a:t>
            </a:r>
            <a:endParaRPr lang="en-US" sz="850" dirty="0"/>
          </a:p>
        </p:txBody>
      </p:sp>
      <p:sp>
        <p:nvSpPr>
          <p:cNvPr id="21" name="Shape 18"/>
          <p:cNvSpPr/>
          <p:nvPr/>
        </p:nvSpPr>
        <p:spPr>
          <a:xfrm>
            <a:off x="731520" y="2834640"/>
            <a:ext cx="5212080" cy="0"/>
          </a:xfrm>
          <a:prstGeom prst="line">
            <a:avLst/>
          </a:prstGeom>
          <a:noFill/>
          <a:ln w="6350">
            <a:solidFill>
              <a:srgbClr val="2D342F">
                <a:alpha val="75000"/>
              </a:srgbClr>
            </a:solidFill>
            <a:prstDash val="solid"/>
          </a:ln>
        </p:spPr>
      </p:sp>
      <p:sp>
        <p:nvSpPr>
          <p:cNvPr id="22" name="Shape 19"/>
          <p:cNvSpPr/>
          <p:nvPr/>
        </p:nvSpPr>
        <p:spPr>
          <a:xfrm>
            <a:off x="6400800" y="1691640"/>
            <a:ext cx="1864043" cy="342900"/>
          </a:xfrm>
          <a:prstGeom prst="rect">
            <a:avLst/>
          </a:prstGeom>
          <a:solidFill>
            <a:srgbClr val="9DFF00">
              <a:alpha val="18000"/>
            </a:srgbClr>
          </a:solidFill>
          <a:ln w="12700">
            <a:solidFill>
              <a:srgbClr val="333333">
                <a:alpha val="0"/>
              </a:srgbClr>
            </a:solidFill>
            <a:prstDash val="solid"/>
          </a:ln>
        </p:spPr>
      </p:sp>
      <p:sp>
        <p:nvSpPr>
          <p:cNvPr id="23" name="Text 20"/>
          <p:cNvSpPr/>
          <p:nvPr/>
        </p:nvSpPr>
        <p:spPr>
          <a:xfrm>
            <a:off x="6441948" y="1723644"/>
            <a:ext cx="1781747" cy="278892"/>
          </a:xfrm>
          <a:prstGeom prst="rect">
            <a:avLst/>
          </a:prstGeom>
          <a:noFill/>
          <a:ln/>
        </p:spPr>
        <p:txBody>
          <a:bodyPr wrap="square" lIns="254" tIns="254" rIns="254" bIns="254" rtlCol="0" anchor="t">
            <a:normAutofit/>
          </a:bodyPr>
          <a:lstStyle/>
          <a:p>
            <a:pPr algn="l" indent="0" marL="0">
              <a:buNone/>
            </a:pPr>
            <a:r>
              <a:rPr lang="en-US" sz="810" b="1" dirty="0">
                <a:solidFill>
                  <a:srgbClr val="9DFF00"/>
                </a:solidFill>
                <a:latin typeface="Aptos" pitchFamily="34" charset="0"/>
                <a:ea typeface="Aptos" pitchFamily="34" charset="-122"/>
                <a:cs typeface="Aptos" pitchFamily="34" charset="-120"/>
              </a:rPr>
              <a:t>High-error NAICS2</a:t>
            </a:r>
            <a:endParaRPr lang="en-US" sz="810" dirty="0"/>
          </a:p>
        </p:txBody>
      </p:sp>
      <p:sp>
        <p:nvSpPr>
          <p:cNvPr id="24" name="Shape 21"/>
          <p:cNvSpPr/>
          <p:nvPr/>
        </p:nvSpPr>
        <p:spPr>
          <a:xfrm>
            <a:off x="8264843" y="1691640"/>
            <a:ext cx="1471613" cy="342900"/>
          </a:xfrm>
          <a:prstGeom prst="rect">
            <a:avLst/>
          </a:prstGeom>
          <a:solidFill>
            <a:srgbClr val="9DFF00">
              <a:alpha val="18000"/>
            </a:srgbClr>
          </a:solidFill>
          <a:ln w="12700">
            <a:solidFill>
              <a:srgbClr val="333333">
                <a:alpha val="0"/>
              </a:srgbClr>
            </a:solidFill>
            <a:prstDash val="solid"/>
          </a:ln>
        </p:spPr>
      </p:sp>
      <p:sp>
        <p:nvSpPr>
          <p:cNvPr id="25" name="Text 22"/>
          <p:cNvSpPr/>
          <p:nvPr/>
        </p:nvSpPr>
        <p:spPr>
          <a:xfrm>
            <a:off x="8305991" y="1723644"/>
            <a:ext cx="1389317" cy="278892"/>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Validation loans</a:t>
            </a:r>
            <a:endParaRPr lang="en-US" sz="810" dirty="0"/>
          </a:p>
        </p:txBody>
      </p:sp>
      <p:sp>
        <p:nvSpPr>
          <p:cNvPr id="26" name="Shape 23"/>
          <p:cNvSpPr/>
          <p:nvPr/>
        </p:nvSpPr>
        <p:spPr>
          <a:xfrm>
            <a:off x="9736455" y="1691640"/>
            <a:ext cx="1373505" cy="342900"/>
          </a:xfrm>
          <a:prstGeom prst="rect">
            <a:avLst/>
          </a:prstGeom>
          <a:solidFill>
            <a:srgbClr val="9DFF00">
              <a:alpha val="18000"/>
            </a:srgbClr>
          </a:solidFill>
          <a:ln w="12700">
            <a:solidFill>
              <a:srgbClr val="333333">
                <a:alpha val="0"/>
              </a:srgbClr>
            </a:solidFill>
            <a:prstDash val="solid"/>
          </a:ln>
        </p:spPr>
      </p:sp>
      <p:sp>
        <p:nvSpPr>
          <p:cNvPr id="27" name="Text 24"/>
          <p:cNvSpPr/>
          <p:nvPr/>
        </p:nvSpPr>
        <p:spPr>
          <a:xfrm>
            <a:off x="9777603" y="1723644"/>
            <a:ext cx="1291209" cy="278892"/>
          </a:xfrm>
          <a:prstGeom prst="rect">
            <a:avLst/>
          </a:prstGeom>
          <a:noFill/>
          <a:ln/>
        </p:spPr>
        <p:txBody>
          <a:bodyPr wrap="square" lIns="254" tIns="254" rIns="254" bIns="254" rtlCol="0" anchor="t">
            <a:normAutofit/>
          </a:bodyPr>
          <a:lstStyle/>
          <a:p>
            <a:pPr algn="ctr" indent="0" marL="0">
              <a:buNone/>
            </a:pPr>
            <a:r>
              <a:rPr lang="en-US" sz="810" b="1" dirty="0">
                <a:solidFill>
                  <a:srgbClr val="9DFF00"/>
                </a:solidFill>
                <a:latin typeface="Aptos" pitchFamily="34" charset="0"/>
                <a:ea typeface="Aptos" pitchFamily="34" charset="-122"/>
                <a:cs typeface="Aptos" pitchFamily="34" charset="-120"/>
              </a:rPr>
              <a:t>Error rate</a:t>
            </a:r>
            <a:endParaRPr lang="en-US" sz="810" dirty="0"/>
          </a:p>
        </p:txBody>
      </p:sp>
      <p:sp>
        <p:nvSpPr>
          <p:cNvPr id="28" name="Shape 25"/>
          <p:cNvSpPr/>
          <p:nvPr/>
        </p:nvSpPr>
        <p:spPr>
          <a:xfrm>
            <a:off x="6400800" y="2034540"/>
            <a:ext cx="4709160" cy="0"/>
          </a:xfrm>
          <a:prstGeom prst="line">
            <a:avLst/>
          </a:prstGeom>
          <a:noFill/>
          <a:ln w="12700">
            <a:solidFill>
              <a:srgbClr val="9DFF00"/>
            </a:solidFill>
            <a:prstDash val="solid"/>
          </a:ln>
        </p:spPr>
      </p:sp>
      <p:sp>
        <p:nvSpPr>
          <p:cNvPr id="29" name="Text 26"/>
          <p:cNvSpPr/>
          <p:nvPr/>
        </p:nvSpPr>
        <p:spPr>
          <a:xfrm>
            <a:off x="6441948" y="2066544"/>
            <a:ext cx="1781747" cy="278892"/>
          </a:xfrm>
          <a:prstGeom prst="rect">
            <a:avLst/>
          </a:prstGeom>
          <a:noFill/>
          <a:ln/>
        </p:spPr>
        <p:txBody>
          <a:bodyPr wrap="square" lIns="254" tIns="254" rIns="254" bIns="254" rtlCol="0" anchor="t">
            <a:normAutofit/>
          </a:bodyPr>
          <a:lstStyle/>
          <a:p>
            <a:pPr algn="l" indent="0" marL="0">
              <a:buNone/>
            </a:pPr>
            <a:r>
              <a:rPr lang="en-US" sz="850" dirty="0">
                <a:solidFill>
                  <a:srgbClr val="FFFFFF"/>
                </a:solidFill>
                <a:latin typeface="Aptos" pitchFamily="34" charset="0"/>
                <a:ea typeface="Aptos" pitchFamily="34" charset="-122"/>
                <a:cs typeface="Aptos" pitchFamily="34" charset="-120"/>
              </a:rPr>
              <a:t>48</a:t>
            </a:r>
            <a:endParaRPr lang="en-US" sz="850" dirty="0"/>
          </a:p>
        </p:txBody>
      </p:sp>
      <p:sp>
        <p:nvSpPr>
          <p:cNvPr id="30" name="Text 27"/>
          <p:cNvSpPr/>
          <p:nvPr/>
        </p:nvSpPr>
        <p:spPr>
          <a:xfrm>
            <a:off x="8305991" y="2066544"/>
            <a:ext cx="1389317" cy="278892"/>
          </a:xfrm>
          <a:prstGeom prst="rect">
            <a:avLst/>
          </a:prstGeom>
          <a:noFill/>
          <a:ln/>
        </p:spPr>
        <p:txBody>
          <a:bodyPr wrap="square" lIns="254" tIns="254" rIns="254" bIns="254" rtlCol="0" anchor="t">
            <a:normAutofit/>
          </a:bodyPr>
          <a:lstStyle/>
          <a:p>
            <a:pPr algn="ctr" indent="0" marL="0">
              <a:buNone/>
            </a:pPr>
            <a:r>
              <a:rPr lang="en-US" sz="850" dirty="0">
                <a:solidFill>
                  <a:srgbClr val="FFFFFF"/>
                </a:solidFill>
                <a:latin typeface="Aptos" pitchFamily="34" charset="0"/>
                <a:ea typeface="Aptos" pitchFamily="34" charset="-122"/>
                <a:cs typeface="Aptos" pitchFamily="34" charset="-120"/>
              </a:rPr>
              <a:t>5,892</a:t>
            </a:r>
            <a:endParaRPr lang="en-US" sz="850" dirty="0"/>
          </a:p>
        </p:txBody>
      </p:sp>
      <p:sp>
        <p:nvSpPr>
          <p:cNvPr id="31" name="Text 28"/>
          <p:cNvSpPr/>
          <p:nvPr/>
        </p:nvSpPr>
        <p:spPr>
          <a:xfrm>
            <a:off x="9777603" y="2066544"/>
            <a:ext cx="1291209" cy="278892"/>
          </a:xfrm>
          <a:prstGeom prst="rect">
            <a:avLst/>
          </a:prstGeom>
          <a:noFill/>
          <a:ln/>
        </p:spPr>
        <p:txBody>
          <a:bodyPr wrap="square" lIns="254" tIns="254" rIns="254" bIns="254" rtlCol="0" anchor="t">
            <a:normAutofit/>
          </a:bodyPr>
          <a:lstStyle/>
          <a:p>
            <a:pPr algn="ctr" indent="0" marL="0">
              <a:buNone/>
            </a:pPr>
            <a:r>
              <a:rPr lang="en-US" sz="850" dirty="0">
                <a:solidFill>
                  <a:srgbClr val="FFFFFF"/>
                </a:solidFill>
                <a:latin typeface="Aptos" pitchFamily="34" charset="0"/>
                <a:ea typeface="Aptos" pitchFamily="34" charset="-122"/>
                <a:cs typeface="Aptos" pitchFamily="34" charset="-120"/>
              </a:rPr>
              <a:t>8.91%</a:t>
            </a:r>
            <a:endParaRPr lang="en-US" sz="850" dirty="0"/>
          </a:p>
        </p:txBody>
      </p:sp>
      <p:sp>
        <p:nvSpPr>
          <p:cNvPr id="32" name="Shape 29"/>
          <p:cNvSpPr/>
          <p:nvPr/>
        </p:nvSpPr>
        <p:spPr>
          <a:xfrm>
            <a:off x="6400800" y="2377440"/>
            <a:ext cx="4709160" cy="0"/>
          </a:xfrm>
          <a:prstGeom prst="line">
            <a:avLst/>
          </a:prstGeom>
          <a:noFill/>
          <a:ln w="6350">
            <a:solidFill>
              <a:srgbClr val="2D342F">
                <a:alpha val="75000"/>
              </a:srgbClr>
            </a:solidFill>
            <a:prstDash val="solid"/>
          </a:ln>
        </p:spPr>
      </p:sp>
      <p:sp>
        <p:nvSpPr>
          <p:cNvPr id="33" name="Text 30"/>
          <p:cNvSpPr/>
          <p:nvPr/>
        </p:nvSpPr>
        <p:spPr>
          <a:xfrm>
            <a:off x="6441948" y="2409444"/>
            <a:ext cx="1781747" cy="278892"/>
          </a:xfrm>
          <a:prstGeom prst="rect">
            <a:avLst/>
          </a:prstGeom>
          <a:noFill/>
          <a:ln/>
        </p:spPr>
        <p:txBody>
          <a:bodyPr wrap="square" lIns="254" tIns="254" rIns="254" bIns="254" rtlCol="0" anchor="t">
            <a:normAutofit/>
          </a:bodyPr>
          <a:lstStyle/>
          <a:p>
            <a:pPr algn="l" indent="0" marL="0">
              <a:buNone/>
            </a:pPr>
            <a:r>
              <a:rPr lang="en-US" sz="850" dirty="0">
                <a:solidFill>
                  <a:srgbClr val="FFFFFF"/>
                </a:solidFill>
                <a:latin typeface="Aptos" pitchFamily="34" charset="0"/>
                <a:ea typeface="Aptos" pitchFamily="34" charset="-122"/>
                <a:cs typeface="Aptos" pitchFamily="34" charset="-120"/>
              </a:rPr>
              <a:t>42</a:t>
            </a:r>
            <a:endParaRPr lang="en-US" sz="850" dirty="0"/>
          </a:p>
        </p:txBody>
      </p:sp>
      <p:sp>
        <p:nvSpPr>
          <p:cNvPr id="34" name="Text 31"/>
          <p:cNvSpPr/>
          <p:nvPr/>
        </p:nvSpPr>
        <p:spPr>
          <a:xfrm>
            <a:off x="8305991" y="2409444"/>
            <a:ext cx="1389317" cy="278892"/>
          </a:xfrm>
          <a:prstGeom prst="rect">
            <a:avLst/>
          </a:prstGeom>
          <a:noFill/>
          <a:ln/>
        </p:spPr>
        <p:txBody>
          <a:bodyPr wrap="square" lIns="254" tIns="254" rIns="254" bIns="254" rtlCol="0" anchor="t">
            <a:normAutofit/>
          </a:bodyPr>
          <a:lstStyle/>
          <a:p>
            <a:pPr algn="ctr" indent="0" marL="0">
              <a:buNone/>
            </a:pPr>
            <a:r>
              <a:rPr lang="en-US" sz="850" dirty="0">
                <a:solidFill>
                  <a:srgbClr val="FFFFFF"/>
                </a:solidFill>
                <a:latin typeface="Aptos" pitchFamily="34" charset="0"/>
                <a:ea typeface="Aptos" pitchFamily="34" charset="-122"/>
                <a:cs typeface="Aptos" pitchFamily="34" charset="-120"/>
              </a:rPr>
              <a:t>4,331</a:t>
            </a:r>
            <a:endParaRPr lang="en-US" sz="850" dirty="0"/>
          </a:p>
        </p:txBody>
      </p:sp>
      <p:sp>
        <p:nvSpPr>
          <p:cNvPr id="35" name="Text 32"/>
          <p:cNvSpPr/>
          <p:nvPr/>
        </p:nvSpPr>
        <p:spPr>
          <a:xfrm>
            <a:off x="9777603" y="2409444"/>
            <a:ext cx="1291209" cy="278892"/>
          </a:xfrm>
          <a:prstGeom prst="rect">
            <a:avLst/>
          </a:prstGeom>
          <a:noFill/>
          <a:ln/>
        </p:spPr>
        <p:txBody>
          <a:bodyPr wrap="square" lIns="254" tIns="254" rIns="254" bIns="254" rtlCol="0" anchor="t">
            <a:normAutofit/>
          </a:bodyPr>
          <a:lstStyle/>
          <a:p>
            <a:pPr algn="ctr" indent="0" marL="0">
              <a:buNone/>
            </a:pPr>
            <a:r>
              <a:rPr lang="en-US" sz="850" dirty="0">
                <a:solidFill>
                  <a:srgbClr val="FFFFFF"/>
                </a:solidFill>
                <a:latin typeface="Aptos" pitchFamily="34" charset="0"/>
                <a:ea typeface="Aptos" pitchFamily="34" charset="-122"/>
                <a:cs typeface="Aptos" pitchFamily="34" charset="-120"/>
              </a:rPr>
              <a:t>7.90%</a:t>
            </a:r>
            <a:endParaRPr lang="en-US" sz="850" dirty="0"/>
          </a:p>
        </p:txBody>
      </p:sp>
      <p:sp>
        <p:nvSpPr>
          <p:cNvPr id="36" name="Shape 33"/>
          <p:cNvSpPr/>
          <p:nvPr/>
        </p:nvSpPr>
        <p:spPr>
          <a:xfrm>
            <a:off x="6400800" y="2720340"/>
            <a:ext cx="4709160" cy="0"/>
          </a:xfrm>
          <a:prstGeom prst="line">
            <a:avLst/>
          </a:prstGeom>
          <a:noFill/>
          <a:ln w="6350">
            <a:solidFill>
              <a:srgbClr val="2D342F">
                <a:alpha val="75000"/>
              </a:srgbClr>
            </a:solidFill>
            <a:prstDash val="solid"/>
          </a:ln>
        </p:spPr>
      </p:sp>
      <p:sp>
        <p:nvSpPr>
          <p:cNvPr id="37" name="Text 34"/>
          <p:cNvSpPr/>
          <p:nvPr/>
        </p:nvSpPr>
        <p:spPr>
          <a:xfrm>
            <a:off x="6441948" y="2752344"/>
            <a:ext cx="1781747" cy="278892"/>
          </a:xfrm>
          <a:prstGeom prst="rect">
            <a:avLst/>
          </a:prstGeom>
          <a:noFill/>
          <a:ln/>
        </p:spPr>
        <p:txBody>
          <a:bodyPr wrap="square" lIns="254" tIns="254" rIns="254" bIns="254" rtlCol="0" anchor="t">
            <a:normAutofit/>
          </a:bodyPr>
          <a:lstStyle/>
          <a:p>
            <a:pPr algn="l" indent="0" marL="0">
              <a:buNone/>
            </a:pPr>
            <a:r>
              <a:rPr lang="en-US" sz="850" dirty="0">
                <a:solidFill>
                  <a:srgbClr val="FFFFFF"/>
                </a:solidFill>
                <a:latin typeface="Aptos" pitchFamily="34" charset="0"/>
                <a:ea typeface="Aptos" pitchFamily="34" charset="-122"/>
                <a:cs typeface="Aptos" pitchFamily="34" charset="-120"/>
              </a:rPr>
              <a:t>71</a:t>
            </a:r>
            <a:endParaRPr lang="en-US" sz="850" dirty="0"/>
          </a:p>
        </p:txBody>
      </p:sp>
      <p:sp>
        <p:nvSpPr>
          <p:cNvPr id="38" name="Text 35"/>
          <p:cNvSpPr/>
          <p:nvPr/>
        </p:nvSpPr>
        <p:spPr>
          <a:xfrm>
            <a:off x="8305991" y="2752344"/>
            <a:ext cx="1389317" cy="278892"/>
          </a:xfrm>
          <a:prstGeom prst="rect">
            <a:avLst/>
          </a:prstGeom>
          <a:noFill/>
          <a:ln/>
        </p:spPr>
        <p:txBody>
          <a:bodyPr wrap="square" lIns="254" tIns="254" rIns="254" bIns="254" rtlCol="0" anchor="t">
            <a:normAutofit/>
          </a:bodyPr>
          <a:lstStyle/>
          <a:p>
            <a:pPr algn="ctr" indent="0" marL="0">
              <a:buNone/>
            </a:pPr>
            <a:r>
              <a:rPr lang="en-US" sz="850" dirty="0">
                <a:solidFill>
                  <a:srgbClr val="FFFFFF"/>
                </a:solidFill>
                <a:latin typeface="Aptos" pitchFamily="34" charset="0"/>
                <a:ea typeface="Aptos" pitchFamily="34" charset="-122"/>
                <a:cs typeface="Aptos" pitchFamily="34" charset="-120"/>
              </a:rPr>
              <a:t>3,614</a:t>
            </a:r>
            <a:endParaRPr lang="en-US" sz="850" dirty="0"/>
          </a:p>
        </p:txBody>
      </p:sp>
      <p:sp>
        <p:nvSpPr>
          <p:cNvPr id="39" name="Text 36"/>
          <p:cNvSpPr/>
          <p:nvPr/>
        </p:nvSpPr>
        <p:spPr>
          <a:xfrm>
            <a:off x="9777603" y="2752344"/>
            <a:ext cx="1291209" cy="278892"/>
          </a:xfrm>
          <a:prstGeom prst="rect">
            <a:avLst/>
          </a:prstGeom>
          <a:noFill/>
          <a:ln/>
        </p:spPr>
        <p:txBody>
          <a:bodyPr wrap="square" lIns="254" tIns="254" rIns="254" bIns="254" rtlCol="0" anchor="t">
            <a:normAutofit/>
          </a:bodyPr>
          <a:lstStyle/>
          <a:p>
            <a:pPr algn="ctr" indent="0" marL="0">
              <a:buNone/>
            </a:pPr>
            <a:r>
              <a:rPr lang="en-US" sz="850" dirty="0">
                <a:solidFill>
                  <a:srgbClr val="FFFFFF"/>
                </a:solidFill>
                <a:latin typeface="Aptos" pitchFamily="34" charset="0"/>
                <a:ea typeface="Aptos" pitchFamily="34" charset="-122"/>
                <a:cs typeface="Aptos" pitchFamily="34" charset="-120"/>
              </a:rPr>
              <a:t>7.89%</a:t>
            </a:r>
            <a:endParaRPr lang="en-US" sz="850" dirty="0"/>
          </a:p>
        </p:txBody>
      </p:sp>
      <p:sp>
        <p:nvSpPr>
          <p:cNvPr id="40" name="Shape 37"/>
          <p:cNvSpPr/>
          <p:nvPr/>
        </p:nvSpPr>
        <p:spPr>
          <a:xfrm>
            <a:off x="6400800" y="3063240"/>
            <a:ext cx="4709160" cy="0"/>
          </a:xfrm>
          <a:prstGeom prst="line">
            <a:avLst/>
          </a:prstGeom>
          <a:noFill/>
          <a:ln w="6350">
            <a:solidFill>
              <a:srgbClr val="2D342F">
                <a:alpha val="75000"/>
              </a:srgbClr>
            </a:solidFill>
            <a:prstDash val="solid"/>
          </a:ln>
        </p:spPr>
      </p:sp>
      <p:sp>
        <p:nvSpPr>
          <p:cNvPr id="41" name="Text 38"/>
          <p:cNvSpPr/>
          <p:nvPr/>
        </p:nvSpPr>
        <p:spPr>
          <a:xfrm>
            <a:off x="6441948" y="3095244"/>
            <a:ext cx="1781747" cy="278892"/>
          </a:xfrm>
          <a:prstGeom prst="rect">
            <a:avLst/>
          </a:prstGeom>
          <a:noFill/>
          <a:ln/>
        </p:spPr>
        <p:txBody>
          <a:bodyPr wrap="square" lIns="254" tIns="254" rIns="254" bIns="254" rtlCol="0" anchor="t">
            <a:normAutofit/>
          </a:bodyPr>
          <a:lstStyle/>
          <a:p>
            <a:pPr algn="l" indent="0" marL="0">
              <a:buNone/>
            </a:pPr>
            <a:r>
              <a:rPr lang="en-US" sz="850" dirty="0">
                <a:solidFill>
                  <a:srgbClr val="FFFFFF"/>
                </a:solidFill>
                <a:latin typeface="Aptos" pitchFamily="34" charset="0"/>
                <a:ea typeface="Aptos" pitchFamily="34" charset="-122"/>
                <a:cs typeface="Aptos" pitchFamily="34" charset="-120"/>
              </a:rPr>
              <a:t>23</a:t>
            </a:r>
            <a:endParaRPr lang="en-US" sz="850" dirty="0"/>
          </a:p>
        </p:txBody>
      </p:sp>
      <p:sp>
        <p:nvSpPr>
          <p:cNvPr id="42" name="Text 39"/>
          <p:cNvSpPr/>
          <p:nvPr/>
        </p:nvSpPr>
        <p:spPr>
          <a:xfrm>
            <a:off x="8305991" y="3095244"/>
            <a:ext cx="1389317" cy="278892"/>
          </a:xfrm>
          <a:prstGeom prst="rect">
            <a:avLst/>
          </a:prstGeom>
          <a:noFill/>
          <a:ln/>
        </p:spPr>
        <p:txBody>
          <a:bodyPr wrap="square" lIns="254" tIns="254" rIns="254" bIns="254" rtlCol="0" anchor="t">
            <a:normAutofit/>
          </a:bodyPr>
          <a:lstStyle/>
          <a:p>
            <a:pPr algn="ctr" indent="0" marL="0">
              <a:buNone/>
            </a:pPr>
            <a:r>
              <a:rPr lang="en-US" sz="850" dirty="0">
                <a:solidFill>
                  <a:srgbClr val="FFFFFF"/>
                </a:solidFill>
                <a:latin typeface="Aptos" pitchFamily="34" charset="0"/>
                <a:ea typeface="Aptos" pitchFamily="34" charset="-122"/>
                <a:cs typeface="Aptos" pitchFamily="34" charset="-120"/>
              </a:rPr>
              <a:t>11,206</a:t>
            </a:r>
            <a:endParaRPr lang="en-US" sz="850" dirty="0"/>
          </a:p>
        </p:txBody>
      </p:sp>
      <p:sp>
        <p:nvSpPr>
          <p:cNvPr id="43" name="Text 40"/>
          <p:cNvSpPr/>
          <p:nvPr/>
        </p:nvSpPr>
        <p:spPr>
          <a:xfrm>
            <a:off x="9777603" y="3095244"/>
            <a:ext cx="1291209" cy="278892"/>
          </a:xfrm>
          <a:prstGeom prst="rect">
            <a:avLst/>
          </a:prstGeom>
          <a:noFill/>
          <a:ln/>
        </p:spPr>
        <p:txBody>
          <a:bodyPr wrap="square" lIns="254" tIns="254" rIns="254" bIns="254" rtlCol="0" anchor="t">
            <a:normAutofit/>
          </a:bodyPr>
          <a:lstStyle/>
          <a:p>
            <a:pPr algn="ctr" indent="0" marL="0">
              <a:buNone/>
            </a:pPr>
            <a:r>
              <a:rPr lang="en-US" sz="850" dirty="0">
                <a:solidFill>
                  <a:srgbClr val="FFFFFF"/>
                </a:solidFill>
                <a:latin typeface="Aptos" pitchFamily="34" charset="0"/>
                <a:ea typeface="Aptos" pitchFamily="34" charset="-122"/>
                <a:cs typeface="Aptos" pitchFamily="34" charset="-120"/>
              </a:rPr>
              <a:t>7.78%</a:t>
            </a:r>
            <a:endParaRPr lang="en-US" sz="850" dirty="0"/>
          </a:p>
        </p:txBody>
      </p:sp>
      <p:sp>
        <p:nvSpPr>
          <p:cNvPr id="44" name="Shape 41"/>
          <p:cNvSpPr/>
          <p:nvPr/>
        </p:nvSpPr>
        <p:spPr>
          <a:xfrm>
            <a:off x="6400800" y="3406140"/>
            <a:ext cx="4709160" cy="0"/>
          </a:xfrm>
          <a:prstGeom prst="line">
            <a:avLst/>
          </a:prstGeom>
          <a:noFill/>
          <a:ln w="6350">
            <a:solidFill>
              <a:srgbClr val="2D342F">
                <a:alpha val="75000"/>
              </a:srgbClr>
            </a:solidFill>
            <a:prstDash val="solid"/>
          </a:ln>
        </p:spPr>
      </p:sp>
      <p:sp>
        <p:nvSpPr>
          <p:cNvPr id="45" name="Text 42"/>
          <p:cNvSpPr/>
          <p:nvPr/>
        </p:nvSpPr>
        <p:spPr>
          <a:xfrm>
            <a:off x="6441948" y="3438144"/>
            <a:ext cx="1781747" cy="278892"/>
          </a:xfrm>
          <a:prstGeom prst="rect">
            <a:avLst/>
          </a:prstGeom>
          <a:noFill/>
          <a:ln/>
        </p:spPr>
        <p:txBody>
          <a:bodyPr wrap="square" lIns="254" tIns="254" rIns="254" bIns="254" rtlCol="0" anchor="t">
            <a:normAutofit/>
          </a:bodyPr>
          <a:lstStyle/>
          <a:p>
            <a:pPr algn="l" indent="0" marL="0">
              <a:buNone/>
            </a:pPr>
            <a:r>
              <a:rPr lang="en-US" sz="850" dirty="0">
                <a:solidFill>
                  <a:srgbClr val="FFFFFF"/>
                </a:solidFill>
                <a:latin typeface="Aptos" pitchFamily="34" charset="0"/>
                <a:ea typeface="Aptos" pitchFamily="34" charset="-122"/>
                <a:cs typeface="Aptos" pitchFamily="34" charset="-120"/>
              </a:rPr>
              <a:t>61</a:t>
            </a:r>
            <a:endParaRPr lang="en-US" sz="850" dirty="0"/>
          </a:p>
        </p:txBody>
      </p:sp>
      <p:sp>
        <p:nvSpPr>
          <p:cNvPr id="46" name="Text 43"/>
          <p:cNvSpPr/>
          <p:nvPr/>
        </p:nvSpPr>
        <p:spPr>
          <a:xfrm>
            <a:off x="8305991" y="3438144"/>
            <a:ext cx="1389317" cy="278892"/>
          </a:xfrm>
          <a:prstGeom prst="rect">
            <a:avLst/>
          </a:prstGeom>
          <a:noFill/>
          <a:ln/>
        </p:spPr>
        <p:txBody>
          <a:bodyPr wrap="square" lIns="254" tIns="254" rIns="254" bIns="254" rtlCol="0" anchor="t">
            <a:normAutofit/>
          </a:bodyPr>
          <a:lstStyle/>
          <a:p>
            <a:pPr algn="ctr" indent="0" marL="0">
              <a:buNone/>
            </a:pPr>
            <a:r>
              <a:rPr lang="en-US" sz="850" dirty="0">
                <a:solidFill>
                  <a:srgbClr val="FFFFFF"/>
                </a:solidFill>
                <a:latin typeface="Aptos" pitchFamily="34" charset="0"/>
                <a:ea typeface="Aptos" pitchFamily="34" charset="-122"/>
                <a:cs typeface="Aptos" pitchFamily="34" charset="-120"/>
              </a:rPr>
              <a:t>1,584</a:t>
            </a:r>
            <a:endParaRPr lang="en-US" sz="850" dirty="0"/>
          </a:p>
        </p:txBody>
      </p:sp>
      <p:sp>
        <p:nvSpPr>
          <p:cNvPr id="47" name="Text 44"/>
          <p:cNvSpPr/>
          <p:nvPr/>
        </p:nvSpPr>
        <p:spPr>
          <a:xfrm>
            <a:off x="9777603" y="3438144"/>
            <a:ext cx="1291209" cy="278892"/>
          </a:xfrm>
          <a:prstGeom prst="rect">
            <a:avLst/>
          </a:prstGeom>
          <a:noFill/>
          <a:ln/>
        </p:spPr>
        <p:txBody>
          <a:bodyPr wrap="square" lIns="254" tIns="254" rIns="254" bIns="254" rtlCol="0" anchor="t">
            <a:normAutofit/>
          </a:bodyPr>
          <a:lstStyle/>
          <a:p>
            <a:pPr algn="ctr" indent="0" marL="0">
              <a:buNone/>
            </a:pPr>
            <a:r>
              <a:rPr lang="en-US" sz="850" dirty="0">
                <a:solidFill>
                  <a:srgbClr val="FFFFFF"/>
                </a:solidFill>
                <a:latin typeface="Aptos" pitchFamily="34" charset="0"/>
                <a:ea typeface="Aptos" pitchFamily="34" charset="-122"/>
                <a:cs typeface="Aptos" pitchFamily="34" charset="-120"/>
              </a:rPr>
              <a:t>7.77%</a:t>
            </a:r>
            <a:endParaRPr lang="en-US" sz="850" dirty="0"/>
          </a:p>
        </p:txBody>
      </p:sp>
      <p:sp>
        <p:nvSpPr>
          <p:cNvPr id="48" name="Shape 45"/>
          <p:cNvSpPr/>
          <p:nvPr/>
        </p:nvSpPr>
        <p:spPr>
          <a:xfrm>
            <a:off x="6400800" y="3749040"/>
            <a:ext cx="4709160" cy="0"/>
          </a:xfrm>
          <a:prstGeom prst="line">
            <a:avLst/>
          </a:prstGeom>
          <a:noFill/>
          <a:ln w="6350">
            <a:solidFill>
              <a:srgbClr val="2D342F">
                <a:alpha val="75000"/>
              </a:srgbClr>
            </a:solidFill>
            <a:prstDash val="solid"/>
          </a:ln>
        </p:spPr>
      </p:sp>
      <p:sp>
        <p:nvSpPr>
          <p:cNvPr id="49" name="Shape 46"/>
          <p:cNvSpPr/>
          <p:nvPr/>
        </p:nvSpPr>
        <p:spPr>
          <a:xfrm>
            <a:off x="868680" y="4160520"/>
            <a:ext cx="4937760" cy="1234440"/>
          </a:xfrm>
          <a:prstGeom prst="roundRect">
            <a:avLst>
              <a:gd name="adj" fmla="val 5926"/>
            </a:avLst>
          </a:prstGeom>
          <a:solidFill>
            <a:srgbClr val="000000">
              <a:alpha val="82000"/>
            </a:srgbClr>
          </a:solidFill>
          <a:ln w="12700">
            <a:solidFill>
              <a:srgbClr val="9DFF00">
                <a:alpha val="34000"/>
              </a:srgbClr>
            </a:solidFill>
            <a:prstDash val="solid"/>
          </a:ln>
        </p:spPr>
      </p:sp>
      <p:sp>
        <p:nvSpPr>
          <p:cNvPr id="50" name="Text 47"/>
          <p:cNvSpPr/>
          <p:nvPr/>
        </p:nvSpPr>
        <p:spPr>
          <a:xfrm>
            <a:off x="1143000" y="4370832"/>
            <a:ext cx="164592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False negatives</a:t>
            </a:r>
            <a:endParaRPr lang="en-US" sz="1360" dirty="0"/>
          </a:p>
        </p:txBody>
      </p:sp>
      <p:sp>
        <p:nvSpPr>
          <p:cNvPr id="51" name="Text 48"/>
          <p:cNvSpPr/>
          <p:nvPr/>
        </p:nvSpPr>
        <p:spPr>
          <a:xfrm>
            <a:off x="1143000" y="4718304"/>
            <a:ext cx="4023360" cy="329184"/>
          </a:xfrm>
          <a:prstGeom prst="rect">
            <a:avLst/>
          </a:prstGeom>
          <a:noFill/>
          <a:ln/>
        </p:spPr>
        <p:txBody>
          <a:bodyPr wrap="square" lIns="254" tIns="254" rIns="254" bIns="254" rtlCol="0" anchor="t">
            <a:normAutofit/>
          </a:bodyPr>
          <a:lstStyle/>
          <a:p>
            <a:pPr algn="l" indent="0" marL="0">
              <a:buNone/>
            </a:pPr>
            <a:r>
              <a:rPr lang="en-US" sz="1030" dirty="0">
                <a:solidFill>
                  <a:srgbClr val="FFFFFF"/>
                </a:solidFill>
                <a:latin typeface="Aptos" pitchFamily="34" charset="0"/>
                <a:ea typeface="Aptos" pitchFamily="34" charset="-122"/>
                <a:cs typeface="Aptos" pitchFamily="34" charset="-120"/>
              </a:rPr>
              <a:t>Risk misses. These are the charge-offs that were not flagged. They suggest approval-time public fields are incomplete.</a:t>
            </a:r>
            <a:endParaRPr lang="en-US" sz="1030" dirty="0"/>
          </a:p>
        </p:txBody>
      </p:sp>
      <p:sp>
        <p:nvSpPr>
          <p:cNvPr id="52" name="Shape 49"/>
          <p:cNvSpPr/>
          <p:nvPr/>
        </p:nvSpPr>
        <p:spPr>
          <a:xfrm>
            <a:off x="6355080" y="4160520"/>
            <a:ext cx="4937760" cy="1234440"/>
          </a:xfrm>
          <a:prstGeom prst="roundRect">
            <a:avLst>
              <a:gd name="adj" fmla="val 5926"/>
            </a:avLst>
          </a:prstGeom>
          <a:solidFill>
            <a:srgbClr val="000000">
              <a:alpha val="82000"/>
            </a:srgbClr>
          </a:solidFill>
          <a:ln w="12700">
            <a:solidFill>
              <a:srgbClr val="9DFF00">
                <a:alpha val="34000"/>
              </a:srgbClr>
            </a:solidFill>
            <a:prstDash val="solid"/>
          </a:ln>
        </p:spPr>
      </p:sp>
      <p:sp>
        <p:nvSpPr>
          <p:cNvPr id="53" name="Text 50"/>
          <p:cNvSpPr/>
          <p:nvPr/>
        </p:nvSpPr>
        <p:spPr>
          <a:xfrm>
            <a:off x="6629400" y="4370832"/>
            <a:ext cx="164592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False positives</a:t>
            </a:r>
            <a:endParaRPr lang="en-US" sz="1360" dirty="0"/>
          </a:p>
        </p:txBody>
      </p:sp>
      <p:sp>
        <p:nvSpPr>
          <p:cNvPr id="54" name="Text 51"/>
          <p:cNvSpPr/>
          <p:nvPr/>
        </p:nvSpPr>
        <p:spPr>
          <a:xfrm>
            <a:off x="6629400" y="4718304"/>
            <a:ext cx="4023360" cy="329184"/>
          </a:xfrm>
          <a:prstGeom prst="rect">
            <a:avLst/>
          </a:prstGeom>
          <a:noFill/>
          <a:ln/>
        </p:spPr>
        <p:txBody>
          <a:bodyPr wrap="square" lIns="254" tIns="254" rIns="254" bIns="254" rtlCol="0" anchor="t">
            <a:normAutofit/>
          </a:bodyPr>
          <a:lstStyle/>
          <a:p>
            <a:pPr algn="l" indent="0" marL="0">
              <a:buNone/>
            </a:pPr>
            <a:r>
              <a:rPr lang="en-US" sz="1030" dirty="0">
                <a:solidFill>
                  <a:srgbClr val="FFFFFF"/>
                </a:solidFill>
                <a:latin typeface="Aptos" pitchFamily="34" charset="0"/>
                <a:ea typeface="Aptos" pitchFamily="34" charset="-122"/>
                <a:cs typeface="Aptos" pitchFamily="34" charset="-120"/>
              </a:rPr>
              <a:t>Extra review. These are less costly if the action is monitoring, but problematic if the model were used for denial.</a:t>
            </a:r>
            <a:endParaRPr lang="en-US" sz="1030" dirty="0"/>
          </a:p>
        </p:txBody>
      </p:sp>
      <p:sp>
        <p:nvSpPr>
          <p:cNvPr id="55" name="Text 52"/>
          <p:cNvSpPr/>
          <p:nvPr/>
        </p:nvSpPr>
        <p:spPr>
          <a:xfrm>
            <a:off x="566928" y="6473952"/>
            <a:ext cx="6217920" cy="201168"/>
          </a:xfrm>
          <a:prstGeom prst="rect">
            <a:avLst/>
          </a:prstGeom>
          <a:noFill/>
          <a:ln/>
        </p:spPr>
        <p:txBody>
          <a:bodyPr wrap="square" lIns="0" tIns="0" rIns="0" bIns="0" rtlCol="0" anchor="ctr"/>
          <a:lstStyle/>
          <a:p>
            <a:pPr indent="0" marL="0">
              <a:buNone/>
            </a:pPr>
            <a:r>
              <a:rPr lang="en-US" sz="740" dirty="0">
                <a:solidFill>
                  <a:srgbClr val="C4CDC6"/>
                </a:solidFill>
              </a:rPr>
              <a:t>DATA 400 | SBA 7(a) Credit-Risk Mini Project</a:t>
            </a:r>
            <a:endParaRPr lang="en-US" sz="740" dirty="0"/>
          </a:p>
        </p:txBody>
      </p:sp>
      <p:sp>
        <p:nvSpPr>
          <p:cNvPr id="56" name="Text 53"/>
          <p:cNvSpPr/>
          <p:nvPr/>
        </p:nvSpPr>
        <p:spPr>
          <a:xfrm>
            <a:off x="11082528" y="6455664"/>
            <a:ext cx="502920" cy="201168"/>
          </a:xfrm>
          <a:prstGeom prst="rect">
            <a:avLst/>
          </a:prstGeom>
          <a:noFill/>
          <a:ln/>
        </p:spPr>
        <p:txBody>
          <a:bodyPr wrap="square" lIns="0" tIns="0" rIns="0" bIns="0" rtlCol="0" anchor="ctr"/>
          <a:lstStyle/>
          <a:p>
            <a:pPr algn="r" indent="0" marL="0">
              <a:buNone/>
            </a:pPr>
            <a:r>
              <a:rPr lang="en-US" sz="800" b="1" dirty="0">
                <a:solidFill>
                  <a:srgbClr val="9DFF00"/>
                </a:solidFill>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50607"/>
        </a:solidFill>
      </p:bgPr>
    </p:bg>
    <p:spTree>
      <p:nvGrpSpPr>
        <p:cNvPr id="1" name=""/>
        <p:cNvGrpSpPr/>
        <p:nvPr/>
      </p:nvGrpSpPr>
      <p:grpSpPr>
        <a:xfrm>
          <a:off x="0" y="0"/>
          <a:ext cx="0" cy="0"/>
          <a:chOff x="0" y="0"/>
          <a:chExt cx="0" cy="0"/>
        </a:xfrm>
      </p:grpSpPr>
      <p:pic>
        <p:nvPicPr>
          <p:cNvPr id="2" name="Image 0" descr="/mnt/data/sample_ppt_extract/ppt/media/dark_image5.jpeg">    </p:cNvPr>
          <p:cNvPicPr>
            <a:picLocks noChangeAspect="1"/>
          </p:cNvPicPr>
          <p:nvPr/>
        </p:nvPicPr>
        <p:blipFill>
          <a:blip r:embed="rId1"/>
          <a:srcRect l="0" r="0" t="7811" b="7811"/>
          <a:stretch/>
        </p:blipFill>
        <p:spPr>
          <a:xfrm>
            <a:off x="0" y="0"/>
            <a:ext cx="12191695" cy="6858000"/>
          </a:xfrm>
          <a:prstGeom prst="rect">
            <a:avLst/>
          </a:prstGeom>
        </p:spPr>
      </p:pic>
      <p:sp>
        <p:nvSpPr>
          <p:cNvPr id="3" name="Shape 0"/>
          <p:cNvSpPr/>
          <p:nvPr/>
        </p:nvSpPr>
        <p:spPr>
          <a:xfrm>
            <a:off x="201168" y="256032"/>
            <a:ext cx="50292" cy="6263640"/>
          </a:xfrm>
          <a:prstGeom prst="rect">
            <a:avLst/>
          </a:prstGeom>
          <a:solidFill>
            <a:srgbClr val="9DFF00"/>
          </a:solidFill>
          <a:ln w="12700">
            <a:solidFill>
              <a:srgbClr val="333333">
                <a:alpha val="0"/>
              </a:srgbClr>
            </a:solidFill>
            <a:prstDash val="solid"/>
          </a:ln>
        </p:spPr>
      </p:sp>
      <p:sp>
        <p:nvSpPr>
          <p:cNvPr id="4" name="Text 1"/>
          <p:cNvSpPr/>
          <p:nvPr/>
        </p:nvSpPr>
        <p:spPr>
          <a:xfrm>
            <a:off x="566928" y="310896"/>
            <a:ext cx="4754880" cy="228600"/>
          </a:xfrm>
          <a:prstGeom prst="rect">
            <a:avLst/>
          </a:prstGeom>
          <a:noFill/>
          <a:ln/>
        </p:spPr>
        <p:txBody>
          <a:bodyPr wrap="square" lIns="0" tIns="0" rIns="0" bIns="0" rtlCol="0" anchor="ctr">
            <a:normAutofit/>
          </a:bodyPr>
          <a:lstStyle/>
          <a:p>
            <a:pPr indent="0" marL="0">
              <a:buNone/>
            </a:pPr>
            <a:r>
              <a:rPr lang="en-US" sz="850" b="1" dirty="0">
                <a:solidFill>
                  <a:srgbClr val="9DFF00"/>
                </a:solidFill>
                <a:latin typeface="Aptos" pitchFamily="34" charset="0"/>
                <a:ea typeface="Aptos" pitchFamily="34" charset="-122"/>
                <a:cs typeface="Aptos" pitchFamily="34" charset="-120"/>
              </a:rPr>
              <a:t>LIMITATIONS AND NEXT IMPROVEMENTS</a:t>
            </a:r>
            <a:endParaRPr lang="en-US" sz="850" dirty="0"/>
          </a:p>
        </p:txBody>
      </p:sp>
      <p:sp>
        <p:nvSpPr>
          <p:cNvPr id="5" name="Text 2"/>
          <p:cNvSpPr/>
          <p:nvPr/>
        </p:nvSpPr>
        <p:spPr>
          <a:xfrm>
            <a:off x="566928" y="621792"/>
            <a:ext cx="10652760" cy="566928"/>
          </a:xfrm>
          <a:prstGeom prst="rect">
            <a:avLst/>
          </a:prstGeom>
          <a:noFill/>
          <a:ln/>
        </p:spPr>
        <p:txBody>
          <a:bodyPr wrap="square" lIns="0" tIns="0" rIns="0" bIns="0" rtlCol="0" anchor="ctr">
            <a:normAutofit/>
          </a:bodyPr>
          <a:lstStyle/>
          <a:p>
            <a:pPr indent="0" marL="0">
              <a:buNone/>
            </a:pPr>
            <a:r>
              <a:rPr lang="en-US" sz="2450" b="1" dirty="0">
                <a:solidFill>
                  <a:srgbClr val="FFFFFF"/>
                </a:solidFill>
                <a:latin typeface="Aptos Display" pitchFamily="34" charset="0"/>
                <a:ea typeface="Aptos Display" pitchFamily="34" charset="-122"/>
                <a:cs typeface="Aptos Display" pitchFamily="34" charset="-120"/>
              </a:rPr>
              <a:t>What would make the model more useful in practice?</a:t>
            </a:r>
            <a:endParaRPr lang="en-US" sz="2450" dirty="0"/>
          </a:p>
        </p:txBody>
      </p:sp>
      <p:sp>
        <p:nvSpPr>
          <p:cNvPr id="6" name="Shape 3"/>
          <p:cNvSpPr/>
          <p:nvPr/>
        </p:nvSpPr>
        <p:spPr>
          <a:xfrm>
            <a:off x="566928" y="1307592"/>
            <a:ext cx="10716768" cy="0"/>
          </a:xfrm>
          <a:prstGeom prst="line">
            <a:avLst/>
          </a:prstGeom>
          <a:noFill/>
          <a:ln w="13335">
            <a:solidFill>
              <a:srgbClr val="9DFF00">
                <a:alpha val="95000"/>
              </a:srgbClr>
            </a:solidFill>
            <a:prstDash val="solid"/>
          </a:ln>
        </p:spPr>
      </p:sp>
      <p:sp>
        <p:nvSpPr>
          <p:cNvPr id="7" name="Shape 4"/>
          <p:cNvSpPr/>
          <p:nvPr/>
        </p:nvSpPr>
        <p:spPr>
          <a:xfrm>
            <a:off x="731520" y="1691640"/>
            <a:ext cx="5074920" cy="3108960"/>
          </a:xfrm>
          <a:prstGeom prst="roundRect">
            <a:avLst>
              <a:gd name="adj" fmla="val 2353"/>
            </a:avLst>
          </a:prstGeom>
          <a:solidFill>
            <a:srgbClr val="000000">
              <a:alpha val="82000"/>
            </a:srgbClr>
          </a:solidFill>
          <a:ln w="12700">
            <a:solidFill>
              <a:srgbClr val="9DFF00">
                <a:alpha val="34000"/>
              </a:srgbClr>
            </a:solidFill>
            <a:prstDash val="solid"/>
          </a:ln>
        </p:spPr>
      </p:sp>
      <p:sp>
        <p:nvSpPr>
          <p:cNvPr id="8" name="Text 5"/>
          <p:cNvSpPr/>
          <p:nvPr/>
        </p:nvSpPr>
        <p:spPr>
          <a:xfrm>
            <a:off x="987552" y="1920240"/>
            <a:ext cx="164592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Limitations</a:t>
            </a:r>
            <a:endParaRPr lang="en-US" sz="1360" dirty="0"/>
          </a:p>
        </p:txBody>
      </p:sp>
      <p:sp>
        <p:nvSpPr>
          <p:cNvPr id="9" name="Text 6"/>
          <p:cNvSpPr/>
          <p:nvPr/>
        </p:nvSpPr>
        <p:spPr>
          <a:xfrm>
            <a:off x="1097280" y="2286000"/>
            <a:ext cx="3977640" cy="1463040"/>
          </a:xfrm>
          <a:prstGeom prst="rect">
            <a:avLst/>
          </a:prstGeom>
          <a:noFill/>
          <a:ln/>
        </p:spPr>
        <p:txBody>
          <a:bodyPr wrap="square" lIns="254" tIns="254" rIns="254" bIns="254" rtlCol="0" anchor="ctr">
            <a:normAutofit/>
          </a:bodyPr>
          <a:lstStyle/>
          <a:p>
            <a:r>
              <a:rPr lang="en-US" sz="990" dirty="0">
                <a:solidFill>
                  <a:srgbClr val="FFFFFF"/>
                </a:solidFill>
                <a:latin typeface="Aptos" pitchFamily="34" charset="0"/>
                <a:ea typeface="Aptos" pitchFamily="34" charset="-122"/>
                <a:cs typeface="Aptos" pitchFamily="34" charset="-120"/>
              </a:rPr>
              <a:t>Rare event: only 3.76% overall charge-off rate.</a:t>
            </a:r>
            <a:endParaRPr lang="en-US" sz="990" dirty="0"/>
          </a:p>
          <a:p>
            <a:r>
              <a:rPr lang="en-US" sz="990" dirty="0">
                <a:solidFill>
                  <a:srgbClr val="FFFFFF"/>
                </a:solidFill>
                <a:latin typeface="Aptos" pitchFamily="34" charset="0"/>
                <a:ea typeface="Aptos" pitchFamily="34" charset="-122"/>
                <a:cs typeface="Aptos" pitchFamily="34" charset="-120"/>
              </a:rPr>
              <a:t>Public SBA data is not a full underwriting file.</a:t>
            </a:r>
            <a:endParaRPr lang="en-US" sz="990" dirty="0"/>
          </a:p>
          <a:p>
            <a:r>
              <a:rPr lang="en-US" sz="990" dirty="0">
                <a:solidFill>
                  <a:srgbClr val="FFFFFF"/>
                </a:solidFill>
                <a:latin typeface="Aptos" pitchFamily="34" charset="0"/>
                <a:ea typeface="Aptos" pitchFamily="34" charset="-122"/>
                <a:cs typeface="Aptos" pitchFamily="34" charset="-120"/>
              </a:rPr>
              <a:t>No FICO, DSCR, borrower financials, collateral value, or lender behavior.</a:t>
            </a:r>
            <a:endParaRPr lang="en-US" sz="990" dirty="0"/>
          </a:p>
          <a:p>
            <a:r>
              <a:rPr lang="en-US" sz="990" dirty="0">
                <a:solidFill>
                  <a:srgbClr val="FFFFFF"/>
                </a:solidFill>
                <a:latin typeface="Aptos" pitchFamily="34" charset="0"/>
                <a:ea typeface="Aptos" pitchFamily="34" charset="-122"/>
                <a:cs typeface="Aptos" pitchFamily="34" charset="-120"/>
              </a:rPr>
              <a:t>Performance can drift when macro conditions and underwriting standards change.</a:t>
            </a:r>
            <a:endParaRPr lang="en-US" sz="990" dirty="0"/>
          </a:p>
        </p:txBody>
      </p:sp>
      <p:sp>
        <p:nvSpPr>
          <p:cNvPr id="10" name="Shape 7"/>
          <p:cNvSpPr/>
          <p:nvPr/>
        </p:nvSpPr>
        <p:spPr>
          <a:xfrm>
            <a:off x="6263640" y="1691640"/>
            <a:ext cx="5074920" cy="3108960"/>
          </a:xfrm>
          <a:prstGeom prst="roundRect">
            <a:avLst>
              <a:gd name="adj" fmla="val 2353"/>
            </a:avLst>
          </a:prstGeom>
          <a:solidFill>
            <a:srgbClr val="000000">
              <a:alpha val="82000"/>
            </a:srgbClr>
          </a:solidFill>
          <a:ln w="12700">
            <a:solidFill>
              <a:srgbClr val="9DFF00">
                <a:alpha val="34000"/>
              </a:srgbClr>
            </a:solidFill>
            <a:prstDash val="solid"/>
          </a:ln>
        </p:spPr>
      </p:sp>
      <p:sp>
        <p:nvSpPr>
          <p:cNvPr id="11" name="Text 8"/>
          <p:cNvSpPr/>
          <p:nvPr/>
        </p:nvSpPr>
        <p:spPr>
          <a:xfrm>
            <a:off x="6519672" y="1920240"/>
            <a:ext cx="192024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Next improvements</a:t>
            </a:r>
            <a:endParaRPr lang="en-US" sz="1360" dirty="0"/>
          </a:p>
        </p:txBody>
      </p:sp>
      <p:sp>
        <p:nvSpPr>
          <p:cNvPr id="12" name="Text 9"/>
          <p:cNvSpPr/>
          <p:nvPr/>
        </p:nvSpPr>
        <p:spPr>
          <a:xfrm>
            <a:off x="6629400" y="2286000"/>
            <a:ext cx="3977640" cy="1325880"/>
          </a:xfrm>
          <a:prstGeom prst="rect">
            <a:avLst/>
          </a:prstGeom>
          <a:noFill/>
          <a:ln/>
        </p:spPr>
        <p:txBody>
          <a:bodyPr wrap="square" lIns="254" tIns="254" rIns="254" bIns="254" rtlCol="0" anchor="ctr">
            <a:normAutofit/>
          </a:bodyPr>
          <a:lstStyle/>
          <a:p>
            <a:r>
              <a:rPr lang="en-US" sz="990" dirty="0">
                <a:solidFill>
                  <a:srgbClr val="FFFFFF"/>
                </a:solidFill>
                <a:latin typeface="Aptos" pitchFamily="34" charset="0"/>
                <a:ea typeface="Aptos" pitchFamily="34" charset="-122"/>
                <a:cs typeface="Aptos" pitchFamily="34" charset="-120"/>
              </a:rPr>
              <a:t>Add borrower financial ratios and lender-level variables.</a:t>
            </a:r>
            <a:endParaRPr lang="en-US" sz="990" dirty="0"/>
          </a:p>
          <a:p>
            <a:r>
              <a:rPr lang="en-US" sz="990" dirty="0">
                <a:solidFill>
                  <a:srgbClr val="FFFFFF"/>
                </a:solidFill>
                <a:latin typeface="Aptos" pitchFamily="34" charset="0"/>
                <a:ea typeface="Aptos" pitchFamily="34" charset="-122"/>
                <a:cs typeface="Aptos" pitchFamily="34" charset="-120"/>
              </a:rPr>
              <a:t>Calibrate probabilities and report decile lift.</a:t>
            </a:r>
            <a:endParaRPr lang="en-US" sz="990" dirty="0"/>
          </a:p>
          <a:p>
            <a:r>
              <a:rPr lang="en-US" sz="990" dirty="0">
                <a:solidFill>
                  <a:srgbClr val="FFFFFF"/>
                </a:solidFill>
                <a:latin typeface="Aptos" pitchFamily="34" charset="0"/>
                <a:ea typeface="Aptos" pitchFamily="34" charset="-122"/>
                <a:cs typeface="Aptos" pitchFamily="34" charset="-120"/>
              </a:rPr>
              <a:t>Tune threshold using a business cost function.</a:t>
            </a:r>
            <a:endParaRPr lang="en-US" sz="990" dirty="0"/>
          </a:p>
          <a:p>
            <a:r>
              <a:rPr lang="en-US" sz="990" dirty="0">
                <a:solidFill>
                  <a:srgbClr val="FFFFFF"/>
                </a:solidFill>
                <a:latin typeface="Aptos" pitchFamily="34" charset="0"/>
                <a:ea typeface="Aptos" pitchFamily="34" charset="-122"/>
                <a:cs typeface="Aptos" pitchFamily="34" charset="-120"/>
              </a:rPr>
              <a:t>Monitor performance by year, sector, and borrower segment.</a:t>
            </a:r>
            <a:endParaRPr lang="en-US" sz="990" dirty="0"/>
          </a:p>
        </p:txBody>
      </p:sp>
      <p:sp>
        <p:nvSpPr>
          <p:cNvPr id="13" name="Shape 10"/>
          <p:cNvSpPr/>
          <p:nvPr/>
        </p:nvSpPr>
        <p:spPr>
          <a:xfrm>
            <a:off x="960120" y="5230368"/>
            <a:ext cx="10104120" cy="475488"/>
          </a:xfrm>
          <a:prstGeom prst="roundRect">
            <a:avLst>
              <a:gd name="adj" fmla="val 15385"/>
            </a:avLst>
          </a:prstGeom>
          <a:solidFill>
            <a:srgbClr val="000000">
              <a:alpha val="88000"/>
            </a:srgbClr>
          </a:solidFill>
          <a:ln w="12700">
            <a:solidFill>
              <a:srgbClr val="9DFF00">
                <a:alpha val="34000"/>
              </a:srgbClr>
            </a:solidFill>
            <a:prstDash val="solid"/>
          </a:ln>
        </p:spPr>
      </p:sp>
      <p:sp>
        <p:nvSpPr>
          <p:cNvPr id="14" name="Text 11"/>
          <p:cNvSpPr/>
          <p:nvPr/>
        </p:nvSpPr>
        <p:spPr>
          <a:xfrm>
            <a:off x="1188720" y="5367528"/>
            <a:ext cx="9601200" cy="164592"/>
          </a:xfrm>
          <a:prstGeom prst="rect">
            <a:avLst/>
          </a:prstGeom>
          <a:noFill/>
          <a:ln/>
        </p:spPr>
        <p:txBody>
          <a:bodyPr wrap="square" lIns="254" tIns="254" rIns="254" bIns="254" rtlCol="0" anchor="t">
            <a:normAutofit/>
          </a:bodyPr>
          <a:lstStyle/>
          <a:p>
            <a:pPr algn="ctr" indent="0" marL="0">
              <a:buNone/>
            </a:pPr>
            <a:r>
              <a:rPr lang="en-US" sz="1400" b="1" dirty="0">
                <a:solidFill>
                  <a:srgbClr val="9DFF00"/>
                </a:solidFill>
                <a:latin typeface="Aptos" pitchFamily="34" charset="0"/>
                <a:ea typeface="Aptos" pitchFamily="34" charset="-122"/>
                <a:cs typeface="Aptos" pitchFamily="34" charset="-120"/>
              </a:rPr>
              <a:t>Best current use: rank loans for additional human review and portfolio monitoring.</a:t>
            </a:r>
            <a:endParaRPr lang="en-US" sz="1400" dirty="0"/>
          </a:p>
        </p:txBody>
      </p:sp>
      <p:sp>
        <p:nvSpPr>
          <p:cNvPr id="15" name="Text 12"/>
          <p:cNvSpPr/>
          <p:nvPr/>
        </p:nvSpPr>
        <p:spPr>
          <a:xfrm>
            <a:off x="566928" y="6473952"/>
            <a:ext cx="6217920" cy="201168"/>
          </a:xfrm>
          <a:prstGeom prst="rect">
            <a:avLst/>
          </a:prstGeom>
          <a:noFill/>
          <a:ln/>
        </p:spPr>
        <p:txBody>
          <a:bodyPr wrap="square" lIns="0" tIns="0" rIns="0" bIns="0" rtlCol="0" anchor="ctr"/>
          <a:lstStyle/>
          <a:p>
            <a:pPr indent="0" marL="0">
              <a:buNone/>
            </a:pPr>
            <a:r>
              <a:rPr lang="en-US" sz="740" dirty="0">
                <a:solidFill>
                  <a:srgbClr val="C4CDC6"/>
                </a:solidFill>
              </a:rPr>
              <a:t>DATA 400 | SBA 7(a) Credit-Risk Mini Project</a:t>
            </a:r>
            <a:endParaRPr lang="en-US" sz="740" dirty="0"/>
          </a:p>
        </p:txBody>
      </p:sp>
      <p:sp>
        <p:nvSpPr>
          <p:cNvPr id="16" name="Text 13"/>
          <p:cNvSpPr/>
          <p:nvPr/>
        </p:nvSpPr>
        <p:spPr>
          <a:xfrm>
            <a:off x="11082528" y="6455664"/>
            <a:ext cx="502920" cy="201168"/>
          </a:xfrm>
          <a:prstGeom prst="rect">
            <a:avLst/>
          </a:prstGeom>
          <a:noFill/>
          <a:ln/>
        </p:spPr>
        <p:txBody>
          <a:bodyPr wrap="square" lIns="0" tIns="0" rIns="0" bIns="0" rtlCol="0" anchor="ctr"/>
          <a:lstStyle/>
          <a:p>
            <a:pPr algn="r" indent="0" marL="0">
              <a:buNone/>
            </a:pPr>
            <a:r>
              <a:rPr lang="en-US" sz="800" b="1" dirty="0">
                <a:solidFill>
                  <a:srgbClr val="9DFF00"/>
                </a:solidFill>
              </a:rPr>
              <a:t>21</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50607"/>
        </a:solidFill>
      </p:bgPr>
    </p:bg>
    <p:spTree>
      <p:nvGrpSpPr>
        <p:cNvPr id="1" name=""/>
        <p:cNvGrpSpPr/>
        <p:nvPr/>
      </p:nvGrpSpPr>
      <p:grpSpPr>
        <a:xfrm>
          <a:off x="0" y="0"/>
          <a:ext cx="0" cy="0"/>
          <a:chOff x="0" y="0"/>
          <a:chExt cx="0" cy="0"/>
        </a:xfrm>
      </p:grpSpPr>
      <p:pic>
        <p:nvPicPr>
          <p:cNvPr id="2" name="Image 0" descr="/mnt/data/sample_ppt_extract/ppt/media/dark_image1.jpeg">    </p:cNvPr>
          <p:cNvPicPr>
            <a:picLocks noChangeAspect="1"/>
          </p:cNvPicPr>
          <p:nvPr/>
        </p:nvPicPr>
        <p:blipFill>
          <a:blip r:embed="rId1"/>
          <a:srcRect l="0" r="0" t="4004" b="4004"/>
          <a:stretch/>
        </p:blipFill>
        <p:spPr>
          <a:xfrm>
            <a:off x="0" y="0"/>
            <a:ext cx="12191695" cy="6858000"/>
          </a:xfrm>
          <a:prstGeom prst="rect">
            <a:avLst/>
          </a:prstGeom>
        </p:spPr>
      </p:pic>
      <p:sp>
        <p:nvSpPr>
          <p:cNvPr id="3" name="Shape 0"/>
          <p:cNvSpPr/>
          <p:nvPr/>
        </p:nvSpPr>
        <p:spPr>
          <a:xfrm>
            <a:off x="201168" y="256032"/>
            <a:ext cx="50292" cy="6263640"/>
          </a:xfrm>
          <a:prstGeom prst="rect">
            <a:avLst/>
          </a:prstGeom>
          <a:solidFill>
            <a:srgbClr val="9DFF00"/>
          </a:solidFill>
          <a:ln w="12700">
            <a:solidFill>
              <a:srgbClr val="333333">
                <a:alpha val="0"/>
              </a:srgbClr>
            </a:solidFill>
            <a:prstDash val="solid"/>
          </a:ln>
        </p:spPr>
      </p:sp>
      <p:sp>
        <p:nvSpPr>
          <p:cNvPr id="4" name="Text 1"/>
          <p:cNvSpPr/>
          <p:nvPr/>
        </p:nvSpPr>
        <p:spPr>
          <a:xfrm>
            <a:off x="566928" y="310896"/>
            <a:ext cx="4754880" cy="228600"/>
          </a:xfrm>
          <a:prstGeom prst="rect">
            <a:avLst/>
          </a:prstGeom>
          <a:noFill/>
          <a:ln/>
        </p:spPr>
        <p:txBody>
          <a:bodyPr wrap="square" lIns="0" tIns="0" rIns="0" bIns="0" rtlCol="0" anchor="ctr">
            <a:normAutofit/>
          </a:bodyPr>
          <a:lstStyle/>
          <a:p>
            <a:pPr indent="0" marL="0">
              <a:buNone/>
            </a:pPr>
            <a:r>
              <a:rPr lang="en-US" sz="850" b="1" dirty="0">
                <a:solidFill>
                  <a:srgbClr val="9DFF00"/>
                </a:solidFill>
                <a:latin typeface="Aptos" pitchFamily="34" charset="0"/>
                <a:ea typeface="Aptos" pitchFamily="34" charset="-122"/>
                <a:cs typeface="Aptos" pitchFamily="34" charset="-120"/>
              </a:rPr>
              <a:t>CONCLUSION</a:t>
            </a:r>
            <a:endParaRPr lang="en-US" sz="850" dirty="0"/>
          </a:p>
        </p:txBody>
      </p:sp>
      <p:sp>
        <p:nvSpPr>
          <p:cNvPr id="5" name="Text 2"/>
          <p:cNvSpPr/>
          <p:nvPr/>
        </p:nvSpPr>
        <p:spPr>
          <a:xfrm>
            <a:off x="566928" y="621792"/>
            <a:ext cx="10652760" cy="566928"/>
          </a:xfrm>
          <a:prstGeom prst="rect">
            <a:avLst/>
          </a:prstGeom>
          <a:noFill/>
          <a:ln/>
        </p:spPr>
        <p:txBody>
          <a:bodyPr wrap="square" lIns="0" tIns="0" rIns="0" bIns="0" rtlCol="0" anchor="ctr">
            <a:normAutofit/>
          </a:bodyPr>
          <a:lstStyle/>
          <a:p>
            <a:pPr indent="0" marL="0">
              <a:buNone/>
            </a:pPr>
            <a:r>
              <a:rPr lang="en-US" sz="2450" b="1" dirty="0">
                <a:solidFill>
                  <a:srgbClr val="FFFFFF"/>
                </a:solidFill>
                <a:latin typeface="Aptos Display" pitchFamily="34" charset="0"/>
                <a:ea typeface="Aptos Display" pitchFamily="34" charset="-122"/>
                <a:cs typeface="Aptos Display" pitchFamily="34" charset="-120"/>
              </a:rPr>
              <a:t>Useful ranking signal, not a standalone decision system</a:t>
            </a:r>
            <a:endParaRPr lang="en-US" sz="2450" dirty="0"/>
          </a:p>
        </p:txBody>
      </p:sp>
      <p:sp>
        <p:nvSpPr>
          <p:cNvPr id="6" name="Shape 3"/>
          <p:cNvSpPr/>
          <p:nvPr/>
        </p:nvSpPr>
        <p:spPr>
          <a:xfrm>
            <a:off x="566928" y="1307592"/>
            <a:ext cx="10716768" cy="0"/>
          </a:xfrm>
          <a:prstGeom prst="line">
            <a:avLst/>
          </a:prstGeom>
          <a:noFill/>
          <a:ln w="13335">
            <a:solidFill>
              <a:srgbClr val="9DFF00">
                <a:alpha val="95000"/>
              </a:srgbClr>
            </a:solidFill>
            <a:prstDash val="solid"/>
          </a:ln>
        </p:spPr>
      </p:sp>
      <p:sp>
        <p:nvSpPr>
          <p:cNvPr id="7" name="Shape 4"/>
          <p:cNvSpPr/>
          <p:nvPr/>
        </p:nvSpPr>
        <p:spPr>
          <a:xfrm>
            <a:off x="777240" y="1673352"/>
            <a:ext cx="5120640" cy="3017520"/>
          </a:xfrm>
          <a:prstGeom prst="roundRect">
            <a:avLst>
              <a:gd name="adj" fmla="val 2424"/>
            </a:avLst>
          </a:prstGeom>
          <a:solidFill>
            <a:srgbClr val="000000">
              <a:alpha val="82000"/>
            </a:srgbClr>
          </a:solidFill>
          <a:ln w="12700">
            <a:solidFill>
              <a:srgbClr val="9DFF00">
                <a:alpha val="34000"/>
              </a:srgbClr>
            </a:solidFill>
            <a:prstDash val="solid"/>
          </a:ln>
        </p:spPr>
      </p:sp>
      <p:sp>
        <p:nvSpPr>
          <p:cNvPr id="8" name="Text 5"/>
          <p:cNvSpPr/>
          <p:nvPr/>
        </p:nvSpPr>
        <p:spPr>
          <a:xfrm>
            <a:off x="1024128" y="1892808"/>
            <a:ext cx="1828800" cy="210312"/>
          </a:xfrm>
          <a:prstGeom prst="rect">
            <a:avLst/>
          </a:prstGeom>
          <a:noFill/>
          <a:ln/>
        </p:spPr>
        <p:txBody>
          <a:bodyPr wrap="square" lIns="254" tIns="254" rIns="254" bIns="254" rtlCol="0" anchor="t">
            <a:normAutofit/>
          </a:bodyPr>
          <a:lstStyle/>
          <a:p>
            <a:pPr algn="l" indent="0" marL="0">
              <a:buNone/>
            </a:pPr>
            <a:r>
              <a:rPr lang="en-US" sz="1360" b="1" dirty="0">
                <a:solidFill>
                  <a:srgbClr val="9DFF00"/>
                </a:solidFill>
                <a:latin typeface="Aptos" pitchFamily="34" charset="0"/>
                <a:ea typeface="Aptos" pitchFamily="34" charset="-122"/>
                <a:cs typeface="Aptos" pitchFamily="34" charset="-120"/>
              </a:rPr>
              <a:t>Main takeaways</a:t>
            </a:r>
            <a:endParaRPr lang="en-US" sz="1360" dirty="0"/>
          </a:p>
        </p:txBody>
      </p:sp>
      <p:sp>
        <p:nvSpPr>
          <p:cNvPr id="9" name="Text 6"/>
          <p:cNvSpPr/>
          <p:nvPr/>
        </p:nvSpPr>
        <p:spPr>
          <a:xfrm>
            <a:off x="1133856" y="2249424"/>
            <a:ext cx="3977640" cy="1508760"/>
          </a:xfrm>
          <a:prstGeom prst="rect">
            <a:avLst/>
          </a:prstGeom>
          <a:noFill/>
          <a:ln/>
        </p:spPr>
        <p:txBody>
          <a:bodyPr wrap="square" lIns="254" tIns="254" rIns="254" bIns="254" rtlCol="0" anchor="ctr">
            <a:normAutofit/>
          </a:bodyPr>
          <a:lstStyle/>
          <a:p>
            <a:r>
              <a:rPr lang="en-US" sz="990" dirty="0">
                <a:solidFill>
                  <a:srgbClr val="FFFFFF"/>
                </a:solidFill>
                <a:latin typeface="Aptos" pitchFamily="34" charset="0"/>
                <a:ea typeface="Aptos" pitchFamily="34" charset="-122"/>
                <a:cs typeface="Aptos" pitchFamily="34" charset="-120"/>
              </a:rPr>
              <a:t>Built a valid five-year charge-off target.</a:t>
            </a:r>
            <a:endParaRPr lang="en-US" sz="990" dirty="0"/>
          </a:p>
          <a:p>
            <a:r>
              <a:rPr lang="en-US" sz="990" dirty="0">
                <a:solidFill>
                  <a:srgbClr val="FFFFFF"/>
                </a:solidFill>
                <a:latin typeface="Aptos" pitchFamily="34" charset="0"/>
                <a:ea typeface="Aptos" pitchFamily="34" charset="-122"/>
                <a:cs typeface="Aptos" pitchFamily="34" charset="-120"/>
              </a:rPr>
              <a:t>Used time-based validation and locked test evaluation.</a:t>
            </a:r>
            <a:endParaRPr lang="en-US" sz="990" dirty="0"/>
          </a:p>
          <a:p>
            <a:r>
              <a:rPr lang="en-US" sz="990" dirty="0">
                <a:solidFill>
                  <a:srgbClr val="FFFFFF"/>
                </a:solidFill>
                <a:latin typeface="Aptos" pitchFamily="34" charset="0"/>
                <a:ea typeface="Aptos" pitchFamily="34" charset="-122"/>
                <a:cs typeface="Aptos" pitchFamily="34" charset="-120"/>
              </a:rPr>
              <a:t>Selected Random Forest on validation PR-AUC.</a:t>
            </a:r>
            <a:endParaRPr lang="en-US" sz="990" dirty="0"/>
          </a:p>
          <a:p>
            <a:r>
              <a:rPr lang="en-US" sz="990" dirty="0">
                <a:solidFill>
                  <a:srgbClr val="FFFFFF"/>
                </a:solidFill>
                <a:latin typeface="Aptos" pitchFamily="34" charset="0"/>
                <a:ea typeface="Aptos" pitchFamily="34" charset="-122"/>
                <a:cs typeface="Aptos" pitchFamily="34" charset="-120"/>
              </a:rPr>
              <a:t>Test precision = 42.6% vs 2.36% base rate.</a:t>
            </a:r>
            <a:endParaRPr lang="en-US" sz="990" dirty="0"/>
          </a:p>
          <a:p>
            <a:r>
              <a:rPr lang="en-US" sz="990" dirty="0">
                <a:solidFill>
                  <a:srgbClr val="FFFFFF"/>
                </a:solidFill>
                <a:latin typeface="Aptos" pitchFamily="34" charset="0"/>
                <a:ea typeface="Aptos" pitchFamily="34" charset="-122"/>
                <a:cs typeface="Aptos" pitchFamily="34" charset="-120"/>
              </a:rPr>
              <a:t>Recall = 31.4%, so many charge-offs are still missed.</a:t>
            </a:r>
            <a:endParaRPr lang="en-US" sz="990" dirty="0"/>
          </a:p>
        </p:txBody>
      </p:sp>
      <p:sp>
        <p:nvSpPr>
          <p:cNvPr id="10" name="Shape 7"/>
          <p:cNvSpPr/>
          <p:nvPr/>
        </p:nvSpPr>
        <p:spPr>
          <a:xfrm>
            <a:off x="6400800" y="1673352"/>
            <a:ext cx="4663440" cy="3017520"/>
          </a:xfrm>
          <a:prstGeom prst="roundRect">
            <a:avLst>
              <a:gd name="adj" fmla="val 2424"/>
            </a:avLst>
          </a:prstGeom>
          <a:solidFill>
            <a:srgbClr val="000000">
              <a:alpha val="82000"/>
            </a:srgbClr>
          </a:solidFill>
          <a:ln w="12700">
            <a:solidFill>
              <a:srgbClr val="9DFF00">
                <a:alpha val="34000"/>
              </a:srgbClr>
            </a:solidFill>
            <a:prstDash val="solid"/>
          </a:ln>
        </p:spPr>
      </p:sp>
      <p:sp>
        <p:nvSpPr>
          <p:cNvPr id="11" name="Text 8"/>
          <p:cNvSpPr/>
          <p:nvPr/>
        </p:nvSpPr>
        <p:spPr>
          <a:xfrm>
            <a:off x="6720840" y="2029968"/>
            <a:ext cx="1325880" cy="347472"/>
          </a:xfrm>
          <a:prstGeom prst="rect">
            <a:avLst/>
          </a:prstGeom>
          <a:noFill/>
          <a:ln/>
        </p:spPr>
        <p:txBody>
          <a:bodyPr wrap="square" lIns="254" tIns="254" rIns="254" bIns="254" rtlCol="0" anchor="t">
            <a:normAutofit/>
          </a:bodyPr>
          <a:lstStyle/>
          <a:p>
            <a:pPr algn="ctr" indent="0" marL="0">
              <a:buNone/>
            </a:pPr>
            <a:r>
              <a:rPr lang="en-US" sz="2100" b="1" dirty="0">
                <a:solidFill>
                  <a:srgbClr val="9DFF00"/>
                </a:solidFill>
                <a:latin typeface="Aptos" pitchFamily="34" charset="0"/>
                <a:ea typeface="Aptos" pitchFamily="34" charset="-122"/>
                <a:cs typeface="Aptos" pitchFamily="34" charset="-120"/>
              </a:rPr>
              <a:t>0.352</a:t>
            </a:r>
            <a:endParaRPr lang="en-US" sz="2100" dirty="0"/>
          </a:p>
        </p:txBody>
      </p:sp>
      <p:sp>
        <p:nvSpPr>
          <p:cNvPr id="12" name="Text 9"/>
          <p:cNvSpPr/>
          <p:nvPr/>
        </p:nvSpPr>
        <p:spPr>
          <a:xfrm>
            <a:off x="6720840" y="2414016"/>
            <a:ext cx="1325880" cy="329184"/>
          </a:xfrm>
          <a:prstGeom prst="rect">
            <a:avLst/>
          </a:prstGeom>
          <a:noFill/>
          <a:ln/>
        </p:spPr>
        <p:txBody>
          <a:bodyPr wrap="square" lIns="254" tIns="254" rIns="254" bIns="254" rtlCol="0" anchor="t">
            <a:normAutofit/>
          </a:bodyPr>
          <a:lstStyle/>
          <a:p>
            <a:pPr algn="ctr" indent="0" marL="0">
              <a:buNone/>
            </a:pPr>
            <a:r>
              <a:rPr lang="en-US" sz="840" dirty="0">
                <a:solidFill>
                  <a:srgbClr val="C4CDC6"/>
                </a:solidFill>
                <a:latin typeface="Aptos" pitchFamily="34" charset="0"/>
                <a:ea typeface="Aptos" pitchFamily="34" charset="-122"/>
                <a:cs typeface="Aptos" pitchFamily="34" charset="-120"/>
              </a:rPr>
              <a:t>test PR-AUC</a:t>
            </a:r>
            <a:endParaRPr lang="en-US" sz="840" dirty="0"/>
          </a:p>
        </p:txBody>
      </p:sp>
      <p:sp>
        <p:nvSpPr>
          <p:cNvPr id="13" name="Text 10"/>
          <p:cNvSpPr/>
          <p:nvPr/>
        </p:nvSpPr>
        <p:spPr>
          <a:xfrm>
            <a:off x="8549640" y="2029968"/>
            <a:ext cx="1325880" cy="347472"/>
          </a:xfrm>
          <a:prstGeom prst="rect">
            <a:avLst/>
          </a:prstGeom>
          <a:noFill/>
          <a:ln/>
        </p:spPr>
        <p:txBody>
          <a:bodyPr wrap="square" lIns="254" tIns="254" rIns="254" bIns="254" rtlCol="0" anchor="t">
            <a:normAutofit/>
          </a:bodyPr>
          <a:lstStyle/>
          <a:p>
            <a:pPr algn="ctr" indent="0" marL="0">
              <a:buNone/>
            </a:pPr>
            <a:r>
              <a:rPr lang="en-US" sz="2100" b="1" dirty="0">
                <a:solidFill>
                  <a:srgbClr val="9DFF00"/>
                </a:solidFill>
                <a:latin typeface="Aptos" pitchFamily="34" charset="0"/>
                <a:ea typeface="Aptos" pitchFamily="34" charset="-122"/>
                <a:cs typeface="Aptos" pitchFamily="34" charset="-120"/>
              </a:rPr>
              <a:t>0.931</a:t>
            </a:r>
            <a:endParaRPr lang="en-US" sz="2100" dirty="0"/>
          </a:p>
        </p:txBody>
      </p:sp>
      <p:sp>
        <p:nvSpPr>
          <p:cNvPr id="14" name="Text 11"/>
          <p:cNvSpPr/>
          <p:nvPr/>
        </p:nvSpPr>
        <p:spPr>
          <a:xfrm>
            <a:off x="8549640" y="2414016"/>
            <a:ext cx="1325880" cy="329184"/>
          </a:xfrm>
          <a:prstGeom prst="rect">
            <a:avLst/>
          </a:prstGeom>
          <a:noFill/>
          <a:ln/>
        </p:spPr>
        <p:txBody>
          <a:bodyPr wrap="square" lIns="254" tIns="254" rIns="254" bIns="254" rtlCol="0" anchor="t">
            <a:normAutofit/>
          </a:bodyPr>
          <a:lstStyle/>
          <a:p>
            <a:pPr algn="ctr" indent="0" marL="0">
              <a:buNone/>
            </a:pPr>
            <a:r>
              <a:rPr lang="en-US" sz="840" dirty="0">
                <a:solidFill>
                  <a:srgbClr val="C4CDC6"/>
                </a:solidFill>
                <a:latin typeface="Aptos" pitchFamily="34" charset="0"/>
                <a:ea typeface="Aptos" pitchFamily="34" charset="-122"/>
                <a:cs typeface="Aptos" pitchFamily="34" charset="-120"/>
              </a:rPr>
              <a:t>test ROC-AUC</a:t>
            </a:r>
            <a:endParaRPr lang="en-US" sz="840" dirty="0"/>
          </a:p>
        </p:txBody>
      </p:sp>
      <p:sp>
        <p:nvSpPr>
          <p:cNvPr id="15" name="Text 12"/>
          <p:cNvSpPr/>
          <p:nvPr/>
        </p:nvSpPr>
        <p:spPr>
          <a:xfrm>
            <a:off x="6720840" y="3255264"/>
            <a:ext cx="1325880" cy="347472"/>
          </a:xfrm>
          <a:prstGeom prst="rect">
            <a:avLst/>
          </a:prstGeom>
          <a:noFill/>
          <a:ln/>
        </p:spPr>
        <p:txBody>
          <a:bodyPr wrap="square" lIns="254" tIns="254" rIns="254" bIns="254" rtlCol="0" anchor="t">
            <a:normAutofit/>
          </a:bodyPr>
          <a:lstStyle/>
          <a:p>
            <a:pPr algn="ctr" indent="0" marL="0">
              <a:buNone/>
            </a:pPr>
            <a:r>
              <a:rPr lang="en-US" sz="2100" b="1" dirty="0">
                <a:solidFill>
                  <a:srgbClr val="9DFF00"/>
                </a:solidFill>
                <a:latin typeface="Aptos" pitchFamily="34" charset="0"/>
                <a:ea typeface="Aptos" pitchFamily="34" charset="-122"/>
                <a:cs typeface="Aptos" pitchFamily="34" charset="-120"/>
              </a:rPr>
              <a:t>42.6%</a:t>
            </a:r>
            <a:endParaRPr lang="en-US" sz="2100" dirty="0"/>
          </a:p>
        </p:txBody>
      </p:sp>
      <p:sp>
        <p:nvSpPr>
          <p:cNvPr id="16" name="Text 13"/>
          <p:cNvSpPr/>
          <p:nvPr/>
        </p:nvSpPr>
        <p:spPr>
          <a:xfrm>
            <a:off x="6720840" y="3639312"/>
            <a:ext cx="1325880" cy="329184"/>
          </a:xfrm>
          <a:prstGeom prst="rect">
            <a:avLst/>
          </a:prstGeom>
          <a:noFill/>
          <a:ln/>
        </p:spPr>
        <p:txBody>
          <a:bodyPr wrap="square" lIns="254" tIns="254" rIns="254" bIns="254" rtlCol="0" anchor="t">
            <a:normAutofit/>
          </a:bodyPr>
          <a:lstStyle/>
          <a:p>
            <a:pPr algn="ctr" indent="0" marL="0">
              <a:buNone/>
            </a:pPr>
            <a:r>
              <a:rPr lang="en-US" sz="840" dirty="0">
                <a:solidFill>
                  <a:srgbClr val="C4CDC6"/>
                </a:solidFill>
                <a:latin typeface="Aptos" pitchFamily="34" charset="0"/>
                <a:ea typeface="Aptos" pitchFamily="34" charset="-122"/>
                <a:cs typeface="Aptos" pitchFamily="34" charset="-120"/>
              </a:rPr>
              <a:t>test precision</a:t>
            </a:r>
            <a:endParaRPr lang="en-US" sz="840" dirty="0"/>
          </a:p>
        </p:txBody>
      </p:sp>
      <p:sp>
        <p:nvSpPr>
          <p:cNvPr id="17" name="Text 14"/>
          <p:cNvSpPr/>
          <p:nvPr/>
        </p:nvSpPr>
        <p:spPr>
          <a:xfrm>
            <a:off x="8549640" y="3255264"/>
            <a:ext cx="1325880" cy="347472"/>
          </a:xfrm>
          <a:prstGeom prst="rect">
            <a:avLst/>
          </a:prstGeom>
          <a:noFill/>
          <a:ln/>
        </p:spPr>
        <p:txBody>
          <a:bodyPr wrap="square" lIns="254" tIns="254" rIns="254" bIns="254" rtlCol="0" anchor="t">
            <a:normAutofit/>
          </a:bodyPr>
          <a:lstStyle/>
          <a:p>
            <a:pPr algn="ctr" indent="0" marL="0">
              <a:buNone/>
            </a:pPr>
            <a:r>
              <a:rPr lang="en-US" sz="2100" b="1" dirty="0">
                <a:solidFill>
                  <a:srgbClr val="9DFF00"/>
                </a:solidFill>
                <a:latin typeface="Aptos" pitchFamily="34" charset="0"/>
                <a:ea typeface="Aptos" pitchFamily="34" charset="-122"/>
                <a:cs typeface="Aptos" pitchFamily="34" charset="-120"/>
              </a:rPr>
              <a:t>31.4%</a:t>
            </a:r>
            <a:endParaRPr lang="en-US" sz="2100" dirty="0"/>
          </a:p>
        </p:txBody>
      </p:sp>
      <p:sp>
        <p:nvSpPr>
          <p:cNvPr id="18" name="Text 15"/>
          <p:cNvSpPr/>
          <p:nvPr/>
        </p:nvSpPr>
        <p:spPr>
          <a:xfrm>
            <a:off x="8549640" y="3639312"/>
            <a:ext cx="1325880" cy="329184"/>
          </a:xfrm>
          <a:prstGeom prst="rect">
            <a:avLst/>
          </a:prstGeom>
          <a:noFill/>
          <a:ln/>
        </p:spPr>
        <p:txBody>
          <a:bodyPr wrap="square" lIns="254" tIns="254" rIns="254" bIns="254" rtlCol="0" anchor="t">
            <a:normAutofit/>
          </a:bodyPr>
          <a:lstStyle/>
          <a:p>
            <a:pPr algn="ctr" indent="0" marL="0">
              <a:buNone/>
            </a:pPr>
            <a:r>
              <a:rPr lang="en-US" sz="840" dirty="0">
                <a:solidFill>
                  <a:srgbClr val="C4CDC6"/>
                </a:solidFill>
                <a:latin typeface="Aptos" pitchFamily="34" charset="0"/>
                <a:ea typeface="Aptos" pitchFamily="34" charset="-122"/>
                <a:cs typeface="Aptos" pitchFamily="34" charset="-120"/>
              </a:rPr>
              <a:t>test recall</a:t>
            </a:r>
            <a:endParaRPr lang="en-US" sz="840" dirty="0"/>
          </a:p>
        </p:txBody>
      </p:sp>
      <p:sp>
        <p:nvSpPr>
          <p:cNvPr id="19" name="Text 16"/>
          <p:cNvSpPr/>
          <p:nvPr/>
        </p:nvSpPr>
        <p:spPr>
          <a:xfrm>
            <a:off x="4480560" y="5321808"/>
            <a:ext cx="3017520" cy="384048"/>
          </a:xfrm>
          <a:prstGeom prst="rect">
            <a:avLst/>
          </a:prstGeom>
          <a:noFill/>
          <a:ln/>
        </p:spPr>
        <p:txBody>
          <a:bodyPr wrap="square" lIns="254" tIns="254" rIns="254" bIns="254" rtlCol="0" anchor="t">
            <a:normAutofit/>
          </a:bodyPr>
          <a:lstStyle/>
          <a:p>
            <a:pPr algn="ctr" indent="0" marL="0">
              <a:buNone/>
            </a:pPr>
            <a:r>
              <a:rPr lang="en-US" sz="3000" b="1" dirty="0">
                <a:solidFill>
                  <a:srgbClr val="9DFF00"/>
                </a:solidFill>
                <a:latin typeface="Aptos" pitchFamily="34" charset="0"/>
                <a:ea typeface="Aptos" pitchFamily="34" charset="-122"/>
                <a:cs typeface="Aptos" pitchFamily="34" charset="-120"/>
              </a:rPr>
              <a:t>Questions?</a:t>
            </a:r>
            <a:endParaRPr lang="en-US" sz="3000" dirty="0"/>
          </a:p>
        </p:txBody>
      </p:sp>
      <p:sp>
        <p:nvSpPr>
          <p:cNvPr id="20" name="Text 17"/>
          <p:cNvSpPr/>
          <p:nvPr/>
        </p:nvSpPr>
        <p:spPr>
          <a:xfrm>
            <a:off x="566928" y="6473952"/>
            <a:ext cx="6217920" cy="201168"/>
          </a:xfrm>
          <a:prstGeom prst="rect">
            <a:avLst/>
          </a:prstGeom>
          <a:noFill/>
          <a:ln/>
        </p:spPr>
        <p:txBody>
          <a:bodyPr wrap="square" lIns="0" tIns="0" rIns="0" bIns="0" rtlCol="0" anchor="ctr"/>
          <a:lstStyle/>
          <a:p>
            <a:pPr indent="0" marL="0">
              <a:buNone/>
            </a:pPr>
            <a:r>
              <a:rPr lang="en-US" sz="740" dirty="0">
                <a:solidFill>
                  <a:srgbClr val="C4CDC6"/>
                </a:solidFill>
              </a:rPr>
              <a:t>DATA 400 | SBA 7(a) Credit-Risk Mini Project</a:t>
            </a:r>
            <a:endParaRPr lang="en-US" sz="740" dirty="0"/>
          </a:p>
        </p:txBody>
      </p:sp>
      <p:sp>
        <p:nvSpPr>
          <p:cNvPr id="21" name="Text 18"/>
          <p:cNvSpPr/>
          <p:nvPr/>
        </p:nvSpPr>
        <p:spPr>
          <a:xfrm>
            <a:off x="11082528" y="6455664"/>
            <a:ext cx="502920" cy="201168"/>
          </a:xfrm>
          <a:prstGeom prst="rect">
            <a:avLst/>
          </a:prstGeom>
          <a:noFill/>
          <a:ln/>
        </p:spPr>
        <p:txBody>
          <a:bodyPr wrap="square" lIns="0" tIns="0" rIns="0" bIns="0" rtlCol="0" anchor="ctr"/>
          <a:lstStyle/>
          <a:p>
            <a:pPr algn="r" indent="0" marL="0">
              <a:buNone/>
            </a:pPr>
            <a:r>
              <a:rPr lang="en-US" sz="800" b="1" dirty="0">
                <a:solidFill>
                  <a:srgbClr val="9DFF00"/>
                </a:solidFill>
              </a:rPr>
              <a:t>22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DATA 400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5-Year Charge-Off Risk for SBA 7(a) Loans — Detailed Deck</dc:title>
  <dc:subject>SBA 7(a) Credit Risk</dc:subject>
  <dc:creator>Chau Pham</dc:creator>
  <cp:lastModifiedBy>Chau Pham</cp:lastModifiedBy>
  <cp:revision>1</cp:revision>
  <dcterms:created xsi:type="dcterms:W3CDTF">2026-10-04T20:23:33Z</dcterms:created>
  <dcterms:modified xsi:type="dcterms:W3CDTF">2026-10-04T20:23:33Z</dcterms:modified>
</cp:coreProperties>
</file>