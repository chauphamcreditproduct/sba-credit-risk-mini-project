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Good morning everyone. Today I’m presenting my DATA 400 mini project on SBA 7(a) credit risk.
The main question I wanted to answer is:
Using information that is available around the time a loan is approved, how well can we predict whether that loan will charge off within the next five years?
I chose this question because it is similar to how a real credit-risk screening problem would work. When a lender is evaluating a loan, they do not know the future outcome yet. They only know information that exists at or around approval.
So throughout the project, I tried to keep the modeling process consistent with that real-world setting.
I used the official SBA 7(a) FOIA data, constructed a five-year charge-off target, explored the training data, created features, compared several classification models, selected the best model using validation data, and then evaluated that model only once on a future test set.
The model that ultimately performed best based on my primary validation metric was Random Forest.
So as I go through the presentation, I’ll focus not only on the final performance, but also on why I made each modeling decision and what the results actually mean from a credit-risk perspective.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Project Roadmap
This slide shows the overall structure of the project.
The first step was actually not modeling. It was making sure I had a valid target variable.
That matters because if the outcome is defined incorrectly, even a sophisticated model will give misleading results.
After defining the target, I split the data by time before doing any target-based EDA.
Then I used only the training period to understand patterns in loan size, term, interest rate, industry, guarantee percentage, and other characteristics.
After that, I created a preprocessing pipeline and compared four models:
a Dummy classifier, Logistic Regression, Decision Tree, and Random Forest.
I selected the model based on validation performance, selected the classification threshold using validation data, checked for overfitting, and only then evaluated on the locked test period.
The overall philosophy is:
training data is for learning, validation data is for making decisions, and test data is only for final evaluation.
The model should also be viewed as a risk-screening or prioritization tool, not as an automatic approval or denial system.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Research Objective
One thing I want to clarify early is that the objective is not simply to maximize accuracy.
In a credit-risk problem, especially when the risky class is rare, accuracy can actually be misleading.
For example, imagine that only around 4% of loans charge off.
A model that predicts “no charge-off” for every single loan could still be around 96% accurate.
But that model would identify zero risky loans, so from a credit-risk perspective it would not be useful at all.
That is why I focus much more on metrics that tell me how well the model identifies the positive class.
Those include PR-AUC, precision, recall, F1-score, and the confusion matrix.
I still report ROC-AUC because it is useful for measuring overall ranking ability, but PR-AUC is my primary model-selection metric.
From a business perspective, what I really want to know is:
Can the model take a very large portfolio and identify a much smaller group where charge-off risk is concentrated?
If it can do that, the lender could use the model to prioritize additional underwriting review or portfolio monitoring.
So the goal is really risk ranking and screening, not perfect binary classification.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Target Construction
The target variable is called `chargeoff_5yr`.
A value of 1 means the loan had a documented charge-off within five years after approval.
A value of 0 means there was no documented charge-off during the first five years.
The biggest technical issue here is something called right-censoring.
Suppose I have a loan that was approved in 2024, and my dataset ends in 2026.
That loan has only been observed for about two years.
If I label it as a non-charge-off, I would basically be saying it survived five years when five years have not even passed yet.
That would create incorrect labels.
So I only keep loans that have had a complete five-year observation window.
The SBA snapshot date is June 30, 2026.
That means the latest approval date that can have five complete years of follow-up is June 30, 2021.
Anything approved after that date is excluded from the five-year modeling sample.
I also make a very important distinction between variables that can be used to construct the target and variables that can be used as predictors.
Fields such as loan status, charge-off date, charge-off amount, and paid-in-full date contain future outcome information.
They can help me determine whether the loan charged off, but they cannot go into the model.
If I used them as predictors, that would be data leakage because the model would effectively be given information about the answer.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Data Universe
After reading the official SBA files and removing exact duplicate records, the raw dataset contains 932,013 loans.
There were 2,076 exact duplicate records removed.
Then I applied the five-year observation requirement and removed cases where the charge-off timing could not be determined reliably.
After those filters, the final modeling universe contains 543,110 loans.
Of those:
- 20,443 charged off within five years
- 522,667 did not
So the overall charge-off rate is only about 3.76%.
That number is important because it immediately tells us this is an imbalanced classification problem.
In other words, there are many more non-charge-offs than charge-offs.
That affects how I evaluate the model.
For example, if I only looked at accuracy, I could easily be impressed by a model that mostly predicts the majority class.
But what I actually care about is whether the model can identify that relatively small 3 to 4 percent group.
That is one major reason PR-AUC becomes more informative than accuracy later in the project.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Time Split
For the model-development process, I used a chronological split instead of a random split.
That was a deliberate choice.
In many machine-learning projects, random splitting is common because it gives training and test sets that come from roughly the same distribution.
But in credit risk, that can make the evaluation look more optimistic than the model would perform in the real world.
Think about how this model would actually be deployed.
A lender would train the model using historical loans and then use it on loans that arrive in the future.
So I wanted the evaluation design to recreate that situation.
My split is:
- Training: approvals through 2017
- Validation: 2018 and 2019
- Test: January 2020 through June 2021
The executed notebook gives me 393,008 training loans, 95,853 validation loans, and 54,249 test loans. The charge-off rates are about 3.86%, 4.18%, and 2.36%, respectively. DATA400_SBA_7a_Credit_Risk_COMP…
And that difference in event rate is actually part of the reason chronological splitting matters.
The future population is not identical to the historical population.
Economic conditions, interest rates, underwriting standards, business conditions, and SBA program activity can all change over time.
If I used random splitting, loans from 2012 and 2021 could be mixed into both training and validation.
That would make the datasets more similar and potentially hide this temporal shift.
So chronological splitting answers a harder but more realistic question:
If I learn from the past, can I still identify risk in future borrowers?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EDA: Loan Amount and Loan Term
The first major EDA result is that loan structure appears to contain useful predictive information.
I grouped loan amount into bands mainly because the bands make the relationship easier to interpret.
For example, loans under $50,000 have an observed five-year charge-off rate of about 5.59%.
As loan size increases, the observed rate decreases.
For loans above $1 million, the charge-off rate is only about 0.85%. DATA400_SBA_7a_Credit_Risk_COMP…
Loan term shows an even stronger pattern.
Loans with terms of 84 months or less have a charge-off rate of about 5.11%.
Loans with terms above 180 months have a rate below 0.5%. DATA400_SBA_7a_Credit_Risk_COMP…
Now, I want to be careful about interpretation.
I am not claiming that making a loan smaller or shorter directly causes charge-off.
These are associations in the historical data.
Smaller loans may be associated with different borrower types, industries, business maturity levels, underwriting programs, or other characteristics that I do not fully observe.
So the correct conclusion is:
loan size and term appear to contain useful predictive signal.
Another reason I created loan-amount bands only for EDA is interpretability.
For modeling, I would rather preserve the continuous information instead of forcing every loan into a category.
That leads to the next transformation: log gross approval.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Why I Use `log_gross_approval`
The raw loan-amount variable is strongly right-skewed.
Most SBA loans are relatively small or medium-sized, but there is a smaller tail of very large loans.
I did not want to simply delete those large loans as outliers.
A $2 million SBA loan might be statistically unusual, but it does not automatically mean the record is wrong.
So instead of deleting legitimate observations, I use a log transformation.
The feature becomes:
log of one plus gross approval amount.
The purpose is to compress the upper tail.
A $2 million loan is still larger than a $200,000 loan, so the ordering is preserved, but the numerical distance becomes less extreme.
This is particularly helpful when I compare models like Logistic Regression, because linear models are more sensitive to the scale and shape of continuous variables.
Now, an important question is:
If Random Forest was the final model, and trees do not technically require log transformation, why did I still use it?
The answer is consistency.
I wanted all candidate models to be compared using the same underlying feature set.
The transformation clearly helps the linear model, it makes the feature easier to work with, and it does not destroy the rank ordering that Random Forest uses.
So I did not use log transformation because Random Forest requires it.
I used it because it is a reasonable representation of a highly skewed financial variable across the full model-comparison framework.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EDA: Interest Rate, Guarantee, and Industry
Interest rate shows another clear relationship.
Loans with initial rates between 8% and 11% have an observed charge-off rate of about 7.30%.
Loans below 5% have a much lower observed rate of about 1.35%. DATA400_SBA_7a_Credit_Risk_COMP…
Again, I would not interpret this as “high interest rates cause default.”
Interest rates may partly reflect risk already identified during underwriting.
So there may be reverse interpretation here: riskier borrowers may receive different pricing.
Guarantee percentage also varies.
The 75% to 85% guarantee band has the highest observed charge-off rate in the training data at about 7.38%. DATA400_SBA_7a_Credit_Risk_COMP…
Industry also matters.
Some of the highest broad NAICS sectors include 45, 48, 42, 71, and 72. DATA400_SBA_7a_Credit_Risk_COMP…
But once again, I use these patterns as predictive evidence, not causal evidence.
Industry can capture differences in revenue stability, operating margins, cyclicality, labor intensity, and many other factors that are not directly measured in this public dataset.
So EDA helps me answer:
Which variables appear to contain signal that the model may be able to use?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Data Quality and Outliers
Before modeling, I also checked unusual and potentially invalid values.
I used the IQR rule to identify statistical outliers.
But I did not automatically delete every IQR outlier.
That is important because statistical outlier does not necessarily mean data error.
A large SBA loan may be far above the median but still be completely valid.
Automatically removing those loans could remove exactly the type of portfolio variation that I want the model to understand.
So instead, I separated two ideas:
unusual values versus impossible or suspicious values.
For example, the notebook shows:
- no gross approvals less than or equal to zero
- no negative interest rates
- no guarantee percentages above 1.05
- but there are 208 records where term_months is less than or equal to zero. DATA400_SBA_7a_Credit_Risk_COMP…
That last point is something I would investigate further in a production project.
I would check the SBA data dictionary or original records before deciding whether those values represent missing codes, special program structures, or actual data errors.
So my approach is not “delete anything unusual.”
It is:
identify unusual values, determine whether they are plausible, and use transformations when appropriate.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Feature Set and Preprocessing
For modeling, I only use variables that are reasonably available around approval time.
The numerical features include:
- log gross approval
- guarantee percentage
- term in months
- initial interest rate
- jobs supported
- approval year
Categorical features include:
- state
- business type
- business age
- processing method
- fixed versus variable rate
- revolver status
- collateral indicator
- two-digit NAICS sector
- franchise indicator
I intentionally exclude borrower name and street address.
Those fields are not necessary for the predictive question and are also not the type of variables I would want to rely on for a generalizable credit-risk model.
I also exclude outcome variables, because that would create leakage.
For preprocessing, numeric missing values are imputed, categorical missing values are imputed, categories are one-hot encoded, and numeric variables are standardized.
A key methodological choice is that the entire preprocessing process is inside a scikit-learn Pipeline.
That means imputation, scaling, and encoding are learned only from the training data during model fitting.
Why does that matter?
Because if I calculated preprocessing values using the entire dataset before splitting, information from validation or test could leak into training.
Even something as simple as a median can technically contain information from the future.
Putting preprocessing inside the pipeline helps prevent that.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Candidate Models
I compared four models.
The first is a Dummy classifier.
The Dummy model is not expected to perform well.
Its purpose is to give me a baseline.
If a sophisticated model cannot outperform the Dummy baseline, then there is probably not much predictive value in the model.
The second model is Logistic Regression.
I include Logistic Regression because it is simple, interpretable, and commonly used as a benchmark in credit-risk modeling.
The third is a Decision Tree.
That gives me a simple nonlinear model that can capture interactions that Logistic Regression might miss.
The fourth is Random Forest.
Random Forest combines many decision trees and can capture more complex nonlinear relationships and interactions.
My Random Forest uses 120 trees, a maximum depth of 12, a minimum leaf size of 20, and balanced subsampling.
Those restrictions help control complexity.
Why not just let the trees grow as deep as possible?
Because then the model could memorize small patterns in the training data and overfit.
So model complexity is intentionally constrained, and validation performance determines which model I choose.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Why PR-AUC Is the Main Metric
Before comparing models, I decided that PR-AUC would be my main selection metric.
That choice matters.
I did not look at the model results first and then choose whichever metric made my preferred model look best.
PR-AUC is especially useful here because charge-offs are rare.
Precision asks:
Of the loans I flag, how many actually charge off?
Recall asks:
Of all the loans that actually charge off, how many did I catch?
The precision-recall curve evaluates that trade-off over many possible thresholds.
ROC-AUC is also useful, but ROC-AUC includes the true-negative rate.
When there are a huge number of negative observations, ROC-AUC can still look strong even if positive-class performance is less impressive.
So I still report ROC-AUC, but I prioritize PR-AUC because it is more directly connected to the rare class I care about.
The Dummy PR-AUC is also useful context.
It is approximately equal to the positive-class rate.
So a model needs to beat that baseline substantially before I consider it useful.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Validation Model Comparison
This is the main model-selection table.
Random Forest has:
- Training PR-AUC = 0.459
- Validation PR-AUC = 0.337
- Validation ROC-AUC = 0.895
Decision Tree has:
- Validation PR-AUC = about 0.252
- Validation ROC-AUC = about 0.921
Logistic Regression has:
- Validation PR-AUC = about 0.159
- ROC-AUC = about 0.836
And the Dummy model has validation PR-AUC around 0.042. DATA400_SBA_7a_Credit_Risk_COMP…
One result might look confusing at first.
Decision Tree has the highest ROC-AUC, so why did I choose Random Forest?
Because PR-AUC was my primary metric before I saw the results.
Random Forest is much stronger than Decision Tree on PR-AUC: 0.337 compared with about 0.252.
Since my business objective is identifying and concentrating rare charge-off cases, that is the metric I want to optimize.
If I changed my selection rule after seeing that Decision Tree had a better ROC-AUC, that would basically be metric shopping.
So I stay consistent with the original decision rule.
The notebook therefore selects Random Forest as the best validation model. DATA400_SBA_7a_Credit_Risk_COMP…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Train vs. Validation Performance
There is one concern with Random Forest that I want to acknowledge.
Training PR-AUC is about 0.459, while validation PR-AUC is about 0.337.
That gives a train-validation gap of approximately 0.122. DATA400_SBA_7a_Credit_Risk_COMP…
A gap like that suggests some overfitting.
But I would not automatically reject the model just because training performance is higher.
Almost every model performs somewhat better on data it has already seen.
What matters is:
How large is the gap?
And is validation performance still useful?
Random Forest still has the strongest validation PR-AUC among all of the candidate models.
So I keep it as the selected model, but I flag generalization as something that needs additional investigation.
That is why later I use a learning curve.
So the conclusion here is not:
“Random Forest does not overfit.”
The more accurate conclusion is:
Random Forest shows some overfitting, but it still provides the strongest out-of-sample precision-recall performance among the models I tested.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Validation Curves
Before converting the Random Forest score into a final classification decision, I look at both the precision-recall curve and ROC curve.
This is important because the model does not naturally produce only a zero or one.
It produces a continuous score.
Depending on where I place the threshold, I can create a more aggressive or more conservative screening rule.
For example, lowering the threshold would usually flag more loans.
That would increase recall because I would catch more actual charge-offs.
But it would also create more false positives and reduce precision.
Raising the threshold would usually do the opposite.
It would flag fewer loans, potentially improve precision, but miss more actual charge-offs.
So there is no single threshold that is automatically correct.
The best threshold depends on the business objective.
At this stage, the test set is still completely locked.
I only use validation data to choose that operating point.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Why the Threshold Is 0.690
A common default classification threshold is 0.50.
But there is nothing inherently special about 0.50 for this problem.
Especially in an imbalanced dataset, 0.50 may not give a useful balance between precision and recall.
So instead of automatically choosing 0.50, I use the validation set to select the threshold that maximizes the F1 score.
I use F1 here because I do not yet have a formal dollar cost assigned to false positives versus false negatives.
F1 gives me a neutral starting point that balances precision and recall.
That produces a threshold of approximately 0.690.
At that threshold:
- Validation precision = 33.2%
- Validation recall = 55.7%
- F1 = 41.6% DATA400_SBA_7a_Credit_Risk_COMP…
One thing I would not say is:
“A probability of 0.690 means the borrower has exactly a 69% chance of default.”
The Random Forest score is being used primarily as a ranking score, and the probabilities have not been formally calibrated.
So 0.690 is best interpreted as the operating cutoff selected from validation data.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Validation Confusion Matrix
The validation confusion matrix helps translate those percentages into actual loans.
At the selected threshold, there are:
- 2,234 true positives
- 4,496 false positives
- 1,776 false negatives
- 87,347 true negatives DATA400_SBA_7a_Credit_Risk_COMP…
The true positives are loans that the model flagged and that actually charged off.
The false positives are loans that would have received additional review but did not charge off.
The false negatives are especially important in credit risk.
These are loans that actually charged off but the model failed to flag.
This is why the decision threshold is really a business decision.
If the cost of missing a risky loan is extremely high, I might be willing to lower the threshold and tolerate more false positives.
If a lender has very limited review capacity, I might raise the threshold and prioritize precision.
So the threshold in this project is not meant to be a universal SBA risk cutoff.
It is a transparent validation-based operating point.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Learning Curve and Generalization
Because Random Forest has a noticeable train-validation gap, I use a learning curve to investigate whether more data improves generalization.
For computational efficiency, this diagnostic uses up to 100,000 training rows.
At 25,000 observations:
- Training PR-AUC is about 0.503
- Validation PR-AUC is about 0.285
- Gap is about 0.218
At 100,000 observations:
- Training PR-AUC is about 0.484
- Validation PR-AUC is about 0.309
- Gap falls to approximately 0.174. DATA400_SBA_7a_Credit_Risk_COMP…
So the gap becomes smaller as the model gets more training data.
That is encouraging.
It suggests that part of the overfitting problem may improve with additional observations.
However, the gap does not disappear completely.
So if this were a production project, I would consider additional hyperparameter tuning, stronger regularization of tree complexity, and possibly richer features.
Another important clarification is that this 100,000-row learning curve is only a diagnostic.
The final model is not restricted to 100,000 rows.
It is later refit using the complete development data.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Final Model Training
After the model and threshold have already been selected, I combine the training and validation periods.
The reason is that validation has already served its purpose.
It helped me choose the model and threshold.
Once those choices are locked, there is no reason to throw away those observations when fitting the final production-style model.
So I refit the selected Random Forest using training plus validation data.
Then I make predictions on the test set.
This is the first time the test outcomes are used for final performance evaluation.
And this part is very important:
If I see the test results and then change the model, change the threshold, or change my features, the test set would no longer be a true test set.
It would effectively become another validation set.
So even if I see something on the test results that I wish were better, I do not go back and optimize based on those test labels.
That is what keeps the final evaluation honest.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Locked Test Performance
The locked test set contains 54,249 loans, and the observed five-year charge-off rate is approximately 2.36%.
The final Random Forest achieves:
- Test PR-AUC = 0.352
- Test ROC-AUC = 0.931
- Precision = 42.6%
- Recall = 31.4%
- F1 = 36.2% DATA400_SBA_7a_Credit_Risk_COMP…
The test confusion matrix contains:
- 402 true positives
- 542 false positives
- 878 false negatives
- 52,427 true negatives. DATA400_SBA_7a_Credit_Risk_COMP…
One result is worth explaining.
Validation recall was about 55.7%, but test recall falls to 31.4%.
At the same time, test PR-AUC and ROC-AUC are actually strong.
Those results are not contradictory.
PR-AUC and ROC-AUC measure ranking ability across many possible thresholds.
Recall of 31.4% is the result at one fixed threshold—the 0.690 threshold selected earlier.
So the model can still rank the test portfolio very well overall while the same fixed cutoff produces a different precision-recall trade-off in the future cohort.
That is actually a useful example of why threshold stability matters in real credit-risk systems.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Business Interpretation of the Test Result
The way I would summarize the final test result is not simply by saying precision is 42.6%.
I think a more intuitive interpretation is this:
The entire test portfolio has 54,249 loans.
The model flags only 944 loans.
So it flags about 1.7% of the portfolio.
But inside that very small group, 402 loans actually charge off.
That means the model identifies about 31.4% of all test-period charge-offs while reviewing less than 2% of the portfolio.
Also, the charge-off rate among flagged loans is 42.6%, compared with an overall test base rate of only 2.36%.
That is roughly an 18-times concentration of risk.
To me, that is the strongest practical argument for the model.
The model is clearly finding a small subgroup where credit risk is dramatically higher than average.
However, it still misses 878 charge-offs.
So it would be dangerous to interpret a low-risk prediction as “this loan is definitely safe.”
That is why I position the model as a triage or prioritization tool, not a substitute for underwriting.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Model Interpretation / Feature Importance
Because Random Forest is the selected model, I interpret it using feature importance rather than Logistic Regression coefficients.
The strongest feature by a very large margin is term_months, with importance of approximately 0.594.
After that:
- initial interest rate ≈ 0.078
- log gross approval ≈ 0.076
- guarantee percentage ≈ 0.034
- collateral indicators and approval year also appear among the stronger features. DATA400_SBA_7a_Credit_Risk_COMP…
The dominance of loan term is consistent with the EDA.
Remember that short-term loans had charge-off rates above 5%, while very long-term loans were below 0.5%.
So the model finding term useful makes sense.
But I want to be careful with the interpretation.
An importance of 0.594 does not mean loan term causes 59.4% of defaults.
Feature importance only tells us that Random Forest frequently found the variable useful for separating observations.
There is another limitation.
This is impurity-based feature importance, which can sometimes favor continuous variables because they offer many possible split points.
So in a more advanced project, I would validate this using something like permutation importance or SHAP values.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Error Analysis
I also look beyond the overall metrics and ask where the model makes mistakes.
False negatives are especially important.
Those are loans that later charge off but are scored below the threshold.
In the test set, there are 878 false negatives.
So even though the risk ranking is useful, the model does not capture every source of default risk.
That is not very surprising.
The public SBA dataset does not contain the full financial profile that a real lender would normally use.
False positives are different.
Those are loans that the model flags, but that do not charge off.
Those are not necessarily useless.
If the action associated with a flag is simply an additional review or monitoring step, the cost of a false positive may be relatively small.
If the action were an automatic denial, the cost would be much more serious.
That is another reason I do not recommend using this model as an automatic lending decision system.
Some NAICS sectors also show higher error rates.
That may indicate that risk patterns are more difficult to capture in certain industries or that important industry-specific information is missing from the public dataset.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Limitations
The biggest limitation is the information available in the dataset.
The SBA FOIA data is useful, but it is not a complete commercial credit file.
For example, I do not have detailed:
- borrower financial statements
- FICO or business credit scores
- debt-service coverage ratios
- leverage ratios
- liquidity
- collateral valuation
- detailed lender underwriting information
- local economic conditions at the borrower level
Those variables could explain a significant amount of risk that the current model cannot see.
Another limitation is temporal drift.
Relationships learned from 2010 through 2019 may not remain identical forever.
Interest rates change.
Economic conditions change.
SBA program rules can change.
Industry conditions change.
Underwriting behavior changes.
So even a model that performs well today would need ongoing performance monitoring.
A final limitation is probability calibration.
I use the Random Forest score effectively for ranking, but I have not calibrated the score to ensure that a predicted 20% risk truly corresponds to a 20% observed event frequency.
That would be an important next step if the model were used operationally.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Next Steps
If I continued this project, I would focus on several improvements.
First, I would add richer borrower-level financial information if available.
Second, I would add lender-level features because underwriting quality and servicing behavior may vary across institutions.
Third, I would include macroeconomic variables such as unemployment, interest rates, and local economic conditions.
Fourth, I would tune Random Forest more systematically using time-aware cross-validation.
I would also compare additional algorithms such as gradient boosting.
But I would not add a more complicated model simply because it is more sophisticated.
The new model would need to show better out-of-sample performance and still have a reasonable interpretation framework.
I would also evaluate decile lift.
For a credit-risk ranking model, it would be useful to know what percentage of charge-offs are concentrated in the highest-risk 5%, 10%, or 20% of scores.
Finally, I would calibrate the probability estimates and choose the operating threshold using an explicit cost function rather than F1 alone.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Conclusion
To conclude, this project shows an end-to-end credit-risk modeling process.
The first major decision was creating a valid five-year charge-off target and avoiding right-censoring.
The second was using a chronological split so the evaluation reflects a realistic past-to-future modeling problem.
The third was selecting a metric that matches the rare-event nature of the problem.
Using validation PR-AUC, Random Forest was the strongest model.
On the locked test set, the final model achieved:
- PR-AUC of 0.352
- ROC-AUC of 0.931
- precision of 42.6%
- recall of 31.4%
The most important business interpretation is that the model flags only about 1.7% of the test portfolio, but that small group contains about 31% of all charge-offs.
And the flagged group has a charge-off rate of 42.6% compared with a portfolio base rate of only 2.36%.
So I would say the model has meaningful value for risk ranking and review prioritization.
But because it still misses many charge-offs and does not have access to a full underwriting file, it should not be used as a standalone approval or denial system.
The best use case is to help a human credit process decide where additional attention is most valuable.
Thank you, and I’m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 Id="rId5"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 Id="rId6"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 Id="rId4"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 Id="rId5"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 Id="rId4"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jpg"/></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 Id="rId4"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 Id="rId4"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 Id="rId4" Type="http://schemas.openxmlformats.org/officeDocument/2006/relationships/image" Target="../media/image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3" name="Picture 22" descr="image-1-1.jpeg"/>
          <p:cNvPicPr>
            <a:picLocks noChangeAspect="1"/>
          </p:cNvPicPr>
          <p:nvPr/>
        </p:nvPicPr>
        <p:blipFill>
          <a:blip r:embed="rId3"/>
          <a:stretch>
            <a:fillRect/>
          </a:stretch>
        </p:blipFill>
        <p:spPr>
          <a:xfrm>
            <a:off x="0" y="0"/>
            <a:ext cx="12191695" cy="6858000"/>
          </a:xfrm>
          <a:prstGeom prst="rect">
            <a:avLst/>
          </a:prstGeom>
        </p:spPr>
      </p:pic>
      <p:sp>
        <p:nvSpPr>
          <p:cNvPr id="3" name="Text 1"/>
          <p:cNvSpPr/>
          <p:nvPr/>
        </p:nvSpPr>
        <p:spPr>
          <a:xfrm>
            <a:off x="640080" y="594360"/>
            <a:ext cx="4572000" cy="237744"/>
          </a:xfrm>
          <a:prstGeom prst="rect">
            <a:avLst/>
          </a:prstGeom>
          <a:solidFill>
            <a:srgbClr val="050E0A"/>
          </a:solidFill>
          <a:ln>
            <a:solidFill>
              <a:srgbClr val="86AE8E"/>
            </a:solidFill>
          </a:ln>
        </p:spPr>
        <p:txBody>
          <a:bodyPr wrap="square" lIns="0" tIns="0" rIns="0" bIns="0" rtlCol="0" anchor="ctr"/>
          <a:lstStyle/>
          <a:p>
            <a:pPr indent="0" marL="0">
              <a:buNone/>
            </a:pPr>
            <a:r>
              <a:rPr lang="en-US" sz="900" b="1" dirty="0">
                <a:solidFill>
                  <a:srgbClr val="9DDC9A"/>
                </a:solidFill>
                <a:latin typeface="Aptos"/>
              </a:rPr>
              <a:t>DATA 400 MINI PROJECT</a:t>
            </a:r>
            <a:endParaRPr lang="en-US" sz="900" dirty="0"/>
          </a:p>
        </p:txBody>
      </p:sp>
      <p:sp>
        <p:nvSpPr>
          <p:cNvPr id="4" name="Text 2"/>
          <p:cNvSpPr/>
          <p:nvPr/>
        </p:nvSpPr>
        <p:spPr>
          <a:xfrm>
            <a:off x="640080" y="960120"/>
            <a:ext cx="6903720" cy="123444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3400" b="1" dirty="0">
                <a:solidFill>
                  <a:srgbClr val="FFFFFF"/>
                </a:solidFill>
                <a:latin typeface="Aptos" pitchFamily="34" charset="0"/>
                <a:ea typeface="Aptos Display" pitchFamily="34" charset="-122"/>
                <a:cs typeface="Aptos Display" pitchFamily="34" charset="-120"/>
              </a:rPr>
              <a:t>Predicting 5-Year Charge-Off Risk for SBA 7(a) Loans</a:t>
            </a:r>
            <a:endParaRPr lang="en-US" sz="3400" dirty="0"/>
          </a:p>
        </p:txBody>
      </p:sp>
      <p:sp>
        <p:nvSpPr>
          <p:cNvPr id="5" name="Text 3"/>
          <p:cNvSpPr/>
          <p:nvPr/>
        </p:nvSpPr>
        <p:spPr>
          <a:xfrm>
            <a:off x="685800" y="2423160"/>
            <a:ext cx="6629400" cy="658368"/>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500" dirty="0">
                <a:solidFill>
                  <a:srgbClr val="EAF1ED"/>
                </a:solidFill>
                <a:latin typeface="Aptos"/>
              </a:rPr>
              <a:t>Research question: using approval-time information, how well can we predict whether a loan will charge off within five years?</a:t>
            </a:r>
            <a:endParaRPr lang="en-US" sz="1500" dirty="0"/>
          </a:p>
        </p:txBody>
      </p:sp>
      <p:sp>
        <p:nvSpPr>
          <p:cNvPr id="6" name="Shape 4"/>
          <p:cNvSpPr/>
          <p:nvPr/>
        </p:nvSpPr>
        <p:spPr>
          <a:xfrm>
            <a:off x="8001000" y="1005840"/>
            <a:ext cx="3017520" cy="777240"/>
          </a:xfrm>
          <a:prstGeom prst="roundRect">
            <a:avLst>
              <a:gd name="adj" fmla="val 11765"/>
            </a:avLst>
          </a:prstGeom>
          <a:solidFill>
            <a:srgbClr val="050E0A"/>
          </a:solidFill>
          <a:ln w="12700">
            <a:solidFill>
              <a:srgbClr val="86AE8E"/>
            </a:solidFill>
            <a:prstDash val="solid"/>
          </a:ln>
        </p:spPr>
        <p:txBody>
          <a:bodyPr/>
          <a:p/>
        </p:txBody>
      </p:sp>
      <p:sp>
        <p:nvSpPr>
          <p:cNvPr id="7" name="Text 5"/>
          <p:cNvSpPr/>
          <p:nvPr/>
        </p:nvSpPr>
        <p:spPr>
          <a:xfrm>
            <a:off x="8046720" y="1115568"/>
            <a:ext cx="29260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FFFFFF"/>
                </a:solidFill>
                <a:latin typeface="Aptos"/>
              </a:rPr>
              <a:t>Random Forest</a:t>
            </a:r>
            <a:endParaRPr lang="en-US" sz="2000" dirty="0"/>
          </a:p>
        </p:txBody>
      </p:sp>
      <p:sp>
        <p:nvSpPr>
          <p:cNvPr id="8" name="Text 6"/>
          <p:cNvSpPr/>
          <p:nvPr/>
        </p:nvSpPr>
        <p:spPr>
          <a:xfrm>
            <a:off x="8074152" y="1481328"/>
            <a:ext cx="28712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FFFFFF"/>
                </a:solidFill>
                <a:latin typeface="Aptos"/>
              </a:rPr>
              <a:t>selected by validation PR-AUC</a:t>
            </a:r>
            <a:endParaRPr lang="en-US" sz="830" dirty="0"/>
          </a:p>
        </p:txBody>
      </p:sp>
      <p:sp>
        <p:nvSpPr>
          <p:cNvPr id="9" name="Shape 7"/>
          <p:cNvSpPr/>
          <p:nvPr/>
        </p:nvSpPr>
        <p:spPr>
          <a:xfrm>
            <a:off x="8001000" y="1965960"/>
            <a:ext cx="1417320" cy="777240"/>
          </a:xfrm>
          <a:prstGeom prst="roundRect">
            <a:avLst>
              <a:gd name="adj" fmla="val 11765"/>
            </a:avLst>
          </a:prstGeom>
          <a:solidFill>
            <a:srgbClr val="050E0A"/>
          </a:solidFill>
          <a:ln w="12700">
            <a:solidFill>
              <a:srgbClr val="86AE8E"/>
            </a:solidFill>
            <a:prstDash val="solid"/>
          </a:ln>
        </p:spPr>
        <p:txBody>
          <a:bodyPr/>
          <a:p/>
        </p:txBody>
      </p:sp>
      <p:sp>
        <p:nvSpPr>
          <p:cNvPr id="10" name="Text 8"/>
          <p:cNvSpPr/>
          <p:nvPr/>
        </p:nvSpPr>
        <p:spPr>
          <a:xfrm>
            <a:off x="8046720" y="2075688"/>
            <a:ext cx="13258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0.352</a:t>
            </a:r>
            <a:endParaRPr lang="en-US" sz="2000" dirty="0"/>
          </a:p>
        </p:txBody>
      </p:sp>
      <p:sp>
        <p:nvSpPr>
          <p:cNvPr id="11" name="Text 9"/>
          <p:cNvSpPr/>
          <p:nvPr/>
        </p:nvSpPr>
        <p:spPr>
          <a:xfrm>
            <a:off x="8074152" y="2441448"/>
            <a:ext cx="12710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locked test PR-AUC</a:t>
            </a:r>
            <a:endParaRPr lang="en-US" sz="830" dirty="0"/>
          </a:p>
        </p:txBody>
      </p:sp>
      <p:sp>
        <p:nvSpPr>
          <p:cNvPr id="12" name="Shape 10"/>
          <p:cNvSpPr/>
          <p:nvPr/>
        </p:nvSpPr>
        <p:spPr>
          <a:xfrm>
            <a:off x="9601200" y="1965960"/>
            <a:ext cx="1417320" cy="777240"/>
          </a:xfrm>
          <a:prstGeom prst="roundRect">
            <a:avLst>
              <a:gd name="adj" fmla="val 11765"/>
            </a:avLst>
          </a:prstGeom>
          <a:solidFill>
            <a:srgbClr val="050E0A"/>
          </a:solidFill>
          <a:ln w="12700">
            <a:solidFill>
              <a:srgbClr val="86AE8E"/>
            </a:solidFill>
            <a:prstDash val="solid"/>
          </a:ln>
        </p:spPr>
        <p:txBody>
          <a:bodyPr/>
          <a:p/>
        </p:txBody>
      </p:sp>
      <p:sp>
        <p:nvSpPr>
          <p:cNvPr id="13" name="Text 11"/>
          <p:cNvSpPr/>
          <p:nvPr/>
        </p:nvSpPr>
        <p:spPr>
          <a:xfrm>
            <a:off x="9646920" y="2075688"/>
            <a:ext cx="13258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42.6%</a:t>
            </a:r>
            <a:endParaRPr lang="en-US" sz="2000" dirty="0"/>
          </a:p>
        </p:txBody>
      </p:sp>
      <p:sp>
        <p:nvSpPr>
          <p:cNvPr id="14" name="Text 12"/>
          <p:cNvSpPr/>
          <p:nvPr/>
        </p:nvSpPr>
        <p:spPr>
          <a:xfrm>
            <a:off x="9674352" y="2441448"/>
            <a:ext cx="12710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test precision</a:t>
            </a:r>
            <a:endParaRPr lang="en-US" sz="830" dirty="0"/>
          </a:p>
        </p:txBody>
      </p:sp>
      <p:sp>
        <p:nvSpPr>
          <p:cNvPr id="15" name="Shape 13"/>
          <p:cNvSpPr/>
          <p:nvPr/>
        </p:nvSpPr>
        <p:spPr>
          <a:xfrm>
            <a:off x="8001000" y="2880360"/>
            <a:ext cx="1417320" cy="777240"/>
          </a:xfrm>
          <a:prstGeom prst="roundRect">
            <a:avLst>
              <a:gd name="adj" fmla="val 11765"/>
            </a:avLst>
          </a:prstGeom>
          <a:solidFill>
            <a:srgbClr val="050E0A"/>
          </a:solidFill>
          <a:ln w="12700">
            <a:solidFill>
              <a:srgbClr val="86AE8E"/>
            </a:solidFill>
            <a:prstDash val="solid"/>
          </a:ln>
        </p:spPr>
        <p:txBody>
          <a:bodyPr/>
          <a:p/>
        </p:txBody>
      </p:sp>
      <p:sp>
        <p:nvSpPr>
          <p:cNvPr id="16" name="Text 14"/>
          <p:cNvSpPr/>
          <p:nvPr/>
        </p:nvSpPr>
        <p:spPr>
          <a:xfrm>
            <a:off x="8046720" y="2990088"/>
            <a:ext cx="13258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31.4%</a:t>
            </a:r>
            <a:endParaRPr lang="en-US" sz="2000" dirty="0"/>
          </a:p>
        </p:txBody>
      </p:sp>
      <p:sp>
        <p:nvSpPr>
          <p:cNvPr id="17" name="Text 15"/>
          <p:cNvSpPr/>
          <p:nvPr/>
        </p:nvSpPr>
        <p:spPr>
          <a:xfrm>
            <a:off x="8074152" y="3355848"/>
            <a:ext cx="12710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test recall</a:t>
            </a:r>
            <a:endParaRPr lang="en-US" sz="830" dirty="0"/>
          </a:p>
        </p:txBody>
      </p:sp>
      <p:sp>
        <p:nvSpPr>
          <p:cNvPr id="18" name="Shape 16"/>
          <p:cNvSpPr/>
          <p:nvPr/>
        </p:nvSpPr>
        <p:spPr>
          <a:xfrm>
            <a:off x="9601200" y="2880360"/>
            <a:ext cx="1417320" cy="777240"/>
          </a:xfrm>
          <a:prstGeom prst="roundRect">
            <a:avLst>
              <a:gd name="adj" fmla="val 11765"/>
            </a:avLst>
          </a:prstGeom>
          <a:solidFill>
            <a:srgbClr val="050E0A"/>
          </a:solidFill>
          <a:ln w="12700">
            <a:solidFill>
              <a:srgbClr val="86AE8E"/>
            </a:solidFill>
            <a:prstDash val="solid"/>
          </a:ln>
        </p:spPr>
        <p:txBody>
          <a:bodyPr/>
          <a:p/>
        </p:txBody>
      </p:sp>
      <p:sp>
        <p:nvSpPr>
          <p:cNvPr id="19" name="Text 17"/>
          <p:cNvSpPr/>
          <p:nvPr/>
        </p:nvSpPr>
        <p:spPr>
          <a:xfrm>
            <a:off x="9646920" y="2990088"/>
            <a:ext cx="13258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2.36%</a:t>
            </a:r>
            <a:endParaRPr lang="en-US" sz="2000" dirty="0"/>
          </a:p>
        </p:txBody>
      </p:sp>
      <p:sp>
        <p:nvSpPr>
          <p:cNvPr id="20" name="Text 18"/>
          <p:cNvSpPr/>
          <p:nvPr/>
        </p:nvSpPr>
        <p:spPr>
          <a:xfrm>
            <a:off x="9674352" y="3355848"/>
            <a:ext cx="12710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test base rate</a:t>
            </a:r>
            <a:endParaRPr lang="en-US" sz="830" dirty="0"/>
          </a:p>
        </p:txBody>
      </p:sp>
      <p:sp>
        <p:nvSpPr>
          <p:cNvPr id="21" name="Shape 19"/>
          <p:cNvSpPr/>
          <p:nvPr/>
        </p:nvSpPr>
        <p:spPr>
          <a:xfrm>
            <a:off x="685800" y="5897880"/>
            <a:ext cx="10881360" cy="0"/>
          </a:xfrm>
          <a:prstGeom prst="line">
            <a:avLst/>
          </a:prstGeom>
          <a:noFill/>
          <a:ln w="12700">
            <a:solidFill>
              <a:srgbClr val="86AE8E"/>
            </a:solidFill>
            <a:prstDash val="solid"/>
          </a:ln>
        </p:spPr>
        <p:txBody>
          <a:bodyPr/>
          <a:p/>
        </p:txBody>
      </p:sp>
      <p:sp>
        <p:nvSpPr>
          <p:cNvPr id="22" name="Text 20"/>
          <p:cNvSpPr/>
          <p:nvPr/>
        </p:nvSpPr>
        <p:spPr>
          <a:xfrm>
            <a:off x="685800" y="6089904"/>
            <a:ext cx="10515600" cy="256032"/>
          </a:xfrm>
          <a:prstGeom prst="rect">
            <a:avLst/>
          </a:prstGeom>
          <a:solidFill>
            <a:srgbClr val="050E0A"/>
          </a:solidFill>
          <a:ln>
            <a:solidFill>
              <a:srgbClr val="86AE8E"/>
            </a:solidFill>
          </a:ln>
        </p:spPr>
        <p:txBody>
          <a:bodyPr wrap="square" lIns="0" tIns="0" rIns="0" bIns="0" rtlCol="0" anchor="ctr"/>
          <a:lstStyle/>
          <a:p>
            <a:pPr indent="0" marL="0">
              <a:buNone/>
            </a:pPr>
            <a:r>
              <a:rPr lang="en-US" sz="1050" dirty="0">
                <a:solidFill>
                  <a:srgbClr val="EAF1ED"/>
                </a:solidFill>
                <a:latin typeface="Aptos"/>
              </a:rPr>
              <a:t>End-to-end workflow: target construction → EDA → model selection → locked future test evaluation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pic>
        <p:nvPicPr>
          <p:cNvPr id="37" name="Picture 36" descr="image-2-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02</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WORKFLOW</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Project roadmap</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The workflow is designed to mimic a real credit-risk screening process: learn from the past, evaluate on the future.</a:t>
            </a:r>
            <a:endParaRPr lang="en-US" sz="1320" dirty="0"/>
          </a:p>
        </p:txBody>
      </p:sp>
      <p:sp>
        <p:nvSpPr>
          <p:cNvPr id="9" name="Shape 7"/>
          <p:cNvSpPr/>
          <p:nvPr/>
        </p:nvSpPr>
        <p:spPr>
          <a:xfrm>
            <a:off x="777240" y="1847088"/>
            <a:ext cx="457200" cy="457200"/>
          </a:xfrm>
          <a:prstGeom prst="ellipse">
            <a:avLst/>
          </a:prstGeom>
          <a:solidFill>
            <a:srgbClr val="050E0A"/>
          </a:solidFill>
          <a:ln w="12700">
            <a:solidFill>
              <a:srgbClr val="86AE8E"/>
            </a:solidFill>
            <a:prstDash val="solid"/>
          </a:ln>
        </p:spPr>
        <p:txBody>
          <a:bodyPr/>
          <a:p/>
        </p:txBody>
      </p:sp>
      <p:sp>
        <p:nvSpPr>
          <p:cNvPr id="10" name="Text 8"/>
          <p:cNvSpPr/>
          <p:nvPr/>
        </p:nvSpPr>
        <p:spPr>
          <a:xfrm>
            <a:off x="777240" y="1965960"/>
            <a:ext cx="457200" cy="137160"/>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900" b="1" dirty="0">
                <a:solidFill>
                  <a:srgbClr val="9DDC9A"/>
                </a:solidFill>
                <a:latin typeface="Aptos"/>
              </a:rPr>
              <a:t>1</a:t>
            </a:r>
            <a:endParaRPr lang="en-US" sz="900" dirty="0"/>
          </a:p>
        </p:txBody>
      </p:sp>
      <p:sp>
        <p:nvSpPr>
          <p:cNvPr id="11" name="Text 9"/>
          <p:cNvSpPr/>
          <p:nvPr/>
        </p:nvSpPr>
        <p:spPr>
          <a:xfrm>
            <a:off x="1444752" y="1828800"/>
            <a:ext cx="2468880" cy="228600"/>
          </a:xfrm>
          <a:prstGeom prst="rect">
            <a:avLst/>
          </a:prstGeom>
          <a:solidFill>
            <a:srgbClr val="050E0A"/>
          </a:solidFill>
          <a:ln>
            <a:solidFill>
              <a:srgbClr val="86AE8E"/>
            </a:solidFill>
          </a:ln>
        </p:spPr>
        <p:txBody>
          <a:bodyPr wrap="square" lIns="0" tIns="0" rIns="0" bIns="0" rtlCol="0" anchor="ctr"/>
          <a:lstStyle/>
          <a:p>
            <a:pPr indent="0" marL="0">
              <a:buNone/>
            </a:pPr>
            <a:r>
              <a:rPr lang="en-US" sz="1300" b="1" dirty="0">
                <a:solidFill>
                  <a:srgbClr val="EAF1ED"/>
                </a:solidFill>
                <a:latin typeface="Aptos"/>
              </a:rPr>
              <a:t>Define target</a:t>
            </a:r>
            <a:endParaRPr lang="en-US" sz="1300" dirty="0"/>
          </a:p>
        </p:txBody>
      </p:sp>
      <p:sp>
        <p:nvSpPr>
          <p:cNvPr id="12" name="Text 10"/>
          <p:cNvSpPr/>
          <p:nvPr/>
        </p:nvSpPr>
        <p:spPr>
          <a:xfrm>
            <a:off x="4160520" y="1828800"/>
            <a:ext cx="6720840" cy="32918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240" dirty="0">
                <a:solidFill>
                  <a:srgbClr val="EAF1ED"/>
                </a:solidFill>
                <a:latin typeface="Aptos"/>
              </a:rPr>
              <a:t>Build chargeoff_5yr and avoid right-censoring.</a:t>
            </a:r>
            <a:endParaRPr lang="en-US" sz="1240" dirty="0"/>
          </a:p>
        </p:txBody>
      </p:sp>
      <p:sp>
        <p:nvSpPr>
          <p:cNvPr id="13" name="Shape 11"/>
          <p:cNvSpPr/>
          <p:nvPr/>
        </p:nvSpPr>
        <p:spPr>
          <a:xfrm>
            <a:off x="1005840" y="2350008"/>
            <a:ext cx="0" cy="393192"/>
          </a:xfrm>
          <a:prstGeom prst="line">
            <a:avLst/>
          </a:prstGeom>
          <a:noFill/>
          <a:ln w="12700">
            <a:solidFill>
              <a:srgbClr val="86AE8E"/>
            </a:solidFill>
            <a:prstDash val="solid"/>
          </a:ln>
        </p:spPr>
        <p:txBody>
          <a:bodyPr/>
          <a:p/>
        </p:txBody>
      </p:sp>
      <p:sp>
        <p:nvSpPr>
          <p:cNvPr id="14" name="Shape 12"/>
          <p:cNvSpPr/>
          <p:nvPr/>
        </p:nvSpPr>
        <p:spPr>
          <a:xfrm>
            <a:off x="777240" y="2596896"/>
            <a:ext cx="457200" cy="457200"/>
          </a:xfrm>
          <a:prstGeom prst="ellipse">
            <a:avLst/>
          </a:prstGeom>
          <a:solidFill>
            <a:srgbClr val="050E0A"/>
          </a:solidFill>
          <a:ln w="12700">
            <a:solidFill>
              <a:srgbClr val="86AE8E"/>
            </a:solidFill>
            <a:prstDash val="solid"/>
          </a:ln>
        </p:spPr>
        <p:txBody>
          <a:bodyPr/>
          <a:p/>
        </p:txBody>
      </p:sp>
      <p:sp>
        <p:nvSpPr>
          <p:cNvPr id="15" name="Text 13"/>
          <p:cNvSpPr/>
          <p:nvPr/>
        </p:nvSpPr>
        <p:spPr>
          <a:xfrm>
            <a:off x="777240" y="2715768"/>
            <a:ext cx="457200" cy="137160"/>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900" b="1" dirty="0">
                <a:solidFill>
                  <a:srgbClr val="9DDC9A"/>
                </a:solidFill>
                <a:latin typeface="Aptos"/>
              </a:rPr>
              <a:t>2</a:t>
            </a:r>
            <a:endParaRPr lang="en-US" sz="900" dirty="0"/>
          </a:p>
        </p:txBody>
      </p:sp>
      <p:sp>
        <p:nvSpPr>
          <p:cNvPr id="16" name="Text 14"/>
          <p:cNvSpPr/>
          <p:nvPr/>
        </p:nvSpPr>
        <p:spPr>
          <a:xfrm>
            <a:off x="1444752" y="2578608"/>
            <a:ext cx="2468880" cy="228600"/>
          </a:xfrm>
          <a:prstGeom prst="rect">
            <a:avLst/>
          </a:prstGeom>
          <a:solidFill>
            <a:srgbClr val="050E0A"/>
          </a:solidFill>
          <a:ln>
            <a:solidFill>
              <a:srgbClr val="86AE8E"/>
            </a:solidFill>
          </a:ln>
        </p:spPr>
        <p:txBody>
          <a:bodyPr wrap="square" lIns="0" tIns="0" rIns="0" bIns="0" rtlCol="0" anchor="ctr"/>
          <a:lstStyle/>
          <a:p>
            <a:pPr indent="0" marL="0">
              <a:buNone/>
            </a:pPr>
            <a:r>
              <a:rPr lang="en-US" sz="1300" b="1" dirty="0">
                <a:solidFill>
                  <a:srgbClr val="EAF1ED"/>
                </a:solidFill>
                <a:latin typeface="Aptos"/>
              </a:rPr>
              <a:t>Split by time</a:t>
            </a:r>
            <a:endParaRPr lang="en-US" sz="1300" dirty="0"/>
          </a:p>
        </p:txBody>
      </p:sp>
      <p:sp>
        <p:nvSpPr>
          <p:cNvPr id="17" name="Text 15"/>
          <p:cNvSpPr/>
          <p:nvPr/>
        </p:nvSpPr>
        <p:spPr>
          <a:xfrm>
            <a:off x="4160520" y="2578608"/>
            <a:ext cx="6720840" cy="32918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240" dirty="0">
                <a:solidFill>
                  <a:srgbClr val="EAF1ED"/>
                </a:solidFill>
                <a:latin typeface="Aptos"/>
              </a:rPr>
              <a:t>Train through 2017, validate on 2018–2019, test on 2020–2021.</a:t>
            </a:r>
            <a:endParaRPr lang="en-US" sz="1240" dirty="0"/>
          </a:p>
        </p:txBody>
      </p:sp>
      <p:sp>
        <p:nvSpPr>
          <p:cNvPr id="18" name="Shape 16"/>
          <p:cNvSpPr/>
          <p:nvPr/>
        </p:nvSpPr>
        <p:spPr>
          <a:xfrm>
            <a:off x="1005840" y="3099816"/>
            <a:ext cx="0" cy="393192"/>
          </a:xfrm>
          <a:prstGeom prst="line">
            <a:avLst/>
          </a:prstGeom>
          <a:noFill/>
          <a:ln w="12700">
            <a:solidFill>
              <a:srgbClr val="86AE8E"/>
            </a:solidFill>
            <a:prstDash val="solid"/>
          </a:ln>
        </p:spPr>
        <p:txBody>
          <a:bodyPr/>
          <a:p/>
        </p:txBody>
      </p:sp>
      <p:sp>
        <p:nvSpPr>
          <p:cNvPr id="19" name="Shape 17"/>
          <p:cNvSpPr/>
          <p:nvPr/>
        </p:nvSpPr>
        <p:spPr>
          <a:xfrm>
            <a:off x="777240" y="3346704"/>
            <a:ext cx="457200" cy="457200"/>
          </a:xfrm>
          <a:prstGeom prst="ellipse">
            <a:avLst/>
          </a:prstGeom>
          <a:solidFill>
            <a:srgbClr val="050E0A"/>
          </a:solidFill>
          <a:ln w="12700">
            <a:solidFill>
              <a:srgbClr val="86AE8E"/>
            </a:solidFill>
            <a:prstDash val="solid"/>
          </a:ln>
        </p:spPr>
        <p:txBody>
          <a:bodyPr/>
          <a:p/>
        </p:txBody>
      </p:sp>
      <p:sp>
        <p:nvSpPr>
          <p:cNvPr id="20" name="Text 18"/>
          <p:cNvSpPr/>
          <p:nvPr/>
        </p:nvSpPr>
        <p:spPr>
          <a:xfrm>
            <a:off x="777240" y="3465576"/>
            <a:ext cx="457200" cy="137160"/>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900" b="1" dirty="0">
                <a:solidFill>
                  <a:srgbClr val="9DDC9A"/>
                </a:solidFill>
                <a:latin typeface="Aptos"/>
              </a:rPr>
              <a:t>3</a:t>
            </a:r>
            <a:endParaRPr lang="en-US" sz="900" dirty="0"/>
          </a:p>
        </p:txBody>
      </p:sp>
      <p:sp>
        <p:nvSpPr>
          <p:cNvPr id="21" name="Text 19"/>
          <p:cNvSpPr/>
          <p:nvPr/>
        </p:nvSpPr>
        <p:spPr>
          <a:xfrm>
            <a:off x="1444752" y="3328416"/>
            <a:ext cx="2468880" cy="228600"/>
          </a:xfrm>
          <a:prstGeom prst="rect">
            <a:avLst/>
          </a:prstGeom>
          <a:solidFill>
            <a:srgbClr val="050E0A"/>
          </a:solidFill>
          <a:ln>
            <a:solidFill>
              <a:srgbClr val="86AE8E"/>
            </a:solidFill>
          </a:ln>
        </p:spPr>
        <p:txBody>
          <a:bodyPr wrap="square" lIns="0" tIns="0" rIns="0" bIns="0" rtlCol="0" anchor="ctr"/>
          <a:lstStyle/>
          <a:p>
            <a:pPr indent="0" marL="0">
              <a:buNone/>
            </a:pPr>
            <a:r>
              <a:rPr lang="en-US" sz="1300" b="1" dirty="0">
                <a:solidFill>
                  <a:srgbClr val="EAF1ED"/>
                </a:solidFill>
                <a:latin typeface="Aptos"/>
              </a:rPr>
              <a:t>Explore training data</a:t>
            </a:r>
            <a:endParaRPr lang="en-US" sz="1300" dirty="0"/>
          </a:p>
        </p:txBody>
      </p:sp>
      <p:sp>
        <p:nvSpPr>
          <p:cNvPr id="22" name="Text 20"/>
          <p:cNvSpPr/>
          <p:nvPr/>
        </p:nvSpPr>
        <p:spPr>
          <a:xfrm>
            <a:off x="4160520" y="3328416"/>
            <a:ext cx="6720840" cy="32918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240" dirty="0">
                <a:solidFill>
                  <a:srgbClr val="EAF1ED"/>
                </a:solidFill>
                <a:latin typeface="Aptos"/>
              </a:rPr>
              <a:t>Use training-only EDA to guide feature choices.</a:t>
            </a:r>
            <a:endParaRPr lang="en-US" sz="1240" dirty="0"/>
          </a:p>
        </p:txBody>
      </p:sp>
      <p:sp>
        <p:nvSpPr>
          <p:cNvPr id="23" name="Shape 21"/>
          <p:cNvSpPr/>
          <p:nvPr/>
        </p:nvSpPr>
        <p:spPr>
          <a:xfrm>
            <a:off x="1005840" y="3849624"/>
            <a:ext cx="0" cy="393192"/>
          </a:xfrm>
          <a:prstGeom prst="line">
            <a:avLst/>
          </a:prstGeom>
          <a:noFill/>
          <a:ln w="12700">
            <a:solidFill>
              <a:srgbClr val="86AE8E"/>
            </a:solidFill>
            <a:prstDash val="solid"/>
          </a:ln>
        </p:spPr>
        <p:txBody>
          <a:bodyPr/>
          <a:p/>
        </p:txBody>
      </p:sp>
      <p:sp>
        <p:nvSpPr>
          <p:cNvPr id="24" name="Shape 22"/>
          <p:cNvSpPr/>
          <p:nvPr/>
        </p:nvSpPr>
        <p:spPr>
          <a:xfrm>
            <a:off x="777240" y="4096512"/>
            <a:ext cx="457200" cy="457200"/>
          </a:xfrm>
          <a:prstGeom prst="ellipse">
            <a:avLst/>
          </a:prstGeom>
          <a:solidFill>
            <a:srgbClr val="050E0A"/>
          </a:solidFill>
          <a:ln w="12700">
            <a:solidFill>
              <a:srgbClr val="86AE8E"/>
            </a:solidFill>
            <a:prstDash val="solid"/>
          </a:ln>
        </p:spPr>
        <p:txBody>
          <a:bodyPr/>
          <a:p/>
        </p:txBody>
      </p:sp>
      <p:sp>
        <p:nvSpPr>
          <p:cNvPr id="25" name="Text 23"/>
          <p:cNvSpPr/>
          <p:nvPr/>
        </p:nvSpPr>
        <p:spPr>
          <a:xfrm>
            <a:off x="777240" y="4215384"/>
            <a:ext cx="457200" cy="137160"/>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900" b="1" dirty="0">
                <a:solidFill>
                  <a:srgbClr val="9DDC9A"/>
                </a:solidFill>
                <a:latin typeface="Aptos"/>
              </a:rPr>
              <a:t>4</a:t>
            </a:r>
            <a:endParaRPr lang="en-US" sz="900" dirty="0"/>
          </a:p>
        </p:txBody>
      </p:sp>
      <p:sp>
        <p:nvSpPr>
          <p:cNvPr id="26" name="Text 24"/>
          <p:cNvSpPr/>
          <p:nvPr/>
        </p:nvSpPr>
        <p:spPr>
          <a:xfrm>
            <a:off x="1444752" y="4078224"/>
            <a:ext cx="2468880" cy="228600"/>
          </a:xfrm>
          <a:prstGeom prst="rect">
            <a:avLst/>
          </a:prstGeom>
          <a:solidFill>
            <a:srgbClr val="050E0A"/>
          </a:solidFill>
          <a:ln>
            <a:solidFill>
              <a:srgbClr val="86AE8E"/>
            </a:solidFill>
          </a:ln>
        </p:spPr>
        <p:txBody>
          <a:bodyPr wrap="square" lIns="0" tIns="0" rIns="0" bIns="0" rtlCol="0" anchor="ctr"/>
          <a:lstStyle/>
          <a:p>
            <a:pPr indent="0" marL="0">
              <a:buNone/>
            </a:pPr>
            <a:r>
              <a:rPr lang="en-US" sz="1300" b="1" dirty="0">
                <a:solidFill>
                  <a:srgbClr val="EAF1ED"/>
                </a:solidFill>
                <a:latin typeface="Aptos"/>
              </a:rPr>
              <a:t>Compare models</a:t>
            </a:r>
            <a:endParaRPr lang="en-US" sz="1300" dirty="0"/>
          </a:p>
        </p:txBody>
      </p:sp>
      <p:sp>
        <p:nvSpPr>
          <p:cNvPr id="27" name="Text 25"/>
          <p:cNvSpPr/>
          <p:nvPr/>
        </p:nvSpPr>
        <p:spPr>
          <a:xfrm>
            <a:off x="4160520" y="4078224"/>
            <a:ext cx="6720840" cy="32918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240" dirty="0">
                <a:solidFill>
                  <a:srgbClr val="EAF1ED"/>
                </a:solidFill>
                <a:latin typeface="Aptos"/>
              </a:rPr>
              <a:t>Pick model by validation PR-AUC, not test results.</a:t>
            </a:r>
            <a:endParaRPr lang="en-US" sz="1240" dirty="0"/>
          </a:p>
        </p:txBody>
      </p:sp>
      <p:sp>
        <p:nvSpPr>
          <p:cNvPr id="28" name="Shape 26"/>
          <p:cNvSpPr/>
          <p:nvPr/>
        </p:nvSpPr>
        <p:spPr>
          <a:xfrm>
            <a:off x="1005840" y="4599432"/>
            <a:ext cx="0" cy="393192"/>
          </a:xfrm>
          <a:prstGeom prst="line">
            <a:avLst/>
          </a:prstGeom>
          <a:noFill/>
          <a:ln w="12700">
            <a:solidFill>
              <a:srgbClr val="86AE8E"/>
            </a:solidFill>
            <a:prstDash val="solid"/>
          </a:ln>
        </p:spPr>
        <p:txBody>
          <a:bodyPr/>
          <a:p/>
        </p:txBody>
      </p:sp>
      <p:sp>
        <p:nvSpPr>
          <p:cNvPr id="29" name="Shape 27"/>
          <p:cNvSpPr/>
          <p:nvPr/>
        </p:nvSpPr>
        <p:spPr>
          <a:xfrm>
            <a:off x="777240" y="4846320"/>
            <a:ext cx="457200" cy="457200"/>
          </a:xfrm>
          <a:prstGeom prst="ellipse">
            <a:avLst/>
          </a:prstGeom>
          <a:solidFill>
            <a:srgbClr val="050E0A"/>
          </a:solidFill>
          <a:ln w="12700">
            <a:solidFill>
              <a:srgbClr val="86AE8E"/>
            </a:solidFill>
            <a:prstDash val="solid"/>
          </a:ln>
        </p:spPr>
        <p:txBody>
          <a:bodyPr/>
          <a:p/>
        </p:txBody>
      </p:sp>
      <p:sp>
        <p:nvSpPr>
          <p:cNvPr id="30" name="Text 28"/>
          <p:cNvSpPr/>
          <p:nvPr/>
        </p:nvSpPr>
        <p:spPr>
          <a:xfrm>
            <a:off x="777240" y="4965192"/>
            <a:ext cx="457200" cy="137160"/>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900" b="1" dirty="0">
                <a:solidFill>
                  <a:srgbClr val="9DDC9A"/>
                </a:solidFill>
                <a:latin typeface="Aptos"/>
              </a:rPr>
              <a:t>5</a:t>
            </a:r>
            <a:endParaRPr lang="en-US" sz="900" dirty="0"/>
          </a:p>
        </p:txBody>
      </p:sp>
      <p:sp>
        <p:nvSpPr>
          <p:cNvPr id="31" name="Text 29"/>
          <p:cNvSpPr/>
          <p:nvPr/>
        </p:nvSpPr>
        <p:spPr>
          <a:xfrm>
            <a:off x="1444752" y="4828032"/>
            <a:ext cx="2468880" cy="228600"/>
          </a:xfrm>
          <a:prstGeom prst="rect">
            <a:avLst/>
          </a:prstGeom>
          <a:solidFill>
            <a:srgbClr val="050E0A"/>
          </a:solidFill>
          <a:ln>
            <a:solidFill>
              <a:srgbClr val="86AE8E"/>
            </a:solidFill>
          </a:ln>
        </p:spPr>
        <p:txBody>
          <a:bodyPr wrap="square" lIns="0" tIns="0" rIns="0" bIns="0" rtlCol="0" anchor="ctr"/>
          <a:lstStyle/>
          <a:p>
            <a:pPr indent="0" marL="0">
              <a:buNone/>
            </a:pPr>
            <a:r>
              <a:rPr lang="en-US" sz="1300" b="1" dirty="0">
                <a:solidFill>
                  <a:srgbClr val="EAF1ED"/>
                </a:solidFill>
                <a:latin typeface="Aptos"/>
              </a:rPr>
              <a:t>Evaluate once</a:t>
            </a:r>
            <a:endParaRPr lang="en-US" sz="1300" dirty="0"/>
          </a:p>
        </p:txBody>
      </p:sp>
      <p:sp>
        <p:nvSpPr>
          <p:cNvPr id="32" name="Text 30"/>
          <p:cNvSpPr/>
          <p:nvPr/>
        </p:nvSpPr>
        <p:spPr>
          <a:xfrm>
            <a:off x="4160520" y="4828032"/>
            <a:ext cx="6720840" cy="32918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240" dirty="0">
                <a:solidFill>
                  <a:srgbClr val="EAF1ED"/>
                </a:solidFill>
                <a:latin typeface="Aptos"/>
              </a:rPr>
              <a:t>Use locked test set for final future-period performance.</a:t>
            </a:r>
            <a:endParaRPr lang="en-US" sz="1240" dirty="0"/>
          </a:p>
        </p:txBody>
      </p:sp>
      <p:sp>
        <p:nvSpPr>
          <p:cNvPr id="33" name="Shape 31"/>
          <p:cNvSpPr/>
          <p:nvPr/>
        </p:nvSpPr>
        <p:spPr>
          <a:xfrm>
            <a:off x="777240" y="5669280"/>
            <a:ext cx="10652760" cy="566928"/>
          </a:xfrm>
          <a:prstGeom prst="roundRect">
            <a:avLst>
              <a:gd name="adj" fmla="val 16129"/>
            </a:avLst>
          </a:prstGeom>
          <a:solidFill>
            <a:srgbClr val="050E0A"/>
          </a:solidFill>
          <a:ln w="12700">
            <a:solidFill>
              <a:srgbClr val="86AE8E"/>
            </a:solidFill>
            <a:prstDash val="solid"/>
          </a:ln>
        </p:spPr>
        <p:txBody>
          <a:bodyPr/>
          <a:p/>
        </p:txBody>
      </p:sp>
      <p:sp>
        <p:nvSpPr>
          <p:cNvPr id="34" name="Text 32"/>
          <p:cNvSpPr/>
          <p:nvPr/>
        </p:nvSpPr>
        <p:spPr>
          <a:xfrm>
            <a:off x="923544" y="5779008"/>
            <a:ext cx="1036015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 b="1" dirty="0">
                <a:solidFill>
                  <a:srgbClr val="EAF1ED"/>
                </a:solidFill>
                <a:latin typeface="Aptos"/>
              </a:rPr>
              <a:t>Guiding rule</a:t>
            </a:r>
            <a:endParaRPr lang="en-US" sz="10" dirty="0"/>
          </a:p>
        </p:txBody>
      </p:sp>
      <p:sp>
        <p:nvSpPr>
          <p:cNvPr id="35" name="Text 33"/>
          <p:cNvSpPr/>
          <p:nvPr/>
        </p:nvSpPr>
        <p:spPr>
          <a:xfrm>
            <a:off x="923544" y="6108192"/>
            <a:ext cx="10360152" cy="0"/>
          </a:xfrm>
          <a:prstGeom prst="rect">
            <a:avLst/>
          </a:prstGeom>
          <a:noFill/>
          <a:ln>
            <a:solidFill>
              <a:srgbClr val="86AE8E"/>
            </a:solidFill>
          </a:ln>
        </p:spPr>
        <p:txBody>
          <a:bodyPr wrap="square" lIns="254" tIns="254" rIns="254" bIns="254" rtlCol="0" anchor="t">
            <a:normAutofit/>
          </a:bodyPr>
          <a:lstStyle/>
          <a:p>
            <a:pPr indent="0" marL="0">
              <a:buNone/>
            </a:pPr>
            <a:r>
              <a:rPr lang="en-US" sz="1230" dirty="0">
                <a:solidFill>
                  <a:srgbClr val="EAF1ED"/>
                </a:solidFill>
                <a:latin typeface="Aptos"/>
              </a:rPr>
              <a:t>Training data is for learning. Validation data is for model and threshold decisions. Test data is only for final evaluation.</a:t>
            </a:r>
            <a:endParaRPr lang="en-US" sz="1230" dirty="0"/>
          </a:p>
        </p:txBody>
      </p:sp>
      <p:sp>
        <p:nvSpPr>
          <p:cNvPr id="36" name="Text 34"/>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16" name="Picture 15" descr="image-3-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03</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PROBLEM FRAMING</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Research objective: ranking risk, not maximizing accuracy</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Because charge-off is rare, a high-accuracy model can still be useless if it never finds risky loans.</a:t>
            </a:r>
            <a:endParaRPr lang="en-US" sz="1320" dirty="0"/>
          </a:p>
        </p:txBody>
      </p:sp>
      <p:sp>
        <p:nvSpPr>
          <p:cNvPr id="9" name="Shape 7"/>
          <p:cNvSpPr/>
          <p:nvPr/>
        </p:nvSpPr>
        <p:spPr>
          <a:xfrm>
            <a:off x="658368" y="1874520"/>
            <a:ext cx="5376672" cy="4251960"/>
          </a:xfrm>
          <a:prstGeom prst="roundRect">
            <a:avLst>
              <a:gd name="adj" fmla="val 2151"/>
            </a:avLst>
          </a:prstGeom>
          <a:solidFill>
            <a:srgbClr val="050E0A"/>
          </a:solidFill>
          <a:ln w="12700">
            <a:solidFill>
              <a:srgbClr val="86AE8E"/>
            </a:solidFill>
            <a:prstDash val="solid"/>
          </a:ln>
        </p:spPr>
        <p:txBody>
          <a:bodyPr/>
          <a:p/>
        </p:txBody>
      </p:sp>
      <p:sp>
        <p:nvSpPr>
          <p:cNvPr id="10" name="Text 8"/>
          <p:cNvSpPr/>
          <p:nvPr/>
        </p:nvSpPr>
        <p:spPr>
          <a:xfrm>
            <a:off x="804672" y="1984248"/>
            <a:ext cx="5084064"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Why accuracy is misleading</a:t>
            </a:r>
            <a:endParaRPr lang="en-US" sz="1050" dirty="0"/>
          </a:p>
        </p:txBody>
      </p:sp>
      <p:sp>
        <p:nvSpPr>
          <p:cNvPr id="11" name="Text 9"/>
          <p:cNvSpPr/>
          <p:nvPr/>
        </p:nvSpPr>
        <p:spPr>
          <a:xfrm>
            <a:off x="804672" y="2313432"/>
            <a:ext cx="5084064" cy="368503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00" dirty="0">
                <a:solidFill>
                  <a:srgbClr val="EAF1ED"/>
                </a:solidFill>
                <a:latin typeface="Aptos"/>
              </a:rPr>
              <a:t>• Overall charge-off rate is only about 3.76%.</a:t>
            </a:r>
            <a:endParaRPr lang="en-US" sz="1300" dirty="0"/>
          </a:p>
          <a:p>
            <a:pPr indent="0" marL="0">
              <a:buNone/>
            </a:pPr>
            <a:r>
              <a:rPr lang="en-US" sz="1300" dirty="0">
                <a:solidFill>
                  <a:srgbClr val="EAF1ED"/>
                </a:solidFill>
                <a:latin typeface="Aptos"/>
              </a:rPr>
              <a:t>• A model could predict “no charge-off” for almost everything and still look accurate.</a:t>
            </a:r>
            <a:endParaRPr lang="en-US" sz="1300" dirty="0"/>
          </a:p>
          <a:p>
            <a:pPr indent="0" marL="0">
              <a:buNone/>
            </a:pPr>
            <a:r>
              <a:rPr lang="en-US" sz="1300" dirty="0">
                <a:solidFill>
                  <a:srgbClr val="EAF1ED"/>
                </a:solidFill>
                <a:latin typeface="Aptos"/>
              </a:rPr>
              <a:t>• That would identify almost none of the loans we actually care about.</a:t>
            </a:r>
            <a:endParaRPr lang="en-US" sz="1300" dirty="0"/>
          </a:p>
        </p:txBody>
      </p:sp>
      <p:sp>
        <p:nvSpPr>
          <p:cNvPr id="12" name="Shape 10"/>
          <p:cNvSpPr/>
          <p:nvPr/>
        </p:nvSpPr>
        <p:spPr>
          <a:xfrm>
            <a:off x="6263640" y="1874520"/>
            <a:ext cx="5230368" cy="4251960"/>
          </a:xfrm>
          <a:prstGeom prst="roundRect">
            <a:avLst>
              <a:gd name="adj" fmla="val 2151"/>
            </a:avLst>
          </a:prstGeom>
          <a:solidFill>
            <a:srgbClr val="050E0A"/>
          </a:solidFill>
          <a:ln w="12700">
            <a:solidFill>
              <a:srgbClr val="86AE8E"/>
            </a:solidFill>
            <a:prstDash val="solid"/>
          </a:ln>
        </p:spPr>
        <p:txBody>
          <a:bodyPr/>
          <a:p/>
        </p:txBody>
      </p:sp>
      <p:sp>
        <p:nvSpPr>
          <p:cNvPr id="13" name="Text 11"/>
          <p:cNvSpPr/>
          <p:nvPr/>
        </p:nvSpPr>
        <p:spPr>
          <a:xfrm>
            <a:off x="6409944" y="1984248"/>
            <a:ext cx="4937760"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What this project measures instead</a:t>
            </a:r>
            <a:endParaRPr lang="en-US" sz="1050" dirty="0"/>
          </a:p>
        </p:txBody>
      </p:sp>
      <p:sp>
        <p:nvSpPr>
          <p:cNvPr id="14" name="Text 12"/>
          <p:cNvSpPr/>
          <p:nvPr/>
        </p:nvSpPr>
        <p:spPr>
          <a:xfrm>
            <a:off x="6409944" y="2313432"/>
            <a:ext cx="4937760" cy="368503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00" dirty="0">
                <a:solidFill>
                  <a:srgbClr val="EAF1ED"/>
                </a:solidFill>
                <a:latin typeface="Aptos"/>
              </a:rPr>
              <a:t>• PR-AUC: quality of precision-recall ranking for the positive class.</a:t>
            </a:r>
            <a:endParaRPr lang="en-US" sz="1300" dirty="0"/>
          </a:p>
          <a:p>
            <a:pPr indent="0" marL="0">
              <a:buNone/>
            </a:pPr>
            <a:r>
              <a:rPr lang="en-US" sz="1300" dirty="0">
                <a:solidFill>
                  <a:srgbClr val="EAF1ED"/>
                </a:solidFill>
                <a:latin typeface="Aptos"/>
              </a:rPr>
              <a:t>• Precision: how risky the flagged group actually is.</a:t>
            </a:r>
            <a:endParaRPr lang="en-US" sz="1300" dirty="0"/>
          </a:p>
          <a:p>
            <a:pPr indent="0" marL="0">
              <a:buNone/>
            </a:pPr>
            <a:r>
              <a:rPr lang="en-US" sz="1300" dirty="0">
                <a:solidFill>
                  <a:srgbClr val="EAF1ED"/>
                </a:solidFill>
                <a:latin typeface="Aptos"/>
              </a:rPr>
              <a:t>• Recall: how many true charge-offs the model catches.</a:t>
            </a:r>
            <a:endParaRPr lang="en-US" sz="1300" dirty="0"/>
          </a:p>
          <a:p>
            <a:pPr indent="0" marL="0">
              <a:buNone/>
            </a:pPr>
            <a:r>
              <a:rPr lang="en-US" sz="1300" dirty="0">
                <a:solidFill>
                  <a:srgbClr val="EAF1ED"/>
                </a:solidFill>
                <a:latin typeface="Aptos"/>
              </a:rPr>
              <a:t>• Confusion matrices: translate metrics into actual loan counts.</a:t>
            </a:r>
            <a:endParaRPr lang="en-US" sz="1300" dirty="0"/>
          </a:p>
        </p:txBody>
      </p:sp>
      <p:sp>
        <p:nvSpPr>
          <p:cNvPr id="15" name="Text 13"/>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pic>
        <p:nvPicPr>
          <p:cNvPr id="22" name="Picture 21" descr="image-4-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04</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TARGET DESIGN</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Target construction: chargeoff_5yr</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A valid target is the foundation of the project: recent loans cannot be labeled safe before five years have passed.</a:t>
            </a:r>
            <a:endParaRPr lang="en-US" sz="1320" dirty="0"/>
          </a:p>
        </p:txBody>
      </p:sp>
      <p:sp>
        <p:nvSpPr>
          <p:cNvPr id="9" name="Shape 7"/>
          <p:cNvSpPr/>
          <p:nvPr/>
        </p:nvSpPr>
        <p:spPr>
          <a:xfrm>
            <a:off x="658368" y="1874520"/>
            <a:ext cx="3749040" cy="2057400"/>
          </a:xfrm>
          <a:prstGeom prst="roundRect">
            <a:avLst>
              <a:gd name="adj" fmla="val 4444"/>
            </a:avLst>
          </a:prstGeom>
          <a:solidFill>
            <a:srgbClr val="050E0A"/>
          </a:solidFill>
          <a:ln w="12700">
            <a:solidFill>
              <a:srgbClr val="86AE8E"/>
            </a:solidFill>
            <a:prstDash val="solid"/>
          </a:ln>
        </p:spPr>
        <p:txBody>
          <a:bodyPr/>
          <a:p/>
        </p:txBody>
      </p:sp>
      <p:sp>
        <p:nvSpPr>
          <p:cNvPr id="10" name="Text 8"/>
          <p:cNvSpPr/>
          <p:nvPr/>
        </p:nvSpPr>
        <p:spPr>
          <a:xfrm>
            <a:off x="804672" y="1984248"/>
            <a:ext cx="345643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Definition</a:t>
            </a:r>
            <a:endParaRPr lang="en-US" sz="1050" dirty="0"/>
          </a:p>
        </p:txBody>
      </p:sp>
      <p:sp>
        <p:nvSpPr>
          <p:cNvPr id="11" name="Text 9"/>
          <p:cNvSpPr/>
          <p:nvPr/>
        </p:nvSpPr>
        <p:spPr>
          <a:xfrm>
            <a:off x="804672" y="2313432"/>
            <a:ext cx="3456432" cy="14904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00" dirty="0">
                <a:solidFill>
                  <a:srgbClr val="EAF1ED"/>
                </a:solidFill>
                <a:latin typeface="Aptos"/>
              </a:rPr>
              <a:t>chargeoff_5yr = 1 if the loan has a documented charge-off within 5 years after approval.</a:t>
            </a:r>
            <a:endParaRPr lang="en-US" sz="1200" dirty="0"/>
          </a:p>
          <a:p>
            <a:pPr indent="0" marL="0">
              <a:buNone/>
            </a:pPr>
            <a:endParaRPr lang="en-US" sz="1200" dirty="0"/>
          </a:p>
          <a:p>
            <a:pPr indent="0" marL="0">
              <a:buNone/>
            </a:pPr>
            <a:r>
              <a:rPr lang="en-US" sz="1200" dirty="0">
                <a:solidFill>
                  <a:srgbClr val="EAF1ED"/>
                </a:solidFill>
                <a:latin typeface="Aptos"/>
              </a:rPr>
              <a:t>chargeoff_5yr = 0 if no documented charge-off appears during the first 5 years.</a:t>
            </a:r>
            <a:endParaRPr lang="en-US" sz="1200" dirty="0"/>
          </a:p>
        </p:txBody>
      </p:sp>
      <p:sp>
        <p:nvSpPr>
          <p:cNvPr id="12" name="Shape 10"/>
          <p:cNvSpPr/>
          <p:nvPr/>
        </p:nvSpPr>
        <p:spPr>
          <a:xfrm>
            <a:off x="4553712" y="1874520"/>
            <a:ext cx="3749040" cy="2057400"/>
          </a:xfrm>
          <a:prstGeom prst="roundRect">
            <a:avLst>
              <a:gd name="adj" fmla="val 4444"/>
            </a:avLst>
          </a:prstGeom>
          <a:solidFill>
            <a:srgbClr val="050E0A"/>
          </a:solidFill>
          <a:ln w="12700">
            <a:solidFill>
              <a:srgbClr val="86AE8E"/>
            </a:solidFill>
            <a:prstDash val="solid"/>
          </a:ln>
        </p:spPr>
        <p:txBody>
          <a:bodyPr/>
          <a:p/>
        </p:txBody>
      </p:sp>
      <p:sp>
        <p:nvSpPr>
          <p:cNvPr id="13" name="Text 11"/>
          <p:cNvSpPr/>
          <p:nvPr/>
        </p:nvSpPr>
        <p:spPr>
          <a:xfrm>
            <a:off x="4700016" y="1984248"/>
            <a:ext cx="345643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Right-censoring problem</a:t>
            </a:r>
            <a:endParaRPr lang="en-US" sz="1050" dirty="0"/>
          </a:p>
        </p:txBody>
      </p:sp>
      <p:sp>
        <p:nvSpPr>
          <p:cNvPr id="14" name="Text 12"/>
          <p:cNvSpPr/>
          <p:nvPr/>
        </p:nvSpPr>
        <p:spPr>
          <a:xfrm>
            <a:off x="4700016" y="2313432"/>
            <a:ext cx="3456432" cy="14904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00" dirty="0">
                <a:solidFill>
                  <a:srgbClr val="EAF1ED"/>
                </a:solidFill>
                <a:latin typeface="Aptos"/>
              </a:rPr>
              <a:t>A loan approved in 2024 has only about two years of follow-up in a 2026 snapshot. Labeling it as “safe” would be wrong because the full five-year window has not passed yet.</a:t>
            </a:r>
            <a:endParaRPr lang="en-US" sz="1200" dirty="0"/>
          </a:p>
        </p:txBody>
      </p:sp>
      <p:sp>
        <p:nvSpPr>
          <p:cNvPr id="15" name="Shape 13"/>
          <p:cNvSpPr/>
          <p:nvPr/>
        </p:nvSpPr>
        <p:spPr>
          <a:xfrm>
            <a:off x="8439912" y="1874520"/>
            <a:ext cx="3035808" cy="2057400"/>
          </a:xfrm>
          <a:prstGeom prst="roundRect">
            <a:avLst>
              <a:gd name="adj" fmla="val 4444"/>
            </a:avLst>
          </a:prstGeom>
          <a:solidFill>
            <a:srgbClr val="050E0A"/>
          </a:solidFill>
          <a:ln w="12700">
            <a:solidFill>
              <a:srgbClr val="86AE8E"/>
            </a:solidFill>
            <a:prstDash val="solid"/>
          </a:ln>
        </p:spPr>
        <p:txBody>
          <a:bodyPr/>
          <a:p/>
        </p:txBody>
      </p:sp>
      <p:sp>
        <p:nvSpPr>
          <p:cNvPr id="16" name="Text 14"/>
          <p:cNvSpPr/>
          <p:nvPr/>
        </p:nvSpPr>
        <p:spPr>
          <a:xfrm>
            <a:off x="8586216" y="1984248"/>
            <a:ext cx="2743200"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Cutoff used</a:t>
            </a:r>
            <a:endParaRPr lang="en-US" sz="1050" dirty="0"/>
          </a:p>
        </p:txBody>
      </p:sp>
      <p:sp>
        <p:nvSpPr>
          <p:cNvPr id="17" name="Text 15"/>
          <p:cNvSpPr/>
          <p:nvPr/>
        </p:nvSpPr>
        <p:spPr>
          <a:xfrm>
            <a:off x="8586216" y="2313432"/>
            <a:ext cx="2743200" cy="14904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140" dirty="0">
                <a:solidFill>
                  <a:srgbClr val="EAF1ED"/>
                </a:solidFill>
                <a:latin typeface="Aptos"/>
              </a:rPr>
              <a:t>SBA snapshot: June 30, 2026</a:t>
            </a:r>
            <a:endParaRPr lang="en-US" sz="1140" dirty="0"/>
          </a:p>
          <a:p>
            <a:pPr indent="0" marL="0">
              <a:buNone/>
            </a:pPr>
            <a:r>
              <a:rPr lang="en-US" sz="1140" dirty="0">
                <a:solidFill>
                  <a:srgbClr val="EAF1ED"/>
                </a:solidFill>
                <a:latin typeface="Aptos"/>
              </a:rPr>
              <a:t>Latest usable approval date: June 30, 2021</a:t>
            </a:r>
            <a:endParaRPr lang="en-US" sz="1140" dirty="0"/>
          </a:p>
          <a:p>
            <a:pPr indent="0" marL="0">
              <a:buNone/>
            </a:pPr>
            <a:r>
              <a:rPr lang="en-US" sz="1140" dirty="0">
                <a:solidFill>
                  <a:srgbClr val="EAF1ED"/>
                </a:solidFill>
                <a:latin typeface="Aptos"/>
              </a:rPr>
              <a:t>Loans approved after that are excluded from the five-year modeling sample.</a:t>
            </a:r>
            <a:endParaRPr lang="en-US" sz="1140" dirty="0"/>
          </a:p>
        </p:txBody>
      </p:sp>
      <p:sp>
        <p:nvSpPr>
          <p:cNvPr id="18" name="Shape 16"/>
          <p:cNvSpPr/>
          <p:nvPr/>
        </p:nvSpPr>
        <p:spPr>
          <a:xfrm>
            <a:off x="658368" y="4343400"/>
            <a:ext cx="10817352" cy="1051560"/>
          </a:xfrm>
          <a:prstGeom prst="roundRect">
            <a:avLst>
              <a:gd name="adj" fmla="val 8696"/>
            </a:avLst>
          </a:prstGeom>
          <a:solidFill>
            <a:srgbClr val="050E0A"/>
          </a:solidFill>
          <a:ln w="12700">
            <a:solidFill>
              <a:srgbClr val="86AE8E"/>
            </a:solidFill>
            <a:prstDash val="solid"/>
          </a:ln>
        </p:spPr>
        <p:txBody>
          <a:bodyPr/>
          <a:p/>
        </p:txBody>
      </p:sp>
      <p:sp>
        <p:nvSpPr>
          <p:cNvPr id="19" name="Text 17"/>
          <p:cNvSpPr/>
          <p:nvPr/>
        </p:nvSpPr>
        <p:spPr>
          <a:xfrm>
            <a:off x="804672" y="4453128"/>
            <a:ext cx="10524744"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Leakage guardrail</a:t>
            </a:r>
            <a:endParaRPr lang="en-US" sz="1050" dirty="0"/>
          </a:p>
        </p:txBody>
      </p:sp>
      <p:sp>
        <p:nvSpPr>
          <p:cNvPr id="20" name="Text 18"/>
          <p:cNvSpPr/>
          <p:nvPr/>
        </p:nvSpPr>
        <p:spPr>
          <a:xfrm>
            <a:off x="804672" y="4782312"/>
            <a:ext cx="10524744" cy="48463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00" dirty="0">
                <a:solidFill>
                  <a:srgbClr val="EAF1ED"/>
                </a:solidFill>
                <a:latin typeface="Aptos"/>
              </a:rPr>
              <a:t>Loan status, charge-off date, charge-off amount, and paid-in-full date can help construct the target, but they cannot be predictors.</a:t>
            </a:r>
            <a:endParaRPr lang="en-US" sz="1300" dirty="0"/>
          </a:p>
        </p:txBody>
      </p:sp>
      <p:sp>
        <p:nvSpPr>
          <p:cNvPr id="21" name="Text 19"/>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31" name="Picture 30" descr="image-1-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05</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DATA</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Data universe: from raw SBA files to modeling sample</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The modeling sample contains 543,110 loans, but only 3.76% charge off within five years.</a:t>
            </a:r>
            <a:endParaRPr lang="en-US" sz="1320" dirty="0"/>
          </a:p>
        </p:txBody>
      </p:sp>
      <p:sp>
        <p:nvSpPr>
          <p:cNvPr id="9" name="Shape 7"/>
          <p:cNvSpPr/>
          <p:nvPr/>
        </p:nvSpPr>
        <p:spPr>
          <a:xfrm>
            <a:off x="804672" y="1965960"/>
            <a:ext cx="1874520" cy="777240"/>
          </a:xfrm>
          <a:prstGeom prst="roundRect">
            <a:avLst>
              <a:gd name="adj" fmla="val 11765"/>
            </a:avLst>
          </a:prstGeom>
          <a:solidFill>
            <a:srgbClr val="050E0A"/>
          </a:solidFill>
          <a:ln w="12700">
            <a:solidFill>
              <a:srgbClr val="86AE8E"/>
            </a:solidFill>
            <a:prstDash val="solid"/>
          </a:ln>
        </p:spPr>
        <p:txBody>
          <a:bodyPr/>
          <a:p/>
        </p:txBody>
      </p:sp>
      <p:sp>
        <p:nvSpPr>
          <p:cNvPr id="10" name="Text 8"/>
          <p:cNvSpPr/>
          <p:nvPr/>
        </p:nvSpPr>
        <p:spPr>
          <a:xfrm>
            <a:off x="850392" y="2075688"/>
            <a:ext cx="17830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932,013</a:t>
            </a:r>
            <a:endParaRPr lang="en-US" sz="2000" dirty="0"/>
          </a:p>
        </p:txBody>
      </p:sp>
      <p:sp>
        <p:nvSpPr>
          <p:cNvPr id="11" name="Text 9"/>
          <p:cNvSpPr/>
          <p:nvPr/>
        </p:nvSpPr>
        <p:spPr>
          <a:xfrm>
            <a:off x="877824" y="2441448"/>
            <a:ext cx="17282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raw loans after duplicate removal</a:t>
            </a:r>
            <a:endParaRPr lang="en-US" sz="830" dirty="0"/>
          </a:p>
        </p:txBody>
      </p:sp>
      <p:sp>
        <p:nvSpPr>
          <p:cNvPr id="12" name="Shape 10"/>
          <p:cNvSpPr/>
          <p:nvPr/>
        </p:nvSpPr>
        <p:spPr>
          <a:xfrm>
            <a:off x="2907792" y="1965960"/>
            <a:ext cx="1874520" cy="777240"/>
          </a:xfrm>
          <a:prstGeom prst="roundRect">
            <a:avLst>
              <a:gd name="adj" fmla="val 11765"/>
            </a:avLst>
          </a:prstGeom>
          <a:solidFill>
            <a:srgbClr val="050E0A"/>
          </a:solidFill>
          <a:ln w="12700">
            <a:solidFill>
              <a:srgbClr val="86AE8E"/>
            </a:solidFill>
            <a:prstDash val="solid"/>
          </a:ln>
        </p:spPr>
        <p:txBody>
          <a:bodyPr/>
          <a:p/>
        </p:txBody>
      </p:sp>
      <p:sp>
        <p:nvSpPr>
          <p:cNvPr id="13" name="Text 11"/>
          <p:cNvSpPr/>
          <p:nvPr/>
        </p:nvSpPr>
        <p:spPr>
          <a:xfrm>
            <a:off x="2953512" y="2075688"/>
            <a:ext cx="17830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2,076</a:t>
            </a:r>
            <a:endParaRPr lang="en-US" sz="2000" dirty="0"/>
          </a:p>
        </p:txBody>
      </p:sp>
      <p:sp>
        <p:nvSpPr>
          <p:cNvPr id="14" name="Text 12"/>
          <p:cNvSpPr/>
          <p:nvPr/>
        </p:nvSpPr>
        <p:spPr>
          <a:xfrm>
            <a:off x="2980944" y="2441448"/>
            <a:ext cx="17282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exact duplicates removed</a:t>
            </a:r>
            <a:endParaRPr lang="en-US" sz="830" dirty="0"/>
          </a:p>
        </p:txBody>
      </p:sp>
      <p:sp>
        <p:nvSpPr>
          <p:cNvPr id="15" name="Shape 13"/>
          <p:cNvSpPr/>
          <p:nvPr/>
        </p:nvSpPr>
        <p:spPr>
          <a:xfrm>
            <a:off x="5010912" y="1965960"/>
            <a:ext cx="1874520" cy="777240"/>
          </a:xfrm>
          <a:prstGeom prst="roundRect">
            <a:avLst>
              <a:gd name="adj" fmla="val 11765"/>
            </a:avLst>
          </a:prstGeom>
          <a:solidFill>
            <a:srgbClr val="050E0A"/>
          </a:solidFill>
          <a:ln w="12700">
            <a:solidFill>
              <a:srgbClr val="86AE8E"/>
            </a:solidFill>
            <a:prstDash val="solid"/>
          </a:ln>
        </p:spPr>
        <p:txBody>
          <a:bodyPr/>
          <a:p/>
        </p:txBody>
      </p:sp>
      <p:sp>
        <p:nvSpPr>
          <p:cNvPr id="16" name="Text 14"/>
          <p:cNvSpPr/>
          <p:nvPr/>
        </p:nvSpPr>
        <p:spPr>
          <a:xfrm>
            <a:off x="5056632" y="2075688"/>
            <a:ext cx="17830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543,110</a:t>
            </a:r>
            <a:endParaRPr lang="en-US" sz="2000" dirty="0"/>
          </a:p>
        </p:txBody>
      </p:sp>
      <p:sp>
        <p:nvSpPr>
          <p:cNvPr id="17" name="Text 15"/>
          <p:cNvSpPr/>
          <p:nvPr/>
        </p:nvSpPr>
        <p:spPr>
          <a:xfrm>
            <a:off x="5084064" y="2441448"/>
            <a:ext cx="17282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final modeling universe</a:t>
            </a:r>
            <a:endParaRPr lang="en-US" sz="830" dirty="0"/>
          </a:p>
        </p:txBody>
      </p:sp>
      <p:sp>
        <p:nvSpPr>
          <p:cNvPr id="18" name="Shape 16"/>
          <p:cNvSpPr/>
          <p:nvPr/>
        </p:nvSpPr>
        <p:spPr>
          <a:xfrm>
            <a:off x="7114032" y="1965960"/>
            <a:ext cx="1874520" cy="777240"/>
          </a:xfrm>
          <a:prstGeom prst="roundRect">
            <a:avLst>
              <a:gd name="adj" fmla="val 11765"/>
            </a:avLst>
          </a:prstGeom>
          <a:solidFill>
            <a:srgbClr val="050E0A"/>
          </a:solidFill>
          <a:ln w="12700">
            <a:solidFill>
              <a:srgbClr val="86AE8E"/>
            </a:solidFill>
            <a:prstDash val="solid"/>
          </a:ln>
        </p:spPr>
        <p:txBody>
          <a:bodyPr/>
          <a:p/>
        </p:txBody>
      </p:sp>
      <p:sp>
        <p:nvSpPr>
          <p:cNvPr id="19" name="Text 17"/>
          <p:cNvSpPr/>
          <p:nvPr/>
        </p:nvSpPr>
        <p:spPr>
          <a:xfrm>
            <a:off x="7159752" y="2075688"/>
            <a:ext cx="17830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20,443</a:t>
            </a:r>
            <a:endParaRPr lang="en-US" sz="2000" dirty="0"/>
          </a:p>
        </p:txBody>
      </p:sp>
      <p:sp>
        <p:nvSpPr>
          <p:cNvPr id="20" name="Text 18"/>
          <p:cNvSpPr/>
          <p:nvPr/>
        </p:nvSpPr>
        <p:spPr>
          <a:xfrm>
            <a:off x="7187184" y="2441448"/>
            <a:ext cx="17282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five-year charge-offs</a:t>
            </a:r>
            <a:endParaRPr lang="en-US" sz="830" dirty="0"/>
          </a:p>
        </p:txBody>
      </p:sp>
      <p:sp>
        <p:nvSpPr>
          <p:cNvPr id="21" name="Shape 19"/>
          <p:cNvSpPr/>
          <p:nvPr/>
        </p:nvSpPr>
        <p:spPr>
          <a:xfrm>
            <a:off x="9217152" y="1965960"/>
            <a:ext cx="1874520" cy="777240"/>
          </a:xfrm>
          <a:prstGeom prst="roundRect">
            <a:avLst>
              <a:gd name="adj" fmla="val 11765"/>
            </a:avLst>
          </a:prstGeom>
          <a:solidFill>
            <a:srgbClr val="050E0A"/>
          </a:solidFill>
          <a:ln w="12700">
            <a:solidFill>
              <a:srgbClr val="86AE8E"/>
            </a:solidFill>
            <a:prstDash val="solid"/>
          </a:ln>
        </p:spPr>
        <p:txBody>
          <a:bodyPr/>
          <a:p/>
        </p:txBody>
      </p:sp>
      <p:sp>
        <p:nvSpPr>
          <p:cNvPr id="22" name="Text 20"/>
          <p:cNvSpPr/>
          <p:nvPr/>
        </p:nvSpPr>
        <p:spPr>
          <a:xfrm>
            <a:off x="9262872" y="2075688"/>
            <a:ext cx="17830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3.76%</a:t>
            </a:r>
            <a:endParaRPr lang="en-US" sz="2000" dirty="0"/>
          </a:p>
        </p:txBody>
      </p:sp>
      <p:sp>
        <p:nvSpPr>
          <p:cNvPr id="23" name="Text 21"/>
          <p:cNvSpPr/>
          <p:nvPr/>
        </p:nvSpPr>
        <p:spPr>
          <a:xfrm>
            <a:off x="9290304" y="2441448"/>
            <a:ext cx="17282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overall event rate</a:t>
            </a:r>
            <a:endParaRPr lang="en-US" sz="830" dirty="0"/>
          </a:p>
        </p:txBody>
      </p:sp>
      <p:sp>
        <p:nvSpPr>
          <p:cNvPr id="24" name="Shape 22"/>
          <p:cNvSpPr/>
          <p:nvPr/>
        </p:nvSpPr>
        <p:spPr>
          <a:xfrm>
            <a:off x="960120" y="3337560"/>
            <a:ext cx="10287000" cy="1417320"/>
          </a:xfrm>
          <a:prstGeom prst="roundRect">
            <a:avLst>
              <a:gd name="adj" fmla="val 6452"/>
            </a:avLst>
          </a:prstGeom>
          <a:solidFill>
            <a:srgbClr val="050E0A"/>
          </a:solidFill>
          <a:ln w="12700">
            <a:solidFill>
              <a:srgbClr val="86AE8E"/>
            </a:solidFill>
            <a:prstDash val="solid"/>
          </a:ln>
        </p:spPr>
        <p:txBody>
          <a:bodyPr/>
          <a:p/>
        </p:txBody>
      </p:sp>
      <p:sp>
        <p:nvSpPr>
          <p:cNvPr id="25" name="Text 23"/>
          <p:cNvSpPr/>
          <p:nvPr/>
        </p:nvSpPr>
        <p:spPr>
          <a:xfrm>
            <a:off x="1106424" y="3447288"/>
            <a:ext cx="999439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Why this matters</a:t>
            </a:r>
            <a:endParaRPr lang="en-US" sz="1050" dirty="0"/>
          </a:p>
        </p:txBody>
      </p:sp>
      <p:sp>
        <p:nvSpPr>
          <p:cNvPr id="26" name="Text 24"/>
          <p:cNvSpPr/>
          <p:nvPr/>
        </p:nvSpPr>
        <p:spPr>
          <a:xfrm>
            <a:off x="1106424" y="3776472"/>
            <a:ext cx="9994392" cy="85039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500" dirty="0">
                <a:solidFill>
                  <a:srgbClr val="EAF1ED"/>
                </a:solidFill>
                <a:latin typeface="Aptos"/>
              </a:rPr>
              <a:t>The positive class is rare. That makes accuracy a weak metric and makes PR-AUC, precision, recall, and confusion matrices much more informative for model evaluation.</a:t>
            </a:r>
            <a:endParaRPr lang="en-US" sz="1500" dirty="0"/>
          </a:p>
        </p:txBody>
      </p:sp>
      <p:sp>
        <p:nvSpPr>
          <p:cNvPr id="27" name="Shape 25"/>
          <p:cNvSpPr/>
          <p:nvPr/>
        </p:nvSpPr>
        <p:spPr>
          <a:xfrm>
            <a:off x="960120" y="5074920"/>
            <a:ext cx="10287000" cy="786384"/>
          </a:xfrm>
          <a:prstGeom prst="roundRect">
            <a:avLst>
              <a:gd name="adj" fmla="val 11628"/>
            </a:avLst>
          </a:prstGeom>
          <a:solidFill>
            <a:srgbClr val="050E0A"/>
          </a:solidFill>
          <a:ln w="12700">
            <a:solidFill>
              <a:srgbClr val="86AE8E"/>
            </a:solidFill>
            <a:prstDash val="solid"/>
          </a:ln>
        </p:spPr>
        <p:txBody>
          <a:bodyPr/>
          <a:p/>
        </p:txBody>
      </p:sp>
      <p:sp>
        <p:nvSpPr>
          <p:cNvPr id="28" name="Text 26"/>
          <p:cNvSpPr/>
          <p:nvPr/>
        </p:nvSpPr>
        <p:spPr>
          <a:xfrm>
            <a:off x="1106424" y="5184648"/>
            <a:ext cx="999439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Modeling implication</a:t>
            </a:r>
            <a:endParaRPr lang="en-US" sz="1050" dirty="0"/>
          </a:p>
        </p:txBody>
      </p:sp>
      <p:sp>
        <p:nvSpPr>
          <p:cNvPr id="29" name="Text 27"/>
          <p:cNvSpPr/>
          <p:nvPr/>
        </p:nvSpPr>
        <p:spPr>
          <a:xfrm>
            <a:off x="1106424" y="5513832"/>
            <a:ext cx="9994392" cy="219456"/>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60" dirty="0">
                <a:solidFill>
                  <a:srgbClr val="EAF1ED"/>
                </a:solidFill>
                <a:latin typeface="Aptos"/>
              </a:rPr>
              <a:t>The task is not “label everything correctly.” The task is to identify a smaller group where charge-off risk is much more concentrated than the base population.</a:t>
            </a:r>
            <a:endParaRPr lang="en-US" sz="1360" dirty="0"/>
          </a:p>
        </p:txBody>
      </p:sp>
      <p:sp>
        <p:nvSpPr>
          <p:cNvPr id="30" name="Text 28"/>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9" name="Picture 28" descr="image-2-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06</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VALIDATION DESIGN</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Time split: why chronological, not random?</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Chronological splitting gives a harder but more realistic past-to-future evaluation than random splitting.</a:t>
            </a:r>
            <a:endParaRPr lang="en-US" sz="1320" dirty="0"/>
          </a:p>
        </p:txBody>
      </p:sp>
      <p:sp>
        <p:nvSpPr>
          <p:cNvPr id="9" name="Shape 7"/>
          <p:cNvSpPr/>
          <p:nvPr/>
        </p:nvSpPr>
        <p:spPr>
          <a:xfrm>
            <a:off x="658368" y="1828800"/>
            <a:ext cx="3566160" cy="2148840"/>
          </a:xfrm>
          <a:prstGeom prst="roundRect">
            <a:avLst>
              <a:gd name="adj" fmla="val 4255"/>
            </a:avLst>
          </a:prstGeom>
          <a:solidFill>
            <a:srgbClr val="050E0A"/>
          </a:solidFill>
          <a:ln w="12700">
            <a:solidFill>
              <a:srgbClr val="86AE8E"/>
            </a:solidFill>
            <a:prstDash val="solid"/>
          </a:ln>
        </p:spPr>
        <p:txBody>
          <a:bodyPr/>
          <a:p/>
        </p:txBody>
      </p:sp>
      <p:sp>
        <p:nvSpPr>
          <p:cNvPr id="10" name="Text 8"/>
          <p:cNvSpPr/>
          <p:nvPr/>
        </p:nvSpPr>
        <p:spPr>
          <a:xfrm>
            <a:off x="804672" y="1938528"/>
            <a:ext cx="327355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Random split problem</a:t>
            </a:r>
            <a:endParaRPr lang="en-US" sz="1050" dirty="0"/>
          </a:p>
        </p:txBody>
      </p:sp>
      <p:sp>
        <p:nvSpPr>
          <p:cNvPr id="11" name="Text 9"/>
          <p:cNvSpPr/>
          <p:nvPr/>
        </p:nvSpPr>
        <p:spPr>
          <a:xfrm>
            <a:off x="804672" y="2267712"/>
            <a:ext cx="3273552" cy="15819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20" dirty="0">
                <a:solidFill>
                  <a:srgbClr val="EAF1ED"/>
                </a:solidFill>
                <a:latin typeface="Aptos"/>
              </a:rPr>
              <a:t>Random split can mix loans from 2012 and 2021 into both training and validation. That makes the sets more similar and can hide temporal shift.</a:t>
            </a:r>
            <a:endParaRPr lang="en-US" sz="1220" dirty="0"/>
          </a:p>
        </p:txBody>
      </p:sp>
      <p:sp>
        <p:nvSpPr>
          <p:cNvPr id="12" name="Shape 10"/>
          <p:cNvSpPr/>
          <p:nvPr/>
        </p:nvSpPr>
        <p:spPr>
          <a:xfrm>
            <a:off x="4370832" y="1828800"/>
            <a:ext cx="3566160" cy="2148840"/>
          </a:xfrm>
          <a:prstGeom prst="roundRect">
            <a:avLst>
              <a:gd name="adj" fmla="val 4255"/>
            </a:avLst>
          </a:prstGeom>
          <a:solidFill>
            <a:srgbClr val="050E0A"/>
          </a:solidFill>
          <a:ln w="12700">
            <a:solidFill>
              <a:srgbClr val="86AE8E"/>
            </a:solidFill>
            <a:prstDash val="solid"/>
          </a:ln>
        </p:spPr>
        <p:txBody>
          <a:bodyPr/>
          <a:p/>
        </p:txBody>
      </p:sp>
      <p:sp>
        <p:nvSpPr>
          <p:cNvPr id="13" name="Text 11"/>
          <p:cNvSpPr/>
          <p:nvPr/>
        </p:nvSpPr>
        <p:spPr>
          <a:xfrm>
            <a:off x="4517136" y="1938528"/>
            <a:ext cx="327355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Real deployment logic</a:t>
            </a:r>
            <a:endParaRPr lang="en-US" sz="1050" dirty="0"/>
          </a:p>
        </p:txBody>
      </p:sp>
      <p:sp>
        <p:nvSpPr>
          <p:cNvPr id="14" name="Text 12"/>
          <p:cNvSpPr/>
          <p:nvPr/>
        </p:nvSpPr>
        <p:spPr>
          <a:xfrm>
            <a:off x="4517136" y="2267712"/>
            <a:ext cx="3273552" cy="15819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20" dirty="0">
                <a:solidFill>
                  <a:srgbClr val="EAF1ED"/>
                </a:solidFill>
                <a:latin typeface="Aptos"/>
              </a:rPr>
              <a:t>A lender trains on historical loans and then scores future loans. The split should test whether past information generalizes to newer cohorts.</a:t>
            </a:r>
            <a:endParaRPr lang="en-US" sz="1220" dirty="0"/>
          </a:p>
        </p:txBody>
      </p:sp>
      <p:sp>
        <p:nvSpPr>
          <p:cNvPr id="15" name="Shape 13"/>
          <p:cNvSpPr/>
          <p:nvPr/>
        </p:nvSpPr>
        <p:spPr>
          <a:xfrm>
            <a:off x="8083296" y="1828800"/>
            <a:ext cx="3154680" cy="2148840"/>
          </a:xfrm>
          <a:prstGeom prst="roundRect">
            <a:avLst>
              <a:gd name="adj" fmla="val 4255"/>
            </a:avLst>
          </a:prstGeom>
          <a:solidFill>
            <a:srgbClr val="050E0A"/>
          </a:solidFill>
          <a:ln w="12700">
            <a:solidFill>
              <a:srgbClr val="86AE8E"/>
            </a:solidFill>
            <a:prstDash val="solid"/>
          </a:ln>
        </p:spPr>
        <p:txBody>
          <a:bodyPr/>
          <a:p/>
        </p:txBody>
      </p:sp>
      <p:sp>
        <p:nvSpPr>
          <p:cNvPr id="16" name="Text 14"/>
          <p:cNvSpPr/>
          <p:nvPr/>
        </p:nvSpPr>
        <p:spPr>
          <a:xfrm>
            <a:off x="8229600" y="1938528"/>
            <a:ext cx="286207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Actual split</a:t>
            </a:r>
            <a:endParaRPr lang="en-US" sz="1050" dirty="0"/>
          </a:p>
        </p:txBody>
      </p:sp>
      <p:sp>
        <p:nvSpPr>
          <p:cNvPr id="17" name="Text 15"/>
          <p:cNvSpPr/>
          <p:nvPr/>
        </p:nvSpPr>
        <p:spPr>
          <a:xfrm>
            <a:off x="8229600" y="2267712"/>
            <a:ext cx="2862072" cy="15819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40" dirty="0">
                <a:solidFill>
                  <a:srgbClr val="EAF1ED"/>
                </a:solidFill>
                <a:latin typeface="Aptos"/>
              </a:rPr>
              <a:t>Train: through 2017</a:t>
            </a:r>
            <a:endParaRPr lang="en-US" sz="1240" dirty="0"/>
          </a:p>
          <a:p>
            <a:pPr indent="0" marL="0">
              <a:buNone/>
            </a:pPr>
            <a:r>
              <a:rPr lang="en-US" sz="1240" dirty="0">
                <a:solidFill>
                  <a:srgbClr val="EAF1ED"/>
                </a:solidFill>
                <a:latin typeface="Aptos"/>
              </a:rPr>
              <a:t>Validation: 2018–2019</a:t>
            </a:r>
            <a:endParaRPr lang="en-US" sz="1240" dirty="0"/>
          </a:p>
          <a:p>
            <a:pPr indent="0" marL="0">
              <a:buNone/>
            </a:pPr>
            <a:r>
              <a:rPr lang="en-US" sz="1240" dirty="0">
                <a:solidFill>
                  <a:srgbClr val="EAF1ED"/>
                </a:solidFill>
                <a:latin typeface="Aptos"/>
              </a:rPr>
              <a:t>Test: Jan 2020–Jun 2021</a:t>
            </a:r>
            <a:endParaRPr lang="en-US" sz="1240" dirty="0"/>
          </a:p>
        </p:txBody>
      </p:sp>
      <p:sp>
        <p:nvSpPr>
          <p:cNvPr id="18" name="Shape 16"/>
          <p:cNvSpPr/>
          <p:nvPr/>
        </p:nvSpPr>
        <p:spPr>
          <a:xfrm>
            <a:off x="1097280" y="5074920"/>
            <a:ext cx="9875520" cy="0"/>
          </a:xfrm>
          <a:prstGeom prst="line">
            <a:avLst/>
          </a:prstGeom>
          <a:noFill/>
          <a:ln w="25400">
            <a:solidFill>
              <a:srgbClr val="86AE8E"/>
            </a:solidFill>
            <a:prstDash val="solid"/>
          </a:ln>
        </p:spPr>
        <p:txBody>
          <a:bodyPr/>
          <a:p/>
        </p:txBody>
      </p:sp>
      <p:sp>
        <p:nvSpPr>
          <p:cNvPr id="19" name="Shape 17"/>
          <p:cNvSpPr/>
          <p:nvPr/>
        </p:nvSpPr>
        <p:spPr>
          <a:xfrm>
            <a:off x="950976" y="4919472"/>
            <a:ext cx="292608" cy="292608"/>
          </a:xfrm>
          <a:prstGeom prst="ellipse">
            <a:avLst/>
          </a:prstGeom>
          <a:solidFill>
            <a:srgbClr val="050E0A"/>
          </a:solidFill>
          <a:ln w="12700">
            <a:solidFill>
              <a:srgbClr val="86AE8E"/>
            </a:solidFill>
            <a:prstDash val="solid"/>
          </a:ln>
        </p:spPr>
        <p:txBody>
          <a:bodyPr/>
          <a:p/>
        </p:txBody>
      </p:sp>
      <p:sp>
        <p:nvSpPr>
          <p:cNvPr id="20" name="Text 18"/>
          <p:cNvSpPr/>
          <p:nvPr/>
        </p:nvSpPr>
        <p:spPr>
          <a:xfrm>
            <a:off x="182880" y="5349240"/>
            <a:ext cx="1828800" cy="219456"/>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1200" b="1" dirty="0">
                <a:solidFill>
                  <a:srgbClr val="EAF1ED"/>
                </a:solidFill>
                <a:latin typeface="Aptos"/>
              </a:rPr>
              <a:t>Train</a:t>
            </a:r>
            <a:endParaRPr lang="en-US" sz="1200" dirty="0"/>
          </a:p>
        </p:txBody>
      </p:sp>
      <p:sp>
        <p:nvSpPr>
          <p:cNvPr id="21" name="Text 19"/>
          <p:cNvSpPr/>
          <p:nvPr/>
        </p:nvSpPr>
        <p:spPr>
          <a:xfrm>
            <a:off x="182880" y="5623560"/>
            <a:ext cx="1828800" cy="420624"/>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1020" dirty="0">
                <a:solidFill>
                  <a:srgbClr val="EAF1ED"/>
                </a:solidFill>
                <a:latin typeface="Aptos"/>
              </a:rPr>
              <a:t>393,008</a:t>
            </a:r>
            <a:endParaRPr lang="en-US" sz="1020" dirty="0"/>
          </a:p>
          <a:p>
            <a:pPr algn="ctr" indent="0" marL="0">
              <a:buNone/>
            </a:pPr>
            <a:r>
              <a:rPr lang="en-US" sz="1020" dirty="0">
                <a:solidFill>
                  <a:srgbClr val="EAF1ED"/>
                </a:solidFill>
                <a:latin typeface="Aptos"/>
              </a:rPr>
              <a:t>3.86%</a:t>
            </a:r>
            <a:endParaRPr lang="en-US" sz="1020" dirty="0"/>
          </a:p>
        </p:txBody>
      </p:sp>
      <p:sp>
        <p:nvSpPr>
          <p:cNvPr id="22" name="Shape 20"/>
          <p:cNvSpPr/>
          <p:nvPr/>
        </p:nvSpPr>
        <p:spPr>
          <a:xfrm>
            <a:off x="5522976" y="4919472"/>
            <a:ext cx="292608" cy="292608"/>
          </a:xfrm>
          <a:prstGeom prst="ellipse">
            <a:avLst/>
          </a:prstGeom>
          <a:solidFill>
            <a:srgbClr val="050E0A"/>
          </a:solidFill>
          <a:ln w="12700">
            <a:solidFill>
              <a:srgbClr val="86AE8E"/>
            </a:solidFill>
            <a:prstDash val="solid"/>
          </a:ln>
        </p:spPr>
        <p:txBody>
          <a:bodyPr/>
          <a:p/>
        </p:txBody>
      </p:sp>
      <p:sp>
        <p:nvSpPr>
          <p:cNvPr id="23" name="Text 21"/>
          <p:cNvSpPr/>
          <p:nvPr/>
        </p:nvSpPr>
        <p:spPr>
          <a:xfrm>
            <a:off x="4754880" y="5349240"/>
            <a:ext cx="1828800" cy="219456"/>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1200" b="1" dirty="0">
                <a:solidFill>
                  <a:srgbClr val="EAF1ED"/>
                </a:solidFill>
                <a:latin typeface="Aptos"/>
              </a:rPr>
              <a:t>Validation</a:t>
            </a:r>
            <a:endParaRPr lang="en-US" sz="1200" dirty="0"/>
          </a:p>
        </p:txBody>
      </p:sp>
      <p:sp>
        <p:nvSpPr>
          <p:cNvPr id="24" name="Text 22"/>
          <p:cNvSpPr/>
          <p:nvPr/>
        </p:nvSpPr>
        <p:spPr>
          <a:xfrm>
            <a:off x="4754880" y="5623560"/>
            <a:ext cx="1828800" cy="420624"/>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1020" dirty="0">
                <a:solidFill>
                  <a:srgbClr val="EAF1ED"/>
                </a:solidFill>
                <a:latin typeface="Aptos"/>
              </a:rPr>
              <a:t>95,853</a:t>
            </a:r>
            <a:endParaRPr lang="en-US" sz="1020" dirty="0"/>
          </a:p>
          <a:p>
            <a:pPr algn="ctr" indent="0" marL="0">
              <a:buNone/>
            </a:pPr>
            <a:r>
              <a:rPr lang="en-US" sz="1020" dirty="0">
                <a:solidFill>
                  <a:srgbClr val="EAF1ED"/>
                </a:solidFill>
                <a:latin typeface="Aptos"/>
              </a:rPr>
              <a:t>4.18%</a:t>
            </a:r>
            <a:endParaRPr lang="en-US" sz="1020" dirty="0"/>
          </a:p>
        </p:txBody>
      </p:sp>
      <p:sp>
        <p:nvSpPr>
          <p:cNvPr id="25" name="Shape 23"/>
          <p:cNvSpPr/>
          <p:nvPr/>
        </p:nvSpPr>
        <p:spPr>
          <a:xfrm>
            <a:off x="9729216" y="4919472"/>
            <a:ext cx="292608" cy="292608"/>
          </a:xfrm>
          <a:prstGeom prst="ellipse">
            <a:avLst/>
          </a:prstGeom>
          <a:solidFill>
            <a:srgbClr val="050E0A"/>
          </a:solidFill>
          <a:ln w="12700">
            <a:solidFill>
              <a:srgbClr val="86AE8E"/>
            </a:solidFill>
            <a:prstDash val="solid"/>
          </a:ln>
        </p:spPr>
        <p:txBody>
          <a:bodyPr/>
          <a:p/>
        </p:txBody>
      </p:sp>
      <p:sp>
        <p:nvSpPr>
          <p:cNvPr id="26" name="Text 24"/>
          <p:cNvSpPr/>
          <p:nvPr/>
        </p:nvSpPr>
        <p:spPr>
          <a:xfrm>
            <a:off x="8961120" y="5349240"/>
            <a:ext cx="1828800" cy="219456"/>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1200" b="1" dirty="0">
                <a:solidFill>
                  <a:srgbClr val="EAF1ED"/>
                </a:solidFill>
                <a:latin typeface="Aptos"/>
              </a:rPr>
              <a:t>Test</a:t>
            </a:r>
            <a:endParaRPr lang="en-US" sz="1200" dirty="0"/>
          </a:p>
        </p:txBody>
      </p:sp>
      <p:sp>
        <p:nvSpPr>
          <p:cNvPr id="27" name="Text 25"/>
          <p:cNvSpPr/>
          <p:nvPr/>
        </p:nvSpPr>
        <p:spPr>
          <a:xfrm>
            <a:off x="8961120" y="5623560"/>
            <a:ext cx="1828800" cy="420624"/>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1020" dirty="0">
                <a:solidFill>
                  <a:srgbClr val="EAF1ED"/>
                </a:solidFill>
                <a:latin typeface="Aptos"/>
              </a:rPr>
              <a:t>54,249</a:t>
            </a:r>
            <a:endParaRPr lang="en-US" sz="1020" dirty="0"/>
          </a:p>
          <a:p>
            <a:pPr algn="ctr" indent="0" marL="0">
              <a:buNone/>
            </a:pPr>
            <a:r>
              <a:rPr lang="en-US" sz="1020" dirty="0">
                <a:solidFill>
                  <a:srgbClr val="EAF1ED"/>
                </a:solidFill>
                <a:latin typeface="Aptos"/>
              </a:rPr>
              <a:t>2.36%</a:t>
            </a:r>
            <a:endParaRPr lang="en-US" sz="1020" dirty="0"/>
          </a:p>
        </p:txBody>
      </p:sp>
      <p:sp>
        <p:nvSpPr>
          <p:cNvPr id="28" name="Text 26"/>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17" name="Picture 16" descr="image-3-1.jpeg"/>
          <p:cNvPicPr>
            <a:picLocks noChangeAspect="1"/>
          </p:cNvPicPr>
          <p:nvPr/>
        </p:nvPicPr>
        <p:blipFill>
          <a:blip r:embed="rId5"/>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07</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TRAINING-ONLY EDA</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EDA: loan amount and term show strong risk patterns</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The EDA is descriptive, not causal: loan structure appears to contain predictive signal.</a:t>
            </a:r>
            <a:endParaRPr lang="en-US" sz="1320" dirty="0"/>
          </a:p>
        </p:txBody>
      </p:sp>
      <p:sp>
        <p:nvSpPr>
          <p:cNvPr id="9" name="Shape 7"/>
          <p:cNvSpPr/>
          <p:nvPr/>
        </p:nvSpPr>
        <p:spPr>
          <a:xfrm>
            <a:off x="594360" y="1783080"/>
            <a:ext cx="5394960" cy="3246120"/>
          </a:xfrm>
          <a:prstGeom prst="roundRect">
            <a:avLst>
              <a:gd name="adj" fmla="val 2254"/>
            </a:avLst>
          </a:prstGeom>
          <a:solidFill>
            <a:srgbClr val="050E0A"/>
          </a:solidFill>
          <a:ln w="12700">
            <a:solidFill>
              <a:srgbClr val="86AE8E"/>
            </a:solidFill>
            <a:prstDash val="solid"/>
          </a:ln>
        </p:spPr>
        <p:txBody>
          <a:bodyPr/>
          <a:p/>
        </p:txBody>
      </p:sp>
      <p:pic>
        <p:nvPicPr>
          <p:cNvPr id="10" name="Image 0" descr="/mnt/data/sba_flow_assets/amount_rate.png">    </p:cNvPr>
          <p:cNvPicPr>
            <a:picLocks noChangeAspect="1"/>
          </p:cNvPicPr>
          <p:nvPr/>
        </p:nvPicPr>
        <p:blipFill>
          <a:blip r:embed="rId1"/>
          <a:stretch>
            <a:fillRect/>
          </a:stretch>
        </p:blipFill>
        <p:spPr>
          <a:xfrm>
            <a:off x="649224" y="1955325"/>
            <a:ext cx="5285232" cy="2901630"/>
          </a:xfrm>
          <a:prstGeom prst="rect">
            <a:avLst/>
          </a:prstGeom>
        </p:spPr>
      </p:pic>
      <p:sp>
        <p:nvSpPr>
          <p:cNvPr id="11" name="Shape 8"/>
          <p:cNvSpPr/>
          <p:nvPr/>
        </p:nvSpPr>
        <p:spPr>
          <a:xfrm>
            <a:off x="6217920" y="1783080"/>
            <a:ext cx="5394960" cy="3246120"/>
          </a:xfrm>
          <a:prstGeom prst="roundRect">
            <a:avLst>
              <a:gd name="adj" fmla="val 2254"/>
            </a:avLst>
          </a:prstGeom>
          <a:solidFill>
            <a:srgbClr val="050E0A"/>
          </a:solidFill>
          <a:ln w="12700">
            <a:solidFill>
              <a:srgbClr val="86AE8E"/>
            </a:solidFill>
            <a:prstDash val="solid"/>
          </a:ln>
        </p:spPr>
        <p:txBody>
          <a:bodyPr/>
          <a:p/>
        </p:txBody>
      </p:sp>
      <p:pic>
        <p:nvPicPr>
          <p:cNvPr id="12" name="Image 1" descr="/mnt/data/sba_flow_assets/term_rate.png">    </p:cNvPr>
          <p:cNvPicPr>
            <a:picLocks noChangeAspect="1"/>
          </p:cNvPicPr>
          <p:nvPr/>
        </p:nvPicPr>
        <p:blipFill>
          <a:blip r:embed="rId2"/>
          <a:stretch>
            <a:fillRect/>
          </a:stretch>
        </p:blipFill>
        <p:spPr>
          <a:xfrm>
            <a:off x="6272784" y="1956254"/>
            <a:ext cx="5285232" cy="2899772"/>
          </a:xfrm>
          <a:prstGeom prst="rect">
            <a:avLst/>
          </a:prstGeom>
        </p:spPr>
      </p:pic>
      <p:sp>
        <p:nvSpPr>
          <p:cNvPr id="13" name="Shape 9"/>
          <p:cNvSpPr/>
          <p:nvPr/>
        </p:nvSpPr>
        <p:spPr>
          <a:xfrm>
            <a:off x="685800" y="5230368"/>
            <a:ext cx="10744200" cy="795528"/>
          </a:xfrm>
          <a:prstGeom prst="roundRect">
            <a:avLst>
              <a:gd name="adj" fmla="val 11494"/>
            </a:avLst>
          </a:prstGeom>
          <a:solidFill>
            <a:srgbClr val="050E0A"/>
          </a:solidFill>
          <a:ln w="12700">
            <a:solidFill>
              <a:srgbClr val="86AE8E"/>
            </a:solidFill>
            <a:prstDash val="solid"/>
          </a:ln>
        </p:spPr>
        <p:txBody>
          <a:bodyPr/>
          <a:p/>
        </p:txBody>
      </p:sp>
      <p:sp>
        <p:nvSpPr>
          <p:cNvPr id="14" name="Text 10"/>
          <p:cNvSpPr/>
          <p:nvPr/>
        </p:nvSpPr>
        <p:spPr>
          <a:xfrm>
            <a:off x="832104" y="5340096"/>
            <a:ext cx="1045159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Interpretation</a:t>
            </a:r>
            <a:endParaRPr lang="en-US" sz="1050" dirty="0"/>
          </a:p>
        </p:txBody>
      </p:sp>
      <p:sp>
        <p:nvSpPr>
          <p:cNvPr id="15" name="Text 11"/>
          <p:cNvSpPr/>
          <p:nvPr/>
        </p:nvSpPr>
        <p:spPr>
          <a:xfrm>
            <a:off x="832104" y="5669280"/>
            <a:ext cx="10451592" cy="228600"/>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40" dirty="0">
                <a:solidFill>
                  <a:srgbClr val="EAF1ED"/>
                </a:solidFill>
                <a:latin typeface="Aptos"/>
              </a:rPr>
              <a:t>Under $50K loans have about 5.59% charge-off, while $1M+ loans are about 0.85%. Short-term loans also show much higher observed charge-off rates than very long-term loans.</a:t>
            </a:r>
            <a:endParaRPr lang="en-US" sz="1240" dirty="0"/>
          </a:p>
        </p:txBody>
      </p:sp>
      <p:sp>
        <p:nvSpPr>
          <p:cNvPr id="16" name="Text 12"/>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1" name="Picture 20" descr="image-4-1.jpeg"/>
          <p:cNvPicPr>
            <a:picLocks noChangeAspect="1"/>
          </p:cNvPicPr>
          <p:nvPr/>
        </p:nvPicPr>
        <p:blipFill>
          <a:blip r:embed="rId4"/>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08</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FEATURE DESIGN</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Why use log_gross_approval?</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Log transformation handles a right-skewed financial variable without deleting legitimate large loans.</a:t>
            </a:r>
            <a:endParaRPr lang="en-US" sz="1320" dirty="0"/>
          </a:p>
        </p:txBody>
      </p:sp>
      <p:sp>
        <p:nvSpPr>
          <p:cNvPr id="9" name="Shape 7"/>
          <p:cNvSpPr/>
          <p:nvPr/>
        </p:nvSpPr>
        <p:spPr>
          <a:xfrm>
            <a:off x="640080" y="1828800"/>
            <a:ext cx="5394960" cy="3246120"/>
          </a:xfrm>
          <a:prstGeom prst="roundRect">
            <a:avLst>
              <a:gd name="adj" fmla="val 2254"/>
            </a:avLst>
          </a:prstGeom>
          <a:solidFill>
            <a:srgbClr val="050E0A"/>
          </a:solidFill>
          <a:ln w="12700">
            <a:solidFill>
              <a:srgbClr val="86AE8E"/>
            </a:solidFill>
            <a:prstDash val="solid"/>
          </a:ln>
        </p:spPr>
        <p:txBody>
          <a:bodyPr/>
          <a:p/>
        </p:txBody>
      </p:sp>
      <p:pic>
        <p:nvPicPr>
          <p:cNvPr id="10" name="Image 0" descr="/mnt/data/sba_v4_assets/cell20_out1_img.png">    </p:cNvPr>
          <p:cNvPicPr>
            <a:picLocks noChangeAspect="1"/>
          </p:cNvPicPr>
          <p:nvPr/>
        </p:nvPicPr>
        <p:blipFill>
          <a:blip r:embed="rId1"/>
          <a:stretch>
            <a:fillRect/>
          </a:stretch>
        </p:blipFill>
        <p:spPr>
          <a:xfrm>
            <a:off x="694944" y="1995300"/>
            <a:ext cx="5285232" cy="2913120"/>
          </a:xfrm>
          <a:prstGeom prst="rect">
            <a:avLst/>
          </a:prstGeom>
        </p:spPr>
      </p:pic>
      <p:sp>
        <p:nvSpPr>
          <p:cNvPr id="11" name="Shape 8"/>
          <p:cNvSpPr/>
          <p:nvPr/>
        </p:nvSpPr>
        <p:spPr>
          <a:xfrm>
            <a:off x="6309360" y="1847088"/>
            <a:ext cx="5074920" cy="868680"/>
          </a:xfrm>
          <a:prstGeom prst="roundRect">
            <a:avLst>
              <a:gd name="adj" fmla="val 10526"/>
            </a:avLst>
          </a:prstGeom>
          <a:solidFill>
            <a:srgbClr val="050E0A"/>
          </a:solidFill>
          <a:ln w="12700">
            <a:solidFill>
              <a:srgbClr val="86AE8E"/>
            </a:solidFill>
            <a:prstDash val="solid"/>
          </a:ln>
        </p:spPr>
        <p:txBody>
          <a:bodyPr/>
          <a:p/>
        </p:txBody>
      </p:sp>
      <p:sp>
        <p:nvSpPr>
          <p:cNvPr id="12" name="Text 9"/>
          <p:cNvSpPr/>
          <p:nvPr/>
        </p:nvSpPr>
        <p:spPr>
          <a:xfrm>
            <a:off x="6455664" y="1956816"/>
            <a:ext cx="47823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Why not delete large loans?</a:t>
            </a:r>
            <a:endParaRPr lang="en-US" sz="1050" dirty="0"/>
          </a:p>
        </p:txBody>
      </p:sp>
      <p:sp>
        <p:nvSpPr>
          <p:cNvPr id="13" name="Text 10"/>
          <p:cNvSpPr/>
          <p:nvPr/>
        </p:nvSpPr>
        <p:spPr>
          <a:xfrm>
            <a:off x="6455664" y="2286000"/>
            <a:ext cx="4782312" cy="30175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00" dirty="0">
                <a:solidFill>
                  <a:srgbClr val="EAF1ED"/>
                </a:solidFill>
                <a:latin typeface="Aptos"/>
              </a:rPr>
              <a:t>A very large SBA loan can be statistically unusual but still valid. Removing it would remove real portfolio variation.</a:t>
            </a:r>
            <a:endParaRPr lang="en-US" sz="1200" dirty="0"/>
          </a:p>
        </p:txBody>
      </p:sp>
      <p:sp>
        <p:nvSpPr>
          <p:cNvPr id="14" name="Shape 11"/>
          <p:cNvSpPr/>
          <p:nvPr/>
        </p:nvSpPr>
        <p:spPr>
          <a:xfrm>
            <a:off x="6309360" y="2880360"/>
            <a:ext cx="5074920" cy="1051560"/>
          </a:xfrm>
          <a:prstGeom prst="roundRect">
            <a:avLst>
              <a:gd name="adj" fmla="val 8696"/>
            </a:avLst>
          </a:prstGeom>
          <a:solidFill>
            <a:srgbClr val="050E0A"/>
          </a:solidFill>
          <a:ln w="12700">
            <a:solidFill>
              <a:srgbClr val="86AE8E"/>
            </a:solidFill>
            <a:prstDash val="solid"/>
          </a:ln>
        </p:spPr>
        <p:txBody>
          <a:bodyPr/>
          <a:p/>
        </p:txBody>
      </p:sp>
      <p:sp>
        <p:nvSpPr>
          <p:cNvPr id="15" name="Text 12"/>
          <p:cNvSpPr/>
          <p:nvPr/>
        </p:nvSpPr>
        <p:spPr>
          <a:xfrm>
            <a:off x="6455664" y="2990088"/>
            <a:ext cx="47823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What the log does</a:t>
            </a:r>
            <a:endParaRPr lang="en-US" sz="1050" dirty="0"/>
          </a:p>
        </p:txBody>
      </p:sp>
      <p:sp>
        <p:nvSpPr>
          <p:cNvPr id="16" name="Text 13"/>
          <p:cNvSpPr/>
          <p:nvPr/>
        </p:nvSpPr>
        <p:spPr>
          <a:xfrm>
            <a:off x="6455664" y="3319272"/>
            <a:ext cx="4782312" cy="48463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00" dirty="0">
                <a:solidFill>
                  <a:srgbClr val="EAF1ED"/>
                </a:solidFill>
                <a:latin typeface="Aptos"/>
              </a:rPr>
              <a:t>log(1 + gross approval) compresses the upper tail while preserving the ordering: larger loans stay larger, but extreme dollar gaps become less dominant.</a:t>
            </a:r>
            <a:endParaRPr lang="en-US" sz="1200" dirty="0"/>
          </a:p>
        </p:txBody>
      </p:sp>
      <p:sp>
        <p:nvSpPr>
          <p:cNvPr id="17" name="Shape 14"/>
          <p:cNvSpPr/>
          <p:nvPr/>
        </p:nvSpPr>
        <p:spPr>
          <a:xfrm>
            <a:off x="6309360" y="4133088"/>
            <a:ext cx="5074920" cy="1234440"/>
          </a:xfrm>
          <a:prstGeom prst="roundRect">
            <a:avLst>
              <a:gd name="adj" fmla="val 7407"/>
            </a:avLst>
          </a:prstGeom>
          <a:solidFill>
            <a:srgbClr val="050E0A"/>
          </a:solidFill>
          <a:ln w="12700">
            <a:solidFill>
              <a:srgbClr val="86AE8E"/>
            </a:solidFill>
            <a:prstDash val="solid"/>
          </a:ln>
        </p:spPr>
        <p:txBody>
          <a:bodyPr/>
          <a:p/>
        </p:txBody>
      </p:sp>
      <p:sp>
        <p:nvSpPr>
          <p:cNvPr id="18" name="Text 15"/>
          <p:cNvSpPr/>
          <p:nvPr/>
        </p:nvSpPr>
        <p:spPr>
          <a:xfrm>
            <a:off x="6455664" y="4242816"/>
            <a:ext cx="47823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Why keep it if Random Forest won?</a:t>
            </a:r>
            <a:endParaRPr lang="en-US" sz="1050" dirty="0"/>
          </a:p>
        </p:txBody>
      </p:sp>
      <p:sp>
        <p:nvSpPr>
          <p:cNvPr id="19" name="Text 16"/>
          <p:cNvSpPr/>
          <p:nvPr/>
        </p:nvSpPr>
        <p:spPr>
          <a:xfrm>
            <a:off x="6455664" y="4572000"/>
            <a:ext cx="4782312" cy="6675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150" dirty="0">
                <a:solidFill>
                  <a:srgbClr val="EAF1ED"/>
                </a:solidFill>
                <a:latin typeface="Aptos"/>
              </a:rPr>
              <a:t>Random Forest does not require log transformation, but the project compares multiple candidate models using one consistent feature set. The transformation helps linear models and does not destroy tree-based ranking information.</a:t>
            </a:r>
            <a:endParaRPr lang="en-US" sz="1150" dirty="0"/>
          </a:p>
        </p:txBody>
      </p:sp>
      <p:sp>
        <p:nvSpPr>
          <p:cNvPr id="20" name="Text 17"/>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19" name="Picture 18" descr="image-1-1.jpeg"/>
          <p:cNvPicPr>
            <a:picLocks noChangeAspect="1"/>
          </p:cNvPicPr>
          <p:nvPr/>
        </p:nvPicPr>
        <p:blipFill>
          <a:blip r:embed="rId6"/>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09</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TRAINING-ONLY EDA</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EDA: pricing, guarantee, and industry also contain signal</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Interest rate, guarantee band, and industry are associated with different observed charge-off rates.</a:t>
            </a:r>
            <a:endParaRPr lang="en-US" sz="1320" dirty="0"/>
          </a:p>
        </p:txBody>
      </p:sp>
      <p:sp>
        <p:nvSpPr>
          <p:cNvPr id="9" name="Shape 7"/>
          <p:cNvSpPr/>
          <p:nvPr/>
        </p:nvSpPr>
        <p:spPr>
          <a:xfrm>
            <a:off x="502920" y="1783080"/>
            <a:ext cx="3611880" cy="2907792"/>
          </a:xfrm>
          <a:prstGeom prst="roundRect">
            <a:avLst>
              <a:gd name="adj" fmla="val 2516"/>
            </a:avLst>
          </a:prstGeom>
          <a:solidFill>
            <a:srgbClr val="050E0A"/>
          </a:solidFill>
          <a:ln w="12700">
            <a:solidFill>
              <a:srgbClr val="86AE8E"/>
            </a:solidFill>
            <a:prstDash val="solid"/>
          </a:ln>
        </p:spPr>
        <p:txBody>
          <a:bodyPr/>
          <a:p/>
        </p:txBody>
      </p:sp>
      <p:pic>
        <p:nvPicPr>
          <p:cNvPr id="10" name="Image 0" descr="/mnt/data/sba_flow_assets/interest_rate.png">    </p:cNvPr>
          <p:cNvPicPr>
            <a:picLocks noChangeAspect="1"/>
          </p:cNvPicPr>
          <p:nvPr/>
        </p:nvPicPr>
        <p:blipFill>
          <a:blip r:embed="rId1"/>
          <a:stretch>
            <a:fillRect/>
          </a:stretch>
        </p:blipFill>
        <p:spPr>
          <a:xfrm>
            <a:off x="557784" y="2231511"/>
            <a:ext cx="3502152" cy="2010930"/>
          </a:xfrm>
          <a:prstGeom prst="rect">
            <a:avLst/>
          </a:prstGeom>
        </p:spPr>
      </p:pic>
      <p:sp>
        <p:nvSpPr>
          <p:cNvPr id="11" name="Shape 8"/>
          <p:cNvSpPr/>
          <p:nvPr/>
        </p:nvSpPr>
        <p:spPr>
          <a:xfrm>
            <a:off x="4279392" y="1783080"/>
            <a:ext cx="3611880" cy="2907792"/>
          </a:xfrm>
          <a:prstGeom prst="roundRect">
            <a:avLst>
              <a:gd name="adj" fmla="val 2516"/>
            </a:avLst>
          </a:prstGeom>
          <a:solidFill>
            <a:srgbClr val="050E0A"/>
          </a:solidFill>
          <a:ln w="12700">
            <a:solidFill>
              <a:srgbClr val="86AE8E"/>
            </a:solidFill>
            <a:prstDash val="solid"/>
          </a:ln>
        </p:spPr>
        <p:txBody>
          <a:bodyPr/>
          <a:p/>
        </p:txBody>
      </p:sp>
      <p:pic>
        <p:nvPicPr>
          <p:cNvPr id="12" name="Image 1" descr="/mnt/data/sba_flow_assets/guarantee_rate.png">    </p:cNvPr>
          <p:cNvPicPr>
            <a:picLocks noChangeAspect="1"/>
          </p:cNvPicPr>
          <p:nvPr/>
        </p:nvPicPr>
        <p:blipFill>
          <a:blip r:embed="rId2"/>
          <a:stretch>
            <a:fillRect/>
          </a:stretch>
        </p:blipFill>
        <p:spPr>
          <a:xfrm>
            <a:off x="4334256" y="2232260"/>
            <a:ext cx="3502152" cy="2009431"/>
          </a:xfrm>
          <a:prstGeom prst="rect">
            <a:avLst/>
          </a:prstGeom>
        </p:spPr>
      </p:pic>
      <p:sp>
        <p:nvSpPr>
          <p:cNvPr id="13" name="Shape 9"/>
          <p:cNvSpPr/>
          <p:nvPr/>
        </p:nvSpPr>
        <p:spPr>
          <a:xfrm>
            <a:off x="8028432" y="1783080"/>
            <a:ext cx="3611880" cy="2907792"/>
          </a:xfrm>
          <a:prstGeom prst="roundRect">
            <a:avLst>
              <a:gd name="adj" fmla="val 2516"/>
            </a:avLst>
          </a:prstGeom>
          <a:solidFill>
            <a:srgbClr val="050E0A"/>
          </a:solidFill>
          <a:ln w="12700">
            <a:solidFill>
              <a:srgbClr val="86AE8E"/>
            </a:solidFill>
            <a:prstDash val="solid"/>
          </a:ln>
        </p:spPr>
        <p:txBody>
          <a:bodyPr/>
          <a:p/>
        </p:txBody>
      </p:sp>
      <p:pic>
        <p:nvPicPr>
          <p:cNvPr id="14" name="Image 2" descr="/mnt/data/sba_flow_assets/naics_rate.png">    </p:cNvPr>
          <p:cNvPicPr>
            <a:picLocks noChangeAspect="1"/>
          </p:cNvPicPr>
          <p:nvPr/>
        </p:nvPicPr>
        <p:blipFill>
          <a:blip r:embed="rId3"/>
          <a:stretch>
            <a:fillRect/>
          </a:stretch>
        </p:blipFill>
        <p:spPr>
          <a:xfrm>
            <a:off x="8083296" y="2323923"/>
            <a:ext cx="3502152" cy="1826106"/>
          </a:xfrm>
          <a:prstGeom prst="rect">
            <a:avLst/>
          </a:prstGeom>
        </p:spPr>
      </p:pic>
      <p:sp>
        <p:nvSpPr>
          <p:cNvPr id="15" name="Shape 10"/>
          <p:cNvSpPr/>
          <p:nvPr/>
        </p:nvSpPr>
        <p:spPr>
          <a:xfrm>
            <a:off x="640080" y="4983480"/>
            <a:ext cx="10789920" cy="868680"/>
          </a:xfrm>
          <a:prstGeom prst="roundRect">
            <a:avLst>
              <a:gd name="adj" fmla="val 10526"/>
            </a:avLst>
          </a:prstGeom>
          <a:solidFill>
            <a:srgbClr val="050E0A"/>
          </a:solidFill>
          <a:ln w="12700">
            <a:solidFill>
              <a:srgbClr val="86AE8E"/>
            </a:solidFill>
            <a:prstDash val="solid"/>
          </a:ln>
        </p:spPr>
        <p:txBody>
          <a:bodyPr/>
          <a:p/>
        </p:txBody>
      </p:sp>
      <p:sp>
        <p:nvSpPr>
          <p:cNvPr id="16" name="Text 11"/>
          <p:cNvSpPr/>
          <p:nvPr/>
        </p:nvSpPr>
        <p:spPr>
          <a:xfrm>
            <a:off x="786384" y="5093208"/>
            <a:ext cx="104973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How to interpret these patterns</a:t>
            </a:r>
            <a:endParaRPr lang="en-US" sz="1050" dirty="0"/>
          </a:p>
        </p:txBody>
      </p:sp>
      <p:sp>
        <p:nvSpPr>
          <p:cNvPr id="17" name="Text 12"/>
          <p:cNvSpPr/>
          <p:nvPr/>
        </p:nvSpPr>
        <p:spPr>
          <a:xfrm>
            <a:off x="786384" y="5422392"/>
            <a:ext cx="10497312" cy="30175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30" dirty="0">
                <a:solidFill>
                  <a:srgbClr val="EAF1ED"/>
                </a:solidFill>
                <a:latin typeface="Aptos"/>
              </a:rPr>
              <a:t>These are associations in historical data, not causal claims. Higher rates may partly reflect risk already identified during underwriting; industry can proxy for cyclicality, margins, revenue stability, and other unobserved factors.</a:t>
            </a:r>
            <a:endParaRPr lang="en-US" sz="1230" dirty="0"/>
          </a:p>
        </p:txBody>
      </p:sp>
      <p:sp>
        <p:nvSpPr>
          <p:cNvPr id="18" name="Text 13"/>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16" name="Picture 15" descr="image-2-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10</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DATA CHECKS</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Data quality and outliers: unusual is not automatically wrong</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I separate statistical outliers from impossible or suspicious values before modeling.</a:t>
            </a:r>
            <a:endParaRPr lang="en-US" sz="1320" dirty="0"/>
          </a:p>
        </p:txBody>
      </p:sp>
      <p:sp>
        <p:nvSpPr>
          <p:cNvPr id="9" name="Shape 7"/>
          <p:cNvSpPr/>
          <p:nvPr/>
        </p:nvSpPr>
        <p:spPr>
          <a:xfrm>
            <a:off x="658368" y="1874520"/>
            <a:ext cx="5376672" cy="4251960"/>
          </a:xfrm>
          <a:prstGeom prst="roundRect">
            <a:avLst>
              <a:gd name="adj" fmla="val 2151"/>
            </a:avLst>
          </a:prstGeom>
          <a:solidFill>
            <a:srgbClr val="050E0A"/>
          </a:solidFill>
          <a:ln w="12700">
            <a:solidFill>
              <a:srgbClr val="86AE8E"/>
            </a:solidFill>
            <a:prstDash val="solid"/>
          </a:ln>
        </p:spPr>
        <p:txBody>
          <a:bodyPr/>
          <a:p/>
        </p:txBody>
      </p:sp>
      <p:sp>
        <p:nvSpPr>
          <p:cNvPr id="10" name="Text 8"/>
          <p:cNvSpPr/>
          <p:nvPr/>
        </p:nvSpPr>
        <p:spPr>
          <a:xfrm>
            <a:off x="804672" y="1984248"/>
            <a:ext cx="5084064"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Do not automatically remove outliers</a:t>
            </a:r>
            <a:endParaRPr lang="en-US" sz="1050" dirty="0"/>
          </a:p>
        </p:txBody>
      </p:sp>
      <p:sp>
        <p:nvSpPr>
          <p:cNvPr id="11" name="Text 9"/>
          <p:cNvSpPr/>
          <p:nvPr/>
        </p:nvSpPr>
        <p:spPr>
          <a:xfrm>
            <a:off x="804672" y="2313432"/>
            <a:ext cx="5084064" cy="368503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00" dirty="0">
                <a:solidFill>
                  <a:srgbClr val="EAF1ED"/>
                </a:solidFill>
                <a:latin typeface="Aptos"/>
              </a:rPr>
              <a:t>• IQR flags unusual observations, but unusual can still be valid in SBA lending.</a:t>
            </a:r>
            <a:endParaRPr lang="en-US" sz="1300" dirty="0"/>
          </a:p>
          <a:p>
            <a:pPr indent="0" marL="0">
              <a:buNone/>
            </a:pPr>
            <a:r>
              <a:rPr lang="en-US" sz="1300" dirty="0">
                <a:solidFill>
                  <a:srgbClr val="EAF1ED"/>
                </a:solidFill>
                <a:latin typeface="Aptos"/>
              </a:rPr>
              <a:t>• Large loans, long terms, or high jobs-supported counts may reflect real records.</a:t>
            </a:r>
            <a:endParaRPr lang="en-US" sz="1300" dirty="0"/>
          </a:p>
          <a:p>
            <a:pPr indent="0" marL="0">
              <a:buNone/>
            </a:pPr>
            <a:r>
              <a:rPr lang="en-US" sz="1300" dirty="0">
                <a:solidFill>
                  <a:srgbClr val="EAF1ED"/>
                </a:solidFill>
                <a:latin typeface="Aptos"/>
              </a:rPr>
              <a:t>• Deleting them could remove important portfolio variation.</a:t>
            </a:r>
            <a:endParaRPr lang="en-US" sz="1300" dirty="0"/>
          </a:p>
        </p:txBody>
      </p:sp>
      <p:sp>
        <p:nvSpPr>
          <p:cNvPr id="12" name="Shape 10"/>
          <p:cNvSpPr/>
          <p:nvPr/>
        </p:nvSpPr>
        <p:spPr>
          <a:xfrm>
            <a:off x="6263640" y="1874520"/>
            <a:ext cx="5230368" cy="4251960"/>
          </a:xfrm>
          <a:prstGeom prst="roundRect">
            <a:avLst>
              <a:gd name="adj" fmla="val 2151"/>
            </a:avLst>
          </a:prstGeom>
          <a:solidFill>
            <a:srgbClr val="050E0A"/>
          </a:solidFill>
          <a:ln w="12700">
            <a:solidFill>
              <a:srgbClr val="86AE8E"/>
            </a:solidFill>
            <a:prstDash val="solid"/>
          </a:ln>
        </p:spPr>
        <p:txBody>
          <a:bodyPr/>
          <a:p/>
        </p:txBody>
      </p:sp>
      <p:sp>
        <p:nvSpPr>
          <p:cNvPr id="13" name="Text 11"/>
          <p:cNvSpPr/>
          <p:nvPr/>
        </p:nvSpPr>
        <p:spPr>
          <a:xfrm>
            <a:off x="6409944" y="1984248"/>
            <a:ext cx="4937760"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Impossible-value checks</a:t>
            </a:r>
            <a:endParaRPr lang="en-US" sz="1050" dirty="0"/>
          </a:p>
        </p:txBody>
      </p:sp>
      <p:sp>
        <p:nvSpPr>
          <p:cNvPr id="14" name="Text 12"/>
          <p:cNvSpPr/>
          <p:nvPr/>
        </p:nvSpPr>
        <p:spPr>
          <a:xfrm>
            <a:off x="6409944" y="2313432"/>
            <a:ext cx="4937760" cy="368503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00" dirty="0">
                <a:solidFill>
                  <a:srgbClr val="EAF1ED"/>
                </a:solidFill>
                <a:latin typeface="Aptos"/>
              </a:rPr>
              <a:t>• gross_approval &lt;= 0: 0 rows</a:t>
            </a:r>
            <a:endParaRPr lang="en-US" sz="1300" dirty="0"/>
          </a:p>
          <a:p>
            <a:pPr indent="0" marL="0">
              <a:buNone/>
            </a:pPr>
            <a:r>
              <a:rPr lang="en-US" sz="1300" dirty="0">
                <a:solidFill>
                  <a:srgbClr val="EAF1ED"/>
                </a:solidFill>
                <a:latin typeface="Aptos"/>
              </a:rPr>
              <a:t>• interest_rate &lt; 0: 0 rows</a:t>
            </a:r>
            <a:endParaRPr lang="en-US" sz="1300" dirty="0"/>
          </a:p>
          <a:p>
            <a:pPr indent="0" marL="0">
              <a:buNone/>
            </a:pPr>
            <a:r>
              <a:rPr lang="en-US" sz="1300" dirty="0">
                <a:solidFill>
                  <a:srgbClr val="EAF1ED"/>
                </a:solidFill>
                <a:latin typeface="Aptos"/>
              </a:rPr>
              <a:t>• guarantee_pct &gt; 1.05: 0 rows</a:t>
            </a:r>
            <a:endParaRPr lang="en-US" sz="1300" dirty="0"/>
          </a:p>
          <a:p>
            <a:pPr indent="0" marL="0">
              <a:buNone/>
            </a:pPr>
            <a:r>
              <a:rPr lang="en-US" sz="1300" dirty="0">
                <a:solidFill>
                  <a:srgbClr val="EAF1ED"/>
                </a:solidFill>
                <a:latin typeface="Aptos"/>
              </a:rPr>
              <a:t>• term_months &lt;= 0: 208 rows — needs follow-up in production.</a:t>
            </a:r>
            <a:endParaRPr lang="en-US" sz="1300" dirty="0"/>
          </a:p>
        </p:txBody>
      </p:sp>
      <p:sp>
        <p:nvSpPr>
          <p:cNvPr id="15" name="Text 13"/>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22" name="Picture 21" descr="image-3-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11</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MODELING SETUP</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Feature set and preprocessing pipeline</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The model uses approval-time variables only, and preprocessing is learned from training data only.</a:t>
            </a:r>
            <a:endParaRPr lang="en-US" sz="1320" dirty="0"/>
          </a:p>
        </p:txBody>
      </p:sp>
      <p:sp>
        <p:nvSpPr>
          <p:cNvPr id="9" name="Shape 7"/>
          <p:cNvSpPr/>
          <p:nvPr/>
        </p:nvSpPr>
        <p:spPr>
          <a:xfrm>
            <a:off x="685800" y="1828800"/>
            <a:ext cx="2834640" cy="3337560"/>
          </a:xfrm>
          <a:prstGeom prst="roundRect">
            <a:avLst>
              <a:gd name="adj" fmla="val 3226"/>
            </a:avLst>
          </a:prstGeom>
          <a:solidFill>
            <a:srgbClr val="050E0A"/>
          </a:solidFill>
          <a:ln w="12700">
            <a:solidFill>
              <a:srgbClr val="86AE8E"/>
            </a:solidFill>
            <a:prstDash val="solid"/>
          </a:ln>
        </p:spPr>
        <p:txBody>
          <a:bodyPr/>
          <a:p/>
        </p:txBody>
      </p:sp>
      <p:sp>
        <p:nvSpPr>
          <p:cNvPr id="10" name="Text 8"/>
          <p:cNvSpPr/>
          <p:nvPr/>
        </p:nvSpPr>
        <p:spPr>
          <a:xfrm>
            <a:off x="832104" y="1938528"/>
            <a:ext cx="254203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Numerical features</a:t>
            </a:r>
            <a:endParaRPr lang="en-US" sz="1050" dirty="0"/>
          </a:p>
        </p:txBody>
      </p:sp>
      <p:sp>
        <p:nvSpPr>
          <p:cNvPr id="11" name="Text 9"/>
          <p:cNvSpPr/>
          <p:nvPr/>
        </p:nvSpPr>
        <p:spPr>
          <a:xfrm>
            <a:off x="832104" y="2267712"/>
            <a:ext cx="2542032" cy="277063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450" dirty="0">
                <a:solidFill>
                  <a:srgbClr val="EAF1ED"/>
                </a:solidFill>
                <a:latin typeface="Aptos"/>
              </a:rPr>
              <a:t>log_gross_approval</a:t>
            </a:r>
            <a:endParaRPr lang="en-US" sz="1450" dirty="0"/>
          </a:p>
          <a:p>
            <a:pPr indent="0" marL="0">
              <a:buNone/>
            </a:pPr>
            <a:r>
              <a:rPr lang="en-US" sz="1450" dirty="0">
                <a:solidFill>
                  <a:srgbClr val="EAF1ED"/>
                </a:solidFill>
                <a:latin typeface="Aptos"/>
              </a:rPr>
              <a:t>guarantee_pct</a:t>
            </a:r>
            <a:endParaRPr lang="en-US" sz="1450" dirty="0"/>
          </a:p>
          <a:p>
            <a:pPr indent="0" marL="0">
              <a:buNone/>
            </a:pPr>
            <a:r>
              <a:rPr lang="en-US" sz="1450" dirty="0">
                <a:solidFill>
                  <a:srgbClr val="EAF1ED"/>
                </a:solidFill>
                <a:latin typeface="Aptos"/>
              </a:rPr>
              <a:t>term_months</a:t>
            </a:r>
            <a:endParaRPr lang="en-US" sz="1450" dirty="0"/>
          </a:p>
          <a:p>
            <a:pPr indent="0" marL="0">
              <a:buNone/>
            </a:pPr>
            <a:r>
              <a:rPr lang="en-US" sz="1450" dirty="0">
                <a:solidFill>
                  <a:srgbClr val="EAF1ED"/>
                </a:solidFill>
                <a:latin typeface="Aptos"/>
              </a:rPr>
              <a:t>initial_interest_rate</a:t>
            </a:r>
            <a:endParaRPr lang="en-US" sz="1450" dirty="0"/>
          </a:p>
          <a:p>
            <a:pPr indent="0" marL="0">
              <a:buNone/>
            </a:pPr>
            <a:r>
              <a:rPr lang="en-US" sz="1450" dirty="0">
                <a:solidFill>
                  <a:srgbClr val="EAF1ED"/>
                </a:solidFill>
                <a:latin typeface="Aptos"/>
              </a:rPr>
              <a:t>jobs_supported</a:t>
            </a:r>
            <a:endParaRPr lang="en-US" sz="1450" dirty="0"/>
          </a:p>
          <a:p>
            <a:pPr indent="0" marL="0">
              <a:buNone/>
            </a:pPr>
            <a:r>
              <a:rPr lang="en-US" sz="1450" dirty="0">
                <a:solidFill>
                  <a:srgbClr val="EAF1ED"/>
                </a:solidFill>
                <a:latin typeface="Aptos"/>
              </a:rPr>
              <a:t>approval_year</a:t>
            </a:r>
            <a:endParaRPr lang="en-US" sz="1450" dirty="0"/>
          </a:p>
        </p:txBody>
      </p:sp>
      <p:sp>
        <p:nvSpPr>
          <p:cNvPr id="12" name="Shape 10"/>
          <p:cNvSpPr/>
          <p:nvPr/>
        </p:nvSpPr>
        <p:spPr>
          <a:xfrm>
            <a:off x="3703320" y="1828800"/>
            <a:ext cx="3703320" cy="3337560"/>
          </a:xfrm>
          <a:prstGeom prst="roundRect">
            <a:avLst>
              <a:gd name="adj" fmla="val 2740"/>
            </a:avLst>
          </a:prstGeom>
          <a:solidFill>
            <a:srgbClr val="050E0A"/>
          </a:solidFill>
          <a:ln w="12700">
            <a:solidFill>
              <a:srgbClr val="86AE8E"/>
            </a:solidFill>
            <a:prstDash val="solid"/>
          </a:ln>
        </p:spPr>
        <p:txBody>
          <a:bodyPr/>
          <a:p/>
        </p:txBody>
      </p:sp>
      <p:sp>
        <p:nvSpPr>
          <p:cNvPr id="13" name="Text 11"/>
          <p:cNvSpPr/>
          <p:nvPr/>
        </p:nvSpPr>
        <p:spPr>
          <a:xfrm>
            <a:off x="3849624" y="1938528"/>
            <a:ext cx="34107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Categorical features</a:t>
            </a:r>
            <a:endParaRPr lang="en-US" sz="1050" dirty="0"/>
          </a:p>
        </p:txBody>
      </p:sp>
      <p:sp>
        <p:nvSpPr>
          <p:cNvPr id="14" name="Text 12"/>
          <p:cNvSpPr/>
          <p:nvPr/>
        </p:nvSpPr>
        <p:spPr>
          <a:xfrm>
            <a:off x="3849624" y="2267712"/>
            <a:ext cx="3410712" cy="277063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10" dirty="0">
                <a:solidFill>
                  <a:srgbClr val="EAF1ED"/>
                </a:solidFill>
                <a:latin typeface="Aptos"/>
              </a:rPr>
              <a:t>state, business type, business age, processing method, fixed/variable rate, revolver status, collateral indicator, NAICS 2-digit sector, franchise flag</a:t>
            </a:r>
            <a:endParaRPr lang="en-US" sz="1310" dirty="0"/>
          </a:p>
        </p:txBody>
      </p:sp>
      <p:sp>
        <p:nvSpPr>
          <p:cNvPr id="15" name="Shape 13"/>
          <p:cNvSpPr/>
          <p:nvPr/>
        </p:nvSpPr>
        <p:spPr>
          <a:xfrm>
            <a:off x="7589520" y="1828800"/>
            <a:ext cx="3794760" cy="3337560"/>
          </a:xfrm>
          <a:prstGeom prst="roundRect">
            <a:avLst>
              <a:gd name="adj" fmla="val 2740"/>
            </a:avLst>
          </a:prstGeom>
          <a:solidFill>
            <a:srgbClr val="050E0A"/>
          </a:solidFill>
          <a:ln w="12700">
            <a:solidFill>
              <a:srgbClr val="86AE8E"/>
            </a:solidFill>
            <a:prstDash val="solid"/>
          </a:ln>
        </p:spPr>
        <p:txBody>
          <a:bodyPr/>
          <a:p/>
        </p:txBody>
      </p:sp>
      <p:sp>
        <p:nvSpPr>
          <p:cNvPr id="16" name="Text 14"/>
          <p:cNvSpPr/>
          <p:nvPr/>
        </p:nvSpPr>
        <p:spPr>
          <a:xfrm>
            <a:off x="7735824" y="1938528"/>
            <a:ext cx="350215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Leakage prevention</a:t>
            </a:r>
            <a:endParaRPr lang="en-US" sz="1050" dirty="0"/>
          </a:p>
        </p:txBody>
      </p:sp>
      <p:sp>
        <p:nvSpPr>
          <p:cNvPr id="17" name="Text 15"/>
          <p:cNvSpPr/>
          <p:nvPr/>
        </p:nvSpPr>
        <p:spPr>
          <a:xfrm>
            <a:off x="7735824" y="2267712"/>
            <a:ext cx="3502152" cy="277063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70" dirty="0">
                <a:solidFill>
                  <a:srgbClr val="EAF1ED"/>
                </a:solidFill>
                <a:latin typeface="Aptos"/>
              </a:rPr>
              <a:t>Excluded outcome fields: loan status, charge-off date, charge-off amount, paid-in-full date.</a:t>
            </a:r>
            <a:endParaRPr lang="en-US" sz="1270" dirty="0"/>
          </a:p>
          <a:p>
            <a:pPr indent="0" marL="0">
              <a:buNone/>
            </a:pPr>
            <a:endParaRPr lang="en-US" sz="1270" dirty="0"/>
          </a:p>
          <a:p>
            <a:pPr indent="0" marL="0">
              <a:buNone/>
            </a:pPr>
            <a:r>
              <a:rPr lang="en-US" sz="1270" dirty="0">
                <a:solidFill>
                  <a:srgbClr val="EAF1ED"/>
                </a:solidFill>
                <a:latin typeface="Aptos"/>
              </a:rPr>
              <a:t>Excluded borrower name and street address for generalizability and appropriateness.</a:t>
            </a:r>
            <a:endParaRPr lang="en-US" sz="1270" dirty="0"/>
          </a:p>
        </p:txBody>
      </p:sp>
      <p:sp>
        <p:nvSpPr>
          <p:cNvPr id="18" name="Shape 16"/>
          <p:cNvSpPr/>
          <p:nvPr/>
        </p:nvSpPr>
        <p:spPr>
          <a:xfrm>
            <a:off x="685800" y="5376672"/>
            <a:ext cx="10698480" cy="685800"/>
          </a:xfrm>
          <a:prstGeom prst="roundRect">
            <a:avLst>
              <a:gd name="adj" fmla="val 13333"/>
            </a:avLst>
          </a:prstGeom>
          <a:solidFill>
            <a:srgbClr val="050E0A"/>
          </a:solidFill>
          <a:ln w="12700">
            <a:solidFill>
              <a:srgbClr val="86AE8E"/>
            </a:solidFill>
            <a:prstDash val="solid"/>
          </a:ln>
        </p:spPr>
        <p:txBody>
          <a:bodyPr/>
          <a:p/>
        </p:txBody>
      </p:sp>
      <p:sp>
        <p:nvSpPr>
          <p:cNvPr id="19" name="Text 17"/>
          <p:cNvSpPr/>
          <p:nvPr/>
        </p:nvSpPr>
        <p:spPr>
          <a:xfrm>
            <a:off x="832104" y="5486400"/>
            <a:ext cx="1040587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Pipeline logic</a:t>
            </a:r>
            <a:endParaRPr lang="en-US" sz="1050" dirty="0"/>
          </a:p>
        </p:txBody>
      </p:sp>
      <p:sp>
        <p:nvSpPr>
          <p:cNvPr id="20" name="Text 18"/>
          <p:cNvSpPr/>
          <p:nvPr/>
        </p:nvSpPr>
        <p:spPr>
          <a:xfrm>
            <a:off x="832104" y="5815584"/>
            <a:ext cx="10405872" cy="1188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00" dirty="0">
                <a:solidFill>
                  <a:srgbClr val="EAF1ED"/>
                </a:solidFill>
                <a:latin typeface="Aptos"/>
              </a:rPr>
              <a:t>Numeric imputation + scaling; categorical imputation + one-hot encoding. All preprocessing is fit inside the scikit-learn pipeline so validation/test information does not leak into training.</a:t>
            </a:r>
            <a:endParaRPr lang="en-US" sz="1200" dirty="0"/>
          </a:p>
        </p:txBody>
      </p:sp>
      <p:sp>
        <p:nvSpPr>
          <p:cNvPr id="21" name="Text 19"/>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5" name="Picture 24" descr="image-4-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12</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MODELING SETUP</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Candidate models: simple baseline to flexible ensemble</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I compare models with different levels of flexibility, then let validation performance decide.</a:t>
            </a:r>
            <a:endParaRPr lang="en-US" sz="1320" dirty="0"/>
          </a:p>
        </p:txBody>
      </p:sp>
      <p:sp>
        <p:nvSpPr>
          <p:cNvPr id="9" name="Shape 7"/>
          <p:cNvSpPr/>
          <p:nvPr/>
        </p:nvSpPr>
        <p:spPr>
          <a:xfrm>
            <a:off x="685800" y="1828800"/>
            <a:ext cx="2514600" cy="2514600"/>
          </a:xfrm>
          <a:prstGeom prst="roundRect">
            <a:avLst>
              <a:gd name="adj" fmla="val 3636"/>
            </a:avLst>
          </a:prstGeom>
          <a:solidFill>
            <a:srgbClr val="050E0A"/>
          </a:solidFill>
          <a:ln w="12700">
            <a:solidFill>
              <a:srgbClr val="86AE8E"/>
            </a:solidFill>
            <a:prstDash val="solid"/>
          </a:ln>
        </p:spPr>
        <p:txBody>
          <a:bodyPr/>
          <a:p/>
        </p:txBody>
      </p:sp>
      <p:sp>
        <p:nvSpPr>
          <p:cNvPr id="10" name="Text 8"/>
          <p:cNvSpPr/>
          <p:nvPr/>
        </p:nvSpPr>
        <p:spPr>
          <a:xfrm>
            <a:off x="832104" y="1938528"/>
            <a:ext cx="222199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Dummy classifier</a:t>
            </a:r>
            <a:endParaRPr lang="en-US" sz="1050" dirty="0"/>
          </a:p>
        </p:txBody>
      </p:sp>
      <p:sp>
        <p:nvSpPr>
          <p:cNvPr id="11" name="Text 9"/>
          <p:cNvSpPr/>
          <p:nvPr/>
        </p:nvSpPr>
        <p:spPr>
          <a:xfrm>
            <a:off x="832104" y="2267712"/>
            <a:ext cx="2221992" cy="19476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00" dirty="0">
                <a:solidFill>
                  <a:srgbClr val="EAF1ED"/>
                </a:solidFill>
                <a:latin typeface="Aptos"/>
              </a:rPr>
              <a:t>Baseline only. If real models cannot beat this, the features are not adding useful signal.</a:t>
            </a:r>
            <a:endParaRPr lang="en-US" sz="1200" dirty="0"/>
          </a:p>
        </p:txBody>
      </p:sp>
      <p:sp>
        <p:nvSpPr>
          <p:cNvPr id="12" name="Shape 10"/>
          <p:cNvSpPr/>
          <p:nvPr/>
        </p:nvSpPr>
        <p:spPr>
          <a:xfrm>
            <a:off x="3355848" y="1828800"/>
            <a:ext cx="2514600" cy="2514600"/>
          </a:xfrm>
          <a:prstGeom prst="roundRect">
            <a:avLst>
              <a:gd name="adj" fmla="val 3636"/>
            </a:avLst>
          </a:prstGeom>
          <a:solidFill>
            <a:srgbClr val="050E0A"/>
          </a:solidFill>
          <a:ln w="12700">
            <a:solidFill>
              <a:srgbClr val="86AE8E"/>
            </a:solidFill>
            <a:prstDash val="solid"/>
          </a:ln>
        </p:spPr>
        <p:txBody>
          <a:bodyPr/>
          <a:p/>
        </p:txBody>
      </p:sp>
      <p:sp>
        <p:nvSpPr>
          <p:cNvPr id="13" name="Text 11"/>
          <p:cNvSpPr/>
          <p:nvPr/>
        </p:nvSpPr>
        <p:spPr>
          <a:xfrm>
            <a:off x="3502152" y="1938528"/>
            <a:ext cx="222199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Logistic Regression</a:t>
            </a:r>
            <a:endParaRPr lang="en-US" sz="1050" dirty="0"/>
          </a:p>
        </p:txBody>
      </p:sp>
      <p:sp>
        <p:nvSpPr>
          <p:cNvPr id="14" name="Text 12"/>
          <p:cNvSpPr/>
          <p:nvPr/>
        </p:nvSpPr>
        <p:spPr>
          <a:xfrm>
            <a:off x="3502152" y="2267712"/>
            <a:ext cx="2221992" cy="19476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00" dirty="0">
                <a:solidFill>
                  <a:srgbClr val="EAF1ED"/>
                </a:solidFill>
                <a:latin typeface="Aptos"/>
              </a:rPr>
              <a:t>Interpretable credit-risk benchmark with regularization. Good reference point for linear relationships.</a:t>
            </a:r>
            <a:endParaRPr lang="en-US" sz="1200" dirty="0"/>
          </a:p>
        </p:txBody>
      </p:sp>
      <p:sp>
        <p:nvSpPr>
          <p:cNvPr id="15" name="Shape 13"/>
          <p:cNvSpPr/>
          <p:nvPr/>
        </p:nvSpPr>
        <p:spPr>
          <a:xfrm>
            <a:off x="6016752" y="1828800"/>
            <a:ext cx="2514600" cy="2514600"/>
          </a:xfrm>
          <a:prstGeom prst="roundRect">
            <a:avLst>
              <a:gd name="adj" fmla="val 3636"/>
            </a:avLst>
          </a:prstGeom>
          <a:solidFill>
            <a:srgbClr val="050E0A"/>
          </a:solidFill>
          <a:ln w="12700">
            <a:solidFill>
              <a:srgbClr val="86AE8E"/>
            </a:solidFill>
            <a:prstDash val="solid"/>
          </a:ln>
        </p:spPr>
        <p:txBody>
          <a:bodyPr/>
          <a:p/>
        </p:txBody>
      </p:sp>
      <p:sp>
        <p:nvSpPr>
          <p:cNvPr id="16" name="Text 14"/>
          <p:cNvSpPr/>
          <p:nvPr/>
        </p:nvSpPr>
        <p:spPr>
          <a:xfrm>
            <a:off x="6163056" y="1938528"/>
            <a:ext cx="222199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Decision Tree</a:t>
            </a:r>
            <a:endParaRPr lang="en-US" sz="1050" dirty="0"/>
          </a:p>
        </p:txBody>
      </p:sp>
      <p:sp>
        <p:nvSpPr>
          <p:cNvPr id="17" name="Text 15"/>
          <p:cNvSpPr/>
          <p:nvPr/>
        </p:nvSpPr>
        <p:spPr>
          <a:xfrm>
            <a:off x="6163056" y="2267712"/>
            <a:ext cx="2221992" cy="19476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00" dirty="0">
                <a:solidFill>
                  <a:srgbClr val="EAF1ED"/>
                </a:solidFill>
                <a:latin typeface="Aptos"/>
              </a:rPr>
              <a:t>Simple nonlinear model. Can capture interactions but can overfit if unconstrained.</a:t>
            </a:r>
            <a:endParaRPr lang="en-US" sz="1200" dirty="0"/>
          </a:p>
        </p:txBody>
      </p:sp>
      <p:sp>
        <p:nvSpPr>
          <p:cNvPr id="18" name="Shape 16"/>
          <p:cNvSpPr/>
          <p:nvPr/>
        </p:nvSpPr>
        <p:spPr>
          <a:xfrm>
            <a:off x="8686800" y="1828800"/>
            <a:ext cx="2514600" cy="2514600"/>
          </a:xfrm>
          <a:prstGeom prst="roundRect">
            <a:avLst>
              <a:gd name="adj" fmla="val 3636"/>
            </a:avLst>
          </a:prstGeom>
          <a:solidFill>
            <a:srgbClr val="050E0A"/>
          </a:solidFill>
          <a:ln w="12700">
            <a:solidFill>
              <a:srgbClr val="86AE8E"/>
            </a:solidFill>
            <a:prstDash val="solid"/>
          </a:ln>
        </p:spPr>
        <p:txBody>
          <a:bodyPr/>
          <a:p/>
        </p:txBody>
      </p:sp>
      <p:sp>
        <p:nvSpPr>
          <p:cNvPr id="19" name="Text 17"/>
          <p:cNvSpPr/>
          <p:nvPr/>
        </p:nvSpPr>
        <p:spPr>
          <a:xfrm>
            <a:off x="8833104" y="1938528"/>
            <a:ext cx="222199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9DDC9A"/>
                </a:solidFill>
                <a:latin typeface="Aptos"/>
              </a:rPr>
              <a:t>Random Forest</a:t>
            </a:r>
            <a:endParaRPr lang="en-US" sz="1050" dirty="0"/>
          </a:p>
        </p:txBody>
      </p:sp>
      <p:sp>
        <p:nvSpPr>
          <p:cNvPr id="20" name="Text 18"/>
          <p:cNvSpPr/>
          <p:nvPr/>
        </p:nvSpPr>
        <p:spPr>
          <a:xfrm>
            <a:off x="8833104" y="2267712"/>
            <a:ext cx="2221992" cy="19476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130" dirty="0">
                <a:solidFill>
                  <a:srgbClr val="EAF1ED"/>
                </a:solidFill>
                <a:latin typeface="Aptos"/>
              </a:rPr>
              <a:t>Flexible ensemble: 120 trees, max_depth=12, min_samples_leaf=20, balanced_subsample. Better for nonlinear patterns and interactions.</a:t>
            </a:r>
            <a:endParaRPr lang="en-US" sz="1130" dirty="0"/>
          </a:p>
        </p:txBody>
      </p:sp>
      <p:sp>
        <p:nvSpPr>
          <p:cNvPr id="21" name="Shape 19"/>
          <p:cNvSpPr/>
          <p:nvPr/>
        </p:nvSpPr>
        <p:spPr>
          <a:xfrm>
            <a:off x="685800" y="4892040"/>
            <a:ext cx="10515600" cy="685800"/>
          </a:xfrm>
          <a:prstGeom prst="roundRect">
            <a:avLst>
              <a:gd name="adj" fmla="val 13333"/>
            </a:avLst>
          </a:prstGeom>
          <a:solidFill>
            <a:srgbClr val="050E0A"/>
          </a:solidFill>
          <a:ln w="12700">
            <a:solidFill>
              <a:srgbClr val="86AE8E"/>
            </a:solidFill>
            <a:prstDash val="solid"/>
          </a:ln>
        </p:spPr>
        <p:txBody>
          <a:bodyPr/>
          <a:p/>
        </p:txBody>
      </p:sp>
      <p:sp>
        <p:nvSpPr>
          <p:cNvPr id="22" name="Text 20"/>
          <p:cNvSpPr/>
          <p:nvPr/>
        </p:nvSpPr>
        <p:spPr>
          <a:xfrm>
            <a:off x="832104" y="5001768"/>
            <a:ext cx="1022299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Why not let trees grow unlimited?</a:t>
            </a:r>
            <a:endParaRPr lang="en-US" sz="1050" dirty="0"/>
          </a:p>
        </p:txBody>
      </p:sp>
      <p:sp>
        <p:nvSpPr>
          <p:cNvPr id="23" name="Text 21"/>
          <p:cNvSpPr/>
          <p:nvPr/>
        </p:nvSpPr>
        <p:spPr>
          <a:xfrm>
            <a:off x="832104" y="5330952"/>
            <a:ext cx="10222992" cy="1188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20" dirty="0">
                <a:solidFill>
                  <a:srgbClr val="EAF1ED"/>
                </a:solidFill>
                <a:latin typeface="Aptos"/>
              </a:rPr>
              <a:t>Unrestricted trees can memorize training details. Complexity controls make validation performance more meaningful.</a:t>
            </a:r>
            <a:endParaRPr lang="en-US" sz="1320" dirty="0"/>
          </a:p>
        </p:txBody>
      </p:sp>
      <p:sp>
        <p:nvSpPr>
          <p:cNvPr id="24" name="Text 22"/>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pic>
        <p:nvPicPr>
          <p:cNvPr id="22" name="Picture 21" descr="image-1-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13</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EVALUATION DESIGN</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Metric plan: PR-AUC is primary because charge-off is rare</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The metric was chosen before looking at the winner, so the model choice is not metric shopping.</a:t>
            </a:r>
            <a:endParaRPr lang="en-US" sz="1320" dirty="0"/>
          </a:p>
        </p:txBody>
      </p:sp>
      <p:sp>
        <p:nvSpPr>
          <p:cNvPr id="9" name="Shape 7"/>
          <p:cNvSpPr/>
          <p:nvPr/>
        </p:nvSpPr>
        <p:spPr>
          <a:xfrm>
            <a:off x="658368" y="1874520"/>
            <a:ext cx="3429000" cy="1965960"/>
          </a:xfrm>
          <a:prstGeom prst="roundRect">
            <a:avLst>
              <a:gd name="adj" fmla="val 4651"/>
            </a:avLst>
          </a:prstGeom>
          <a:solidFill>
            <a:srgbClr val="050E0A"/>
          </a:solidFill>
          <a:ln w="12700">
            <a:solidFill>
              <a:srgbClr val="86AE8E"/>
            </a:solidFill>
            <a:prstDash val="solid"/>
          </a:ln>
        </p:spPr>
        <p:txBody>
          <a:bodyPr/>
          <a:p/>
        </p:txBody>
      </p:sp>
      <p:sp>
        <p:nvSpPr>
          <p:cNvPr id="10" name="Text 8"/>
          <p:cNvSpPr/>
          <p:nvPr/>
        </p:nvSpPr>
        <p:spPr>
          <a:xfrm>
            <a:off x="804672" y="1984248"/>
            <a:ext cx="313639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Accuracy</a:t>
            </a:r>
            <a:endParaRPr lang="en-US" sz="1050" dirty="0"/>
          </a:p>
        </p:txBody>
      </p:sp>
      <p:sp>
        <p:nvSpPr>
          <p:cNvPr id="11" name="Text 9"/>
          <p:cNvSpPr/>
          <p:nvPr/>
        </p:nvSpPr>
        <p:spPr>
          <a:xfrm>
            <a:off x="804672" y="2313432"/>
            <a:ext cx="3136392" cy="139903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10" dirty="0">
                <a:solidFill>
                  <a:srgbClr val="EAF1ED"/>
                </a:solidFill>
                <a:latin typeface="Aptos"/>
              </a:rPr>
              <a:t>Can be misleading when only about 3–4% of loans charge off. A “predict all safe” model could look accurate but useless.</a:t>
            </a:r>
            <a:endParaRPr lang="en-US" sz="1210" dirty="0"/>
          </a:p>
        </p:txBody>
      </p:sp>
      <p:sp>
        <p:nvSpPr>
          <p:cNvPr id="12" name="Shape 10"/>
          <p:cNvSpPr/>
          <p:nvPr/>
        </p:nvSpPr>
        <p:spPr>
          <a:xfrm>
            <a:off x="4370832" y="1874520"/>
            <a:ext cx="3429000" cy="1965960"/>
          </a:xfrm>
          <a:prstGeom prst="roundRect">
            <a:avLst>
              <a:gd name="adj" fmla="val 4651"/>
            </a:avLst>
          </a:prstGeom>
          <a:solidFill>
            <a:srgbClr val="050E0A"/>
          </a:solidFill>
          <a:ln w="12700">
            <a:solidFill>
              <a:srgbClr val="86AE8E"/>
            </a:solidFill>
            <a:prstDash val="solid"/>
          </a:ln>
        </p:spPr>
        <p:txBody>
          <a:bodyPr/>
          <a:p/>
        </p:txBody>
      </p:sp>
      <p:sp>
        <p:nvSpPr>
          <p:cNvPr id="13" name="Text 11"/>
          <p:cNvSpPr/>
          <p:nvPr/>
        </p:nvSpPr>
        <p:spPr>
          <a:xfrm>
            <a:off x="4517136" y="1984248"/>
            <a:ext cx="313639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9DDC9A"/>
                </a:solidFill>
                <a:latin typeface="Aptos"/>
              </a:rPr>
              <a:t>PR-AUC</a:t>
            </a:r>
            <a:endParaRPr lang="en-US" sz="1050" dirty="0"/>
          </a:p>
        </p:txBody>
      </p:sp>
      <p:sp>
        <p:nvSpPr>
          <p:cNvPr id="14" name="Text 12"/>
          <p:cNvSpPr/>
          <p:nvPr/>
        </p:nvSpPr>
        <p:spPr>
          <a:xfrm>
            <a:off x="4517136" y="2313432"/>
            <a:ext cx="3136392" cy="139903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10" dirty="0">
                <a:solidFill>
                  <a:srgbClr val="EAF1ED"/>
                </a:solidFill>
                <a:latin typeface="Aptos"/>
              </a:rPr>
              <a:t>Primary selection metric. Focuses on the precision-recall trade-off for the positive class: the loans that actually charge off.</a:t>
            </a:r>
            <a:endParaRPr lang="en-US" sz="1210" dirty="0"/>
          </a:p>
        </p:txBody>
      </p:sp>
      <p:sp>
        <p:nvSpPr>
          <p:cNvPr id="15" name="Shape 13"/>
          <p:cNvSpPr/>
          <p:nvPr/>
        </p:nvSpPr>
        <p:spPr>
          <a:xfrm>
            <a:off x="8074152" y="1874520"/>
            <a:ext cx="3154680" cy="1965960"/>
          </a:xfrm>
          <a:prstGeom prst="roundRect">
            <a:avLst>
              <a:gd name="adj" fmla="val 4651"/>
            </a:avLst>
          </a:prstGeom>
          <a:solidFill>
            <a:srgbClr val="050E0A"/>
          </a:solidFill>
          <a:ln w="12700">
            <a:solidFill>
              <a:srgbClr val="86AE8E"/>
            </a:solidFill>
            <a:prstDash val="solid"/>
          </a:ln>
        </p:spPr>
        <p:txBody>
          <a:bodyPr/>
          <a:p/>
        </p:txBody>
      </p:sp>
      <p:sp>
        <p:nvSpPr>
          <p:cNvPr id="16" name="Text 14"/>
          <p:cNvSpPr/>
          <p:nvPr/>
        </p:nvSpPr>
        <p:spPr>
          <a:xfrm>
            <a:off x="8220456" y="1984248"/>
            <a:ext cx="286207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9DDC9A"/>
                </a:solidFill>
                <a:latin typeface="Aptos"/>
              </a:rPr>
              <a:t>ROC-AUC</a:t>
            </a:r>
            <a:endParaRPr lang="en-US" sz="1050" dirty="0"/>
          </a:p>
        </p:txBody>
      </p:sp>
      <p:sp>
        <p:nvSpPr>
          <p:cNvPr id="17" name="Text 15"/>
          <p:cNvSpPr/>
          <p:nvPr/>
        </p:nvSpPr>
        <p:spPr>
          <a:xfrm>
            <a:off x="8220456" y="2313432"/>
            <a:ext cx="2862072" cy="139903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10" dirty="0">
                <a:solidFill>
                  <a:srgbClr val="EAF1ED"/>
                </a:solidFill>
                <a:latin typeface="Aptos"/>
              </a:rPr>
              <a:t>Useful for overall ranking separation, but it can look strong when negatives dominate the dataset.</a:t>
            </a:r>
            <a:endParaRPr lang="en-US" sz="1210" dirty="0"/>
          </a:p>
        </p:txBody>
      </p:sp>
      <p:sp>
        <p:nvSpPr>
          <p:cNvPr id="18" name="Shape 16"/>
          <p:cNvSpPr/>
          <p:nvPr/>
        </p:nvSpPr>
        <p:spPr>
          <a:xfrm>
            <a:off x="960120" y="4343400"/>
            <a:ext cx="10241280" cy="1143000"/>
          </a:xfrm>
          <a:prstGeom prst="roundRect">
            <a:avLst>
              <a:gd name="adj" fmla="val 8000"/>
            </a:avLst>
          </a:prstGeom>
          <a:solidFill>
            <a:srgbClr val="050E0A"/>
          </a:solidFill>
          <a:ln w="12700">
            <a:solidFill>
              <a:srgbClr val="86AE8E"/>
            </a:solidFill>
            <a:prstDash val="solid"/>
          </a:ln>
        </p:spPr>
        <p:txBody>
          <a:bodyPr/>
          <a:p/>
        </p:txBody>
      </p:sp>
      <p:sp>
        <p:nvSpPr>
          <p:cNvPr id="19" name="Text 17"/>
          <p:cNvSpPr/>
          <p:nvPr/>
        </p:nvSpPr>
        <p:spPr>
          <a:xfrm>
            <a:off x="1106424" y="4453128"/>
            <a:ext cx="994867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Threshold metrics</a:t>
            </a:r>
            <a:endParaRPr lang="en-US" sz="1050" dirty="0"/>
          </a:p>
        </p:txBody>
      </p:sp>
      <p:sp>
        <p:nvSpPr>
          <p:cNvPr id="20" name="Text 18"/>
          <p:cNvSpPr/>
          <p:nvPr/>
        </p:nvSpPr>
        <p:spPr>
          <a:xfrm>
            <a:off x="1106424" y="4782312"/>
            <a:ext cx="9948672" cy="5760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00" dirty="0">
                <a:solidFill>
                  <a:srgbClr val="EAF1ED"/>
                </a:solidFill>
                <a:latin typeface="Aptos"/>
              </a:rPr>
              <a:t>Precision = “Of flagged loans, how many charged off?”</a:t>
            </a:r>
            <a:endParaRPr lang="en-US" sz="1300" dirty="0"/>
          </a:p>
          <a:p>
            <a:pPr indent="0" marL="0">
              <a:buNone/>
            </a:pPr>
            <a:r>
              <a:rPr lang="en-US" sz="1300" dirty="0">
                <a:solidFill>
                  <a:srgbClr val="EAF1ED"/>
                </a:solidFill>
                <a:latin typeface="Aptos"/>
              </a:rPr>
              <a:t>Recall = “Of actual charge-offs, how many did we catch?”</a:t>
            </a:r>
            <a:endParaRPr lang="en-US" sz="1300" dirty="0"/>
          </a:p>
          <a:p>
            <a:pPr indent="0" marL="0">
              <a:buNone/>
            </a:pPr>
            <a:r>
              <a:rPr lang="en-US" sz="1300" dirty="0">
                <a:solidFill>
                  <a:srgbClr val="EAF1ED"/>
                </a:solidFill>
                <a:latin typeface="Aptos"/>
              </a:rPr>
              <a:t>F1 balances both when no explicit cost function is available.</a:t>
            </a:r>
            <a:endParaRPr lang="en-US" sz="1300" dirty="0"/>
          </a:p>
        </p:txBody>
      </p:sp>
      <p:sp>
        <p:nvSpPr>
          <p:cNvPr id="21" name="Text 19"/>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18" name="Picture 17" descr="image-2-1.jpeg"/>
          <p:cNvPicPr>
            <a:picLocks noChangeAspect="1"/>
          </p:cNvPicPr>
          <p:nvPr/>
        </p:nvPicPr>
        <p:blipFill>
          <a:blip r:embed="rId4"/>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14</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MODEL SELECTION</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Validation model comparison: Random Forest wins by PR-AUC</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Random Forest is selected because it has the strongest validation PR-AUC, the primary metric for rare charge-off detection.</a:t>
            </a:r>
            <a:endParaRPr lang="en-US" sz="1320" dirty="0"/>
          </a:p>
        </p:txBody>
      </p:sp>
      <p:sp>
        <p:nvSpPr>
          <p:cNvPr id="9" name="Shape 7"/>
          <p:cNvSpPr/>
          <p:nvPr/>
        </p:nvSpPr>
        <p:spPr>
          <a:xfrm>
            <a:off x="640080" y="1828800"/>
            <a:ext cx="6400800" cy="4069080"/>
          </a:xfrm>
          <a:prstGeom prst="roundRect">
            <a:avLst>
              <a:gd name="adj" fmla="val 1798"/>
            </a:avLst>
          </a:prstGeom>
          <a:solidFill>
            <a:srgbClr val="050E0A"/>
          </a:solidFill>
          <a:ln w="12700">
            <a:solidFill>
              <a:srgbClr val="86AE8E"/>
            </a:solidFill>
            <a:prstDash val="solid"/>
          </a:ln>
        </p:spPr>
        <p:txBody>
          <a:bodyPr/>
          <a:p/>
        </p:txBody>
      </p:sp>
      <p:pic>
        <p:nvPicPr>
          <p:cNvPr id="10" name="Image 0" descr="/mnt/data/sba_flow_assets/model_comparison.png">    </p:cNvPr>
          <p:cNvPicPr>
            <a:picLocks noChangeAspect="1"/>
          </p:cNvPicPr>
          <p:nvPr/>
        </p:nvPicPr>
        <p:blipFill>
          <a:blip r:embed="rId1"/>
          <a:stretch>
            <a:fillRect/>
          </a:stretch>
        </p:blipFill>
        <p:spPr>
          <a:xfrm>
            <a:off x="694944" y="2121405"/>
            <a:ext cx="6291072" cy="3483870"/>
          </a:xfrm>
          <a:prstGeom prst="rect">
            <a:avLst/>
          </a:prstGeom>
        </p:spPr>
      </p:pic>
      <p:sp>
        <p:nvSpPr>
          <p:cNvPr id="11" name="Shape 8"/>
          <p:cNvSpPr/>
          <p:nvPr/>
        </p:nvSpPr>
        <p:spPr>
          <a:xfrm>
            <a:off x="7360920" y="1965960"/>
            <a:ext cx="3840480" cy="1920240"/>
          </a:xfrm>
          <a:prstGeom prst="roundRect">
            <a:avLst>
              <a:gd name="adj" fmla="val 4762"/>
            </a:avLst>
          </a:prstGeom>
          <a:solidFill>
            <a:srgbClr val="050E0A"/>
          </a:solidFill>
          <a:ln w="12700">
            <a:solidFill>
              <a:srgbClr val="86AE8E"/>
            </a:solidFill>
            <a:prstDash val="solid"/>
          </a:ln>
        </p:spPr>
        <p:txBody>
          <a:bodyPr/>
          <a:p/>
        </p:txBody>
      </p:sp>
      <p:sp>
        <p:nvSpPr>
          <p:cNvPr id="12" name="Text 9"/>
          <p:cNvSpPr/>
          <p:nvPr/>
        </p:nvSpPr>
        <p:spPr>
          <a:xfrm>
            <a:off x="7507224" y="2075688"/>
            <a:ext cx="354787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Key decision</a:t>
            </a:r>
            <a:endParaRPr lang="en-US" sz="1050" dirty="0"/>
          </a:p>
        </p:txBody>
      </p:sp>
      <p:sp>
        <p:nvSpPr>
          <p:cNvPr id="13" name="Text 10"/>
          <p:cNvSpPr/>
          <p:nvPr/>
        </p:nvSpPr>
        <p:spPr>
          <a:xfrm>
            <a:off x="7507224" y="2404872"/>
            <a:ext cx="3547872" cy="13533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60" dirty="0">
                <a:solidFill>
                  <a:srgbClr val="EAF1ED"/>
                </a:solidFill>
                <a:latin typeface="Aptos"/>
              </a:rPr>
              <a:t>Random Forest validation PR-AUC: 0.337</a:t>
            </a:r>
            <a:endParaRPr lang="en-US" sz="1260" dirty="0"/>
          </a:p>
          <a:p>
            <a:pPr indent="0" marL="0">
              <a:buNone/>
            </a:pPr>
            <a:r>
              <a:rPr lang="en-US" sz="1260" dirty="0">
                <a:solidFill>
                  <a:srgbClr val="EAF1ED"/>
                </a:solidFill>
                <a:latin typeface="Aptos"/>
              </a:rPr>
              <a:t>Decision Tree validation PR-AUC: 0.252</a:t>
            </a:r>
            <a:endParaRPr lang="en-US" sz="1260" dirty="0"/>
          </a:p>
          <a:p>
            <a:pPr indent="0" marL="0">
              <a:buNone/>
            </a:pPr>
            <a:r>
              <a:rPr lang="en-US" sz="1260" dirty="0">
                <a:solidFill>
                  <a:srgbClr val="EAF1ED"/>
                </a:solidFill>
                <a:latin typeface="Aptos"/>
              </a:rPr>
              <a:t>Logistic Regression validation PR-AUC: 0.159</a:t>
            </a:r>
            <a:endParaRPr lang="en-US" sz="1260" dirty="0"/>
          </a:p>
          <a:p>
            <a:pPr indent="0" marL="0">
              <a:buNone/>
            </a:pPr>
            <a:r>
              <a:rPr lang="en-US" sz="1260" dirty="0">
                <a:solidFill>
                  <a:srgbClr val="EAF1ED"/>
                </a:solidFill>
                <a:latin typeface="Aptos"/>
              </a:rPr>
              <a:t>Dummy PR-AUC: 0.042</a:t>
            </a:r>
            <a:endParaRPr lang="en-US" sz="1260" dirty="0"/>
          </a:p>
        </p:txBody>
      </p:sp>
      <p:sp>
        <p:nvSpPr>
          <p:cNvPr id="14" name="Shape 11"/>
          <p:cNvSpPr/>
          <p:nvPr/>
        </p:nvSpPr>
        <p:spPr>
          <a:xfrm>
            <a:off x="7360920" y="4160520"/>
            <a:ext cx="3840480" cy="1371600"/>
          </a:xfrm>
          <a:prstGeom prst="roundRect">
            <a:avLst>
              <a:gd name="adj" fmla="val 6667"/>
            </a:avLst>
          </a:prstGeom>
          <a:solidFill>
            <a:srgbClr val="050E0A"/>
          </a:solidFill>
          <a:ln w="12700">
            <a:solidFill>
              <a:srgbClr val="86AE8E"/>
            </a:solidFill>
            <a:prstDash val="solid"/>
          </a:ln>
        </p:spPr>
        <p:txBody>
          <a:bodyPr/>
          <a:p/>
        </p:txBody>
      </p:sp>
      <p:sp>
        <p:nvSpPr>
          <p:cNvPr id="15" name="Text 12"/>
          <p:cNvSpPr/>
          <p:nvPr/>
        </p:nvSpPr>
        <p:spPr>
          <a:xfrm>
            <a:off x="7507224" y="4270248"/>
            <a:ext cx="354787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Why not Decision Tree?</a:t>
            </a:r>
            <a:endParaRPr lang="en-US" sz="1050" dirty="0"/>
          </a:p>
        </p:txBody>
      </p:sp>
      <p:sp>
        <p:nvSpPr>
          <p:cNvPr id="16" name="Text 13"/>
          <p:cNvSpPr/>
          <p:nvPr/>
        </p:nvSpPr>
        <p:spPr>
          <a:xfrm>
            <a:off x="7507224" y="4599432"/>
            <a:ext cx="3547872" cy="8046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170" dirty="0">
                <a:solidFill>
                  <a:srgbClr val="EAF1ED"/>
                </a:solidFill>
                <a:latin typeface="Aptos"/>
              </a:rPr>
              <a:t>Decision Tree has higher ROC-AUC, but PR-AUC was the pre-selected primary metric. Choosing Decision Tree after seeing ROC-AUC would be metric shopping.</a:t>
            </a:r>
            <a:endParaRPr lang="en-US" sz="1170" dirty="0"/>
          </a:p>
        </p:txBody>
      </p:sp>
      <p:sp>
        <p:nvSpPr>
          <p:cNvPr id="17" name="Text 14"/>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pic>
        <p:nvPicPr>
          <p:cNvPr id="28" name="Picture 27" descr="image-3-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15</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GENERALIZATION</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Train vs. validation: acknowledge the gap</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Random Forest shows some overfitting, but still has the best validation PR-AUC among the candidate models.</a:t>
            </a:r>
            <a:endParaRPr lang="en-US" sz="1320" dirty="0"/>
          </a:p>
        </p:txBody>
      </p:sp>
      <p:sp>
        <p:nvSpPr>
          <p:cNvPr id="9" name="Shape 7"/>
          <p:cNvSpPr/>
          <p:nvPr/>
        </p:nvSpPr>
        <p:spPr>
          <a:xfrm>
            <a:off x="960120" y="1920240"/>
            <a:ext cx="1965960" cy="777240"/>
          </a:xfrm>
          <a:prstGeom prst="roundRect">
            <a:avLst>
              <a:gd name="adj" fmla="val 11765"/>
            </a:avLst>
          </a:prstGeom>
          <a:solidFill>
            <a:srgbClr val="050E0A"/>
          </a:solidFill>
          <a:ln w="12700">
            <a:solidFill>
              <a:srgbClr val="86AE8E"/>
            </a:solidFill>
            <a:prstDash val="solid"/>
          </a:ln>
        </p:spPr>
        <p:txBody>
          <a:bodyPr/>
          <a:p/>
        </p:txBody>
      </p:sp>
      <p:sp>
        <p:nvSpPr>
          <p:cNvPr id="10" name="Text 8"/>
          <p:cNvSpPr/>
          <p:nvPr/>
        </p:nvSpPr>
        <p:spPr>
          <a:xfrm>
            <a:off x="1005840" y="2029968"/>
            <a:ext cx="187452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0.459</a:t>
            </a:r>
            <a:endParaRPr lang="en-US" sz="2000" dirty="0"/>
          </a:p>
        </p:txBody>
      </p:sp>
      <p:sp>
        <p:nvSpPr>
          <p:cNvPr id="11" name="Text 9"/>
          <p:cNvSpPr/>
          <p:nvPr/>
        </p:nvSpPr>
        <p:spPr>
          <a:xfrm>
            <a:off x="1033272" y="2395728"/>
            <a:ext cx="181965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training PR-AUC</a:t>
            </a:r>
            <a:endParaRPr lang="en-US" sz="830" dirty="0"/>
          </a:p>
        </p:txBody>
      </p:sp>
      <p:sp>
        <p:nvSpPr>
          <p:cNvPr id="12" name="Shape 10"/>
          <p:cNvSpPr/>
          <p:nvPr/>
        </p:nvSpPr>
        <p:spPr>
          <a:xfrm>
            <a:off x="3246120" y="1920240"/>
            <a:ext cx="1965960" cy="777240"/>
          </a:xfrm>
          <a:prstGeom prst="roundRect">
            <a:avLst>
              <a:gd name="adj" fmla="val 11765"/>
            </a:avLst>
          </a:prstGeom>
          <a:solidFill>
            <a:srgbClr val="050E0A"/>
          </a:solidFill>
          <a:ln w="12700">
            <a:solidFill>
              <a:srgbClr val="86AE8E"/>
            </a:solidFill>
            <a:prstDash val="solid"/>
          </a:ln>
        </p:spPr>
        <p:txBody>
          <a:bodyPr/>
          <a:p/>
        </p:txBody>
      </p:sp>
      <p:sp>
        <p:nvSpPr>
          <p:cNvPr id="13" name="Text 11"/>
          <p:cNvSpPr/>
          <p:nvPr/>
        </p:nvSpPr>
        <p:spPr>
          <a:xfrm>
            <a:off x="3291840" y="2029968"/>
            <a:ext cx="187452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0.337</a:t>
            </a:r>
            <a:endParaRPr lang="en-US" sz="2000" dirty="0"/>
          </a:p>
        </p:txBody>
      </p:sp>
      <p:sp>
        <p:nvSpPr>
          <p:cNvPr id="14" name="Text 12"/>
          <p:cNvSpPr/>
          <p:nvPr/>
        </p:nvSpPr>
        <p:spPr>
          <a:xfrm>
            <a:off x="3319272" y="2395728"/>
            <a:ext cx="181965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validation PR-AUC</a:t>
            </a:r>
            <a:endParaRPr lang="en-US" sz="830" dirty="0"/>
          </a:p>
        </p:txBody>
      </p:sp>
      <p:sp>
        <p:nvSpPr>
          <p:cNvPr id="15" name="Shape 13"/>
          <p:cNvSpPr/>
          <p:nvPr/>
        </p:nvSpPr>
        <p:spPr>
          <a:xfrm>
            <a:off x="5532120" y="1920240"/>
            <a:ext cx="1965960" cy="777240"/>
          </a:xfrm>
          <a:prstGeom prst="roundRect">
            <a:avLst>
              <a:gd name="adj" fmla="val 11765"/>
            </a:avLst>
          </a:prstGeom>
          <a:solidFill>
            <a:srgbClr val="050E0A"/>
          </a:solidFill>
          <a:ln w="12700">
            <a:solidFill>
              <a:srgbClr val="86AE8E"/>
            </a:solidFill>
            <a:prstDash val="solid"/>
          </a:ln>
        </p:spPr>
        <p:txBody>
          <a:bodyPr/>
          <a:p/>
        </p:txBody>
      </p:sp>
      <p:sp>
        <p:nvSpPr>
          <p:cNvPr id="16" name="Text 14"/>
          <p:cNvSpPr/>
          <p:nvPr/>
        </p:nvSpPr>
        <p:spPr>
          <a:xfrm>
            <a:off x="5577840" y="2029968"/>
            <a:ext cx="187452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0.122</a:t>
            </a:r>
            <a:endParaRPr lang="en-US" sz="2000" dirty="0"/>
          </a:p>
        </p:txBody>
      </p:sp>
      <p:sp>
        <p:nvSpPr>
          <p:cNvPr id="17" name="Text 15"/>
          <p:cNvSpPr/>
          <p:nvPr/>
        </p:nvSpPr>
        <p:spPr>
          <a:xfrm>
            <a:off x="5605272" y="2395728"/>
            <a:ext cx="181965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train–validation gap</a:t>
            </a:r>
            <a:endParaRPr lang="en-US" sz="830" dirty="0"/>
          </a:p>
        </p:txBody>
      </p:sp>
      <p:sp>
        <p:nvSpPr>
          <p:cNvPr id="18" name="Shape 16"/>
          <p:cNvSpPr/>
          <p:nvPr/>
        </p:nvSpPr>
        <p:spPr>
          <a:xfrm>
            <a:off x="7818120" y="1920240"/>
            <a:ext cx="1965960" cy="777240"/>
          </a:xfrm>
          <a:prstGeom prst="roundRect">
            <a:avLst>
              <a:gd name="adj" fmla="val 11765"/>
            </a:avLst>
          </a:prstGeom>
          <a:solidFill>
            <a:srgbClr val="050E0A"/>
          </a:solidFill>
          <a:ln w="12700">
            <a:solidFill>
              <a:srgbClr val="86AE8E"/>
            </a:solidFill>
            <a:prstDash val="solid"/>
          </a:ln>
        </p:spPr>
        <p:txBody>
          <a:bodyPr/>
          <a:p/>
        </p:txBody>
      </p:sp>
      <p:sp>
        <p:nvSpPr>
          <p:cNvPr id="19" name="Text 17"/>
          <p:cNvSpPr/>
          <p:nvPr/>
        </p:nvSpPr>
        <p:spPr>
          <a:xfrm>
            <a:off x="7863840" y="2029968"/>
            <a:ext cx="187452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0.895</a:t>
            </a:r>
            <a:endParaRPr lang="en-US" sz="2000" dirty="0"/>
          </a:p>
        </p:txBody>
      </p:sp>
      <p:sp>
        <p:nvSpPr>
          <p:cNvPr id="20" name="Text 18"/>
          <p:cNvSpPr/>
          <p:nvPr/>
        </p:nvSpPr>
        <p:spPr>
          <a:xfrm>
            <a:off x="7891272" y="2395728"/>
            <a:ext cx="181965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validation ROC-AUC</a:t>
            </a:r>
            <a:endParaRPr lang="en-US" sz="830" dirty="0"/>
          </a:p>
        </p:txBody>
      </p:sp>
      <p:sp>
        <p:nvSpPr>
          <p:cNvPr id="21" name="Shape 19"/>
          <p:cNvSpPr/>
          <p:nvPr/>
        </p:nvSpPr>
        <p:spPr>
          <a:xfrm>
            <a:off x="960120" y="3246120"/>
            <a:ext cx="9784080" cy="1143000"/>
          </a:xfrm>
          <a:prstGeom prst="roundRect">
            <a:avLst>
              <a:gd name="adj" fmla="val 8000"/>
            </a:avLst>
          </a:prstGeom>
          <a:solidFill>
            <a:srgbClr val="050E0A"/>
          </a:solidFill>
          <a:ln w="12700">
            <a:solidFill>
              <a:srgbClr val="86AE8E"/>
            </a:solidFill>
            <a:prstDash val="solid"/>
          </a:ln>
        </p:spPr>
        <p:txBody>
          <a:bodyPr/>
          <a:p/>
        </p:txBody>
      </p:sp>
      <p:sp>
        <p:nvSpPr>
          <p:cNvPr id="22" name="Text 20"/>
          <p:cNvSpPr/>
          <p:nvPr/>
        </p:nvSpPr>
        <p:spPr>
          <a:xfrm>
            <a:off x="1106424" y="3355848"/>
            <a:ext cx="949147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How to interpret the gap</a:t>
            </a:r>
            <a:endParaRPr lang="en-US" sz="1050" dirty="0"/>
          </a:p>
        </p:txBody>
      </p:sp>
      <p:sp>
        <p:nvSpPr>
          <p:cNvPr id="23" name="Text 21"/>
          <p:cNvSpPr/>
          <p:nvPr/>
        </p:nvSpPr>
        <p:spPr>
          <a:xfrm>
            <a:off x="1106424" y="3685032"/>
            <a:ext cx="9491472" cy="5760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400" dirty="0">
                <a:solidFill>
                  <a:srgbClr val="EAF1ED"/>
                </a:solidFill>
                <a:latin typeface="Aptos"/>
              </a:rPr>
              <a:t>The gap means the model fits training data more strongly than validation data. That does not automatically disqualify it, but it does require a generalization check.</a:t>
            </a:r>
            <a:endParaRPr lang="en-US" sz="1400" dirty="0"/>
          </a:p>
        </p:txBody>
      </p:sp>
      <p:sp>
        <p:nvSpPr>
          <p:cNvPr id="24" name="Shape 22"/>
          <p:cNvSpPr/>
          <p:nvPr/>
        </p:nvSpPr>
        <p:spPr>
          <a:xfrm>
            <a:off x="960120" y="4736592"/>
            <a:ext cx="9784080" cy="685800"/>
          </a:xfrm>
          <a:prstGeom prst="roundRect">
            <a:avLst>
              <a:gd name="adj" fmla="val 13333"/>
            </a:avLst>
          </a:prstGeom>
          <a:solidFill>
            <a:srgbClr val="050E0A"/>
          </a:solidFill>
          <a:ln w="12700">
            <a:solidFill>
              <a:srgbClr val="86AE8E"/>
            </a:solidFill>
            <a:prstDash val="solid"/>
          </a:ln>
        </p:spPr>
        <p:txBody>
          <a:bodyPr/>
          <a:p/>
        </p:txBody>
      </p:sp>
      <p:sp>
        <p:nvSpPr>
          <p:cNvPr id="25" name="Text 23"/>
          <p:cNvSpPr/>
          <p:nvPr/>
        </p:nvSpPr>
        <p:spPr>
          <a:xfrm>
            <a:off x="1106424" y="4846320"/>
            <a:ext cx="949147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9DDC9A"/>
                </a:solidFill>
                <a:latin typeface="Aptos"/>
              </a:rPr>
              <a:t>Why keep Random Forest?</a:t>
            </a:r>
            <a:endParaRPr lang="en-US" sz="1050" dirty="0"/>
          </a:p>
        </p:txBody>
      </p:sp>
      <p:sp>
        <p:nvSpPr>
          <p:cNvPr id="26" name="Text 24"/>
          <p:cNvSpPr/>
          <p:nvPr/>
        </p:nvSpPr>
        <p:spPr>
          <a:xfrm>
            <a:off x="1106424" y="5175504"/>
            <a:ext cx="9491472" cy="1188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00" dirty="0">
                <a:solidFill>
                  <a:srgbClr val="EAF1ED"/>
                </a:solidFill>
                <a:latin typeface="Aptos"/>
              </a:rPr>
              <a:t>Even with the gap, it still has the strongest out-of-sample precision-recall performance among the tested models.</a:t>
            </a:r>
            <a:endParaRPr lang="en-US" sz="1300" dirty="0"/>
          </a:p>
        </p:txBody>
      </p:sp>
      <p:sp>
        <p:nvSpPr>
          <p:cNvPr id="27" name="Text 25"/>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17" name="Picture 16" descr="image-4-1.jpeg"/>
          <p:cNvPicPr>
            <a:picLocks noChangeAspect="1"/>
          </p:cNvPicPr>
          <p:nvPr/>
        </p:nvPicPr>
        <p:blipFill>
          <a:blip r:embed="rId5"/>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16</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THRESHOLD DESIGN</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Validation curves: threshold choice changes the business trade-off</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The model gives a continuous risk score; the threshold determines how aggressive the review flag will be.</a:t>
            </a:r>
            <a:endParaRPr lang="en-US" sz="1320" dirty="0"/>
          </a:p>
        </p:txBody>
      </p:sp>
      <p:sp>
        <p:nvSpPr>
          <p:cNvPr id="9" name="Shape 7"/>
          <p:cNvSpPr/>
          <p:nvPr/>
        </p:nvSpPr>
        <p:spPr>
          <a:xfrm>
            <a:off x="640080" y="1828800"/>
            <a:ext cx="5257800" cy="3611880"/>
          </a:xfrm>
          <a:prstGeom prst="roundRect">
            <a:avLst>
              <a:gd name="adj" fmla="val 2025"/>
            </a:avLst>
          </a:prstGeom>
          <a:solidFill>
            <a:srgbClr val="050E0A"/>
          </a:solidFill>
          <a:ln w="12700">
            <a:solidFill>
              <a:srgbClr val="86AE8E"/>
            </a:solidFill>
            <a:prstDash val="solid"/>
          </a:ln>
        </p:spPr>
        <p:txBody>
          <a:bodyPr/>
          <a:p/>
        </p:txBody>
      </p:sp>
      <p:pic>
        <p:nvPicPr>
          <p:cNvPr id="10" name="Image 0" descr="/mnt/data/sba_v4_assets/cell40_out0_img.png">    </p:cNvPr>
          <p:cNvPicPr>
            <a:picLocks noChangeAspect="1"/>
          </p:cNvPicPr>
          <p:nvPr/>
        </p:nvPicPr>
        <p:blipFill>
          <a:blip r:embed="rId1"/>
          <a:stretch>
            <a:fillRect/>
          </a:stretch>
        </p:blipFill>
        <p:spPr>
          <a:xfrm>
            <a:off x="694944" y="2038186"/>
            <a:ext cx="5148072" cy="3193108"/>
          </a:xfrm>
          <a:prstGeom prst="rect">
            <a:avLst/>
          </a:prstGeom>
        </p:spPr>
      </p:pic>
      <p:sp>
        <p:nvSpPr>
          <p:cNvPr id="11" name="Shape 8"/>
          <p:cNvSpPr/>
          <p:nvPr/>
        </p:nvSpPr>
        <p:spPr>
          <a:xfrm>
            <a:off x="6263640" y="1828800"/>
            <a:ext cx="5257800" cy="3611880"/>
          </a:xfrm>
          <a:prstGeom prst="roundRect">
            <a:avLst>
              <a:gd name="adj" fmla="val 2025"/>
            </a:avLst>
          </a:prstGeom>
          <a:solidFill>
            <a:srgbClr val="050E0A"/>
          </a:solidFill>
          <a:ln w="12700">
            <a:solidFill>
              <a:srgbClr val="86AE8E"/>
            </a:solidFill>
            <a:prstDash val="solid"/>
          </a:ln>
        </p:spPr>
        <p:txBody>
          <a:bodyPr/>
          <a:p/>
        </p:txBody>
      </p:sp>
      <p:pic>
        <p:nvPicPr>
          <p:cNvPr id="12" name="Image 1" descr="/mnt/data/sba_v4_assets/cell40_out1_img.png">    </p:cNvPr>
          <p:cNvPicPr>
            <a:picLocks noChangeAspect="1"/>
          </p:cNvPicPr>
          <p:nvPr/>
        </p:nvPicPr>
        <p:blipFill>
          <a:blip r:embed="rId2"/>
          <a:stretch>
            <a:fillRect/>
          </a:stretch>
        </p:blipFill>
        <p:spPr>
          <a:xfrm>
            <a:off x="6318504" y="2038186"/>
            <a:ext cx="5148072" cy="3193108"/>
          </a:xfrm>
          <a:prstGeom prst="rect">
            <a:avLst/>
          </a:prstGeom>
        </p:spPr>
      </p:pic>
      <p:sp>
        <p:nvSpPr>
          <p:cNvPr id="13" name="Shape 9"/>
          <p:cNvSpPr/>
          <p:nvPr/>
        </p:nvSpPr>
        <p:spPr>
          <a:xfrm>
            <a:off x="777240" y="5596128"/>
            <a:ext cx="10561320" cy="530352"/>
          </a:xfrm>
          <a:prstGeom prst="roundRect">
            <a:avLst>
              <a:gd name="adj" fmla="val 17241"/>
            </a:avLst>
          </a:prstGeom>
          <a:solidFill>
            <a:srgbClr val="050E0A"/>
          </a:solidFill>
          <a:ln w="12700">
            <a:solidFill>
              <a:srgbClr val="86AE8E"/>
            </a:solidFill>
            <a:prstDash val="solid"/>
          </a:ln>
        </p:spPr>
        <p:txBody>
          <a:bodyPr/>
          <a:p/>
        </p:txBody>
      </p:sp>
      <p:sp>
        <p:nvSpPr>
          <p:cNvPr id="14" name="Text 10"/>
          <p:cNvSpPr/>
          <p:nvPr/>
        </p:nvSpPr>
        <p:spPr>
          <a:xfrm>
            <a:off x="923544" y="5705856"/>
            <a:ext cx="102687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Decision logic</a:t>
            </a:r>
            <a:endParaRPr lang="en-US" sz="1050" dirty="0"/>
          </a:p>
        </p:txBody>
      </p:sp>
      <p:sp>
        <p:nvSpPr>
          <p:cNvPr id="15" name="Text 11"/>
          <p:cNvSpPr/>
          <p:nvPr/>
        </p:nvSpPr>
        <p:spPr>
          <a:xfrm>
            <a:off x="923544" y="6035040"/>
            <a:ext cx="10268712" cy="-36576"/>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090" dirty="0">
                <a:solidFill>
                  <a:srgbClr val="EAF1ED"/>
                </a:solidFill>
                <a:latin typeface="Aptos"/>
              </a:rPr>
              <a:t>Lower threshold → more flagged loans, higher recall, more false positives. Higher threshold → fewer flagged loans, potentially higher precision, more missed charge-offs.</a:t>
            </a:r>
            <a:endParaRPr lang="en-US" sz="1090" dirty="0"/>
          </a:p>
        </p:txBody>
      </p:sp>
      <p:sp>
        <p:nvSpPr>
          <p:cNvPr id="16" name="Text 12"/>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pic>
        <p:nvPicPr>
          <p:cNvPr id="28" name="Picture 27" descr="image-1-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17</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THRESHOLD DESIGN</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Why the threshold is 0.690</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0.50 is not automatically correct; 0.690 is the validation-based F1 operating point.</a:t>
            </a:r>
            <a:endParaRPr lang="en-US" sz="1320" dirty="0"/>
          </a:p>
        </p:txBody>
      </p:sp>
      <p:sp>
        <p:nvSpPr>
          <p:cNvPr id="9" name="Shape 7"/>
          <p:cNvSpPr/>
          <p:nvPr/>
        </p:nvSpPr>
        <p:spPr>
          <a:xfrm>
            <a:off x="868680" y="1920240"/>
            <a:ext cx="2011680" cy="777240"/>
          </a:xfrm>
          <a:prstGeom prst="roundRect">
            <a:avLst>
              <a:gd name="adj" fmla="val 11765"/>
            </a:avLst>
          </a:prstGeom>
          <a:solidFill>
            <a:srgbClr val="050E0A"/>
          </a:solidFill>
          <a:ln w="12700">
            <a:solidFill>
              <a:srgbClr val="86AE8E"/>
            </a:solidFill>
            <a:prstDash val="solid"/>
          </a:ln>
        </p:spPr>
        <p:txBody>
          <a:bodyPr/>
          <a:p/>
        </p:txBody>
      </p:sp>
      <p:sp>
        <p:nvSpPr>
          <p:cNvPr id="10" name="Text 8"/>
          <p:cNvSpPr/>
          <p:nvPr/>
        </p:nvSpPr>
        <p:spPr>
          <a:xfrm>
            <a:off x="914400" y="2029968"/>
            <a:ext cx="192024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0.690</a:t>
            </a:r>
            <a:endParaRPr lang="en-US" sz="2000" dirty="0"/>
          </a:p>
        </p:txBody>
      </p:sp>
      <p:sp>
        <p:nvSpPr>
          <p:cNvPr id="11" name="Text 9"/>
          <p:cNvSpPr/>
          <p:nvPr/>
        </p:nvSpPr>
        <p:spPr>
          <a:xfrm>
            <a:off x="941832" y="2395728"/>
            <a:ext cx="186537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chosen validation threshold</a:t>
            </a:r>
            <a:endParaRPr lang="en-US" sz="830" dirty="0"/>
          </a:p>
        </p:txBody>
      </p:sp>
      <p:sp>
        <p:nvSpPr>
          <p:cNvPr id="12" name="Shape 10"/>
          <p:cNvSpPr/>
          <p:nvPr/>
        </p:nvSpPr>
        <p:spPr>
          <a:xfrm>
            <a:off x="3246120" y="1920240"/>
            <a:ext cx="2011680" cy="777240"/>
          </a:xfrm>
          <a:prstGeom prst="roundRect">
            <a:avLst>
              <a:gd name="adj" fmla="val 11765"/>
            </a:avLst>
          </a:prstGeom>
          <a:solidFill>
            <a:srgbClr val="050E0A"/>
          </a:solidFill>
          <a:ln w="12700">
            <a:solidFill>
              <a:srgbClr val="86AE8E"/>
            </a:solidFill>
            <a:prstDash val="solid"/>
          </a:ln>
        </p:spPr>
        <p:txBody>
          <a:bodyPr/>
          <a:p/>
        </p:txBody>
      </p:sp>
      <p:sp>
        <p:nvSpPr>
          <p:cNvPr id="13" name="Text 11"/>
          <p:cNvSpPr/>
          <p:nvPr/>
        </p:nvSpPr>
        <p:spPr>
          <a:xfrm>
            <a:off x="3291840" y="2029968"/>
            <a:ext cx="192024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33.2%</a:t>
            </a:r>
            <a:endParaRPr lang="en-US" sz="2000" dirty="0"/>
          </a:p>
        </p:txBody>
      </p:sp>
      <p:sp>
        <p:nvSpPr>
          <p:cNvPr id="14" name="Text 12"/>
          <p:cNvSpPr/>
          <p:nvPr/>
        </p:nvSpPr>
        <p:spPr>
          <a:xfrm>
            <a:off x="3319272" y="2395728"/>
            <a:ext cx="186537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validation precision</a:t>
            </a:r>
            <a:endParaRPr lang="en-US" sz="830" dirty="0"/>
          </a:p>
        </p:txBody>
      </p:sp>
      <p:sp>
        <p:nvSpPr>
          <p:cNvPr id="15" name="Shape 13"/>
          <p:cNvSpPr/>
          <p:nvPr/>
        </p:nvSpPr>
        <p:spPr>
          <a:xfrm>
            <a:off x="5623560" y="1920240"/>
            <a:ext cx="2011680" cy="777240"/>
          </a:xfrm>
          <a:prstGeom prst="roundRect">
            <a:avLst>
              <a:gd name="adj" fmla="val 11765"/>
            </a:avLst>
          </a:prstGeom>
          <a:solidFill>
            <a:srgbClr val="050E0A"/>
          </a:solidFill>
          <a:ln w="12700">
            <a:solidFill>
              <a:srgbClr val="86AE8E"/>
            </a:solidFill>
            <a:prstDash val="solid"/>
          </a:ln>
        </p:spPr>
        <p:txBody>
          <a:bodyPr/>
          <a:p/>
        </p:txBody>
      </p:sp>
      <p:sp>
        <p:nvSpPr>
          <p:cNvPr id="16" name="Text 14"/>
          <p:cNvSpPr/>
          <p:nvPr/>
        </p:nvSpPr>
        <p:spPr>
          <a:xfrm>
            <a:off x="5669280" y="2029968"/>
            <a:ext cx="192024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55.7%</a:t>
            </a:r>
            <a:endParaRPr lang="en-US" sz="2000" dirty="0"/>
          </a:p>
        </p:txBody>
      </p:sp>
      <p:sp>
        <p:nvSpPr>
          <p:cNvPr id="17" name="Text 15"/>
          <p:cNvSpPr/>
          <p:nvPr/>
        </p:nvSpPr>
        <p:spPr>
          <a:xfrm>
            <a:off x="5696712" y="2395728"/>
            <a:ext cx="186537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validation recall</a:t>
            </a:r>
            <a:endParaRPr lang="en-US" sz="830" dirty="0"/>
          </a:p>
        </p:txBody>
      </p:sp>
      <p:sp>
        <p:nvSpPr>
          <p:cNvPr id="18" name="Shape 16"/>
          <p:cNvSpPr/>
          <p:nvPr/>
        </p:nvSpPr>
        <p:spPr>
          <a:xfrm>
            <a:off x="8001000" y="1920240"/>
            <a:ext cx="2011680" cy="777240"/>
          </a:xfrm>
          <a:prstGeom prst="roundRect">
            <a:avLst>
              <a:gd name="adj" fmla="val 11765"/>
            </a:avLst>
          </a:prstGeom>
          <a:solidFill>
            <a:srgbClr val="050E0A"/>
          </a:solidFill>
          <a:ln w="12700">
            <a:solidFill>
              <a:srgbClr val="86AE8E"/>
            </a:solidFill>
            <a:prstDash val="solid"/>
          </a:ln>
        </p:spPr>
        <p:txBody>
          <a:bodyPr/>
          <a:p/>
        </p:txBody>
      </p:sp>
      <p:sp>
        <p:nvSpPr>
          <p:cNvPr id="19" name="Text 17"/>
          <p:cNvSpPr/>
          <p:nvPr/>
        </p:nvSpPr>
        <p:spPr>
          <a:xfrm>
            <a:off x="8046720" y="2029968"/>
            <a:ext cx="192024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41.6%</a:t>
            </a:r>
            <a:endParaRPr lang="en-US" sz="2000" dirty="0"/>
          </a:p>
        </p:txBody>
      </p:sp>
      <p:sp>
        <p:nvSpPr>
          <p:cNvPr id="20" name="Text 18"/>
          <p:cNvSpPr/>
          <p:nvPr/>
        </p:nvSpPr>
        <p:spPr>
          <a:xfrm>
            <a:off x="8074152" y="2395728"/>
            <a:ext cx="186537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validation F1</a:t>
            </a:r>
            <a:endParaRPr lang="en-US" sz="830" dirty="0"/>
          </a:p>
        </p:txBody>
      </p:sp>
      <p:sp>
        <p:nvSpPr>
          <p:cNvPr id="21" name="Shape 19"/>
          <p:cNvSpPr/>
          <p:nvPr/>
        </p:nvSpPr>
        <p:spPr>
          <a:xfrm>
            <a:off x="658368" y="3246120"/>
            <a:ext cx="5376672" cy="2103120"/>
          </a:xfrm>
          <a:prstGeom prst="roundRect">
            <a:avLst>
              <a:gd name="adj" fmla="val 4348"/>
            </a:avLst>
          </a:prstGeom>
          <a:solidFill>
            <a:srgbClr val="050E0A"/>
          </a:solidFill>
          <a:ln w="12700">
            <a:solidFill>
              <a:srgbClr val="86AE8E"/>
            </a:solidFill>
            <a:prstDash val="solid"/>
          </a:ln>
        </p:spPr>
        <p:txBody>
          <a:bodyPr/>
          <a:p/>
        </p:txBody>
      </p:sp>
      <p:sp>
        <p:nvSpPr>
          <p:cNvPr id="22" name="Text 20"/>
          <p:cNvSpPr/>
          <p:nvPr/>
        </p:nvSpPr>
        <p:spPr>
          <a:xfrm>
            <a:off x="804672" y="3355848"/>
            <a:ext cx="5084064"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Why not use 0.50?</a:t>
            </a:r>
            <a:endParaRPr lang="en-US" sz="1050" dirty="0"/>
          </a:p>
        </p:txBody>
      </p:sp>
      <p:sp>
        <p:nvSpPr>
          <p:cNvPr id="23" name="Text 21"/>
          <p:cNvSpPr/>
          <p:nvPr/>
        </p:nvSpPr>
        <p:spPr>
          <a:xfrm>
            <a:off x="804672" y="3685032"/>
            <a:ext cx="5084064" cy="153619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60" dirty="0">
                <a:solidFill>
                  <a:srgbClr val="EAF1ED"/>
                </a:solidFill>
                <a:latin typeface="Aptos"/>
              </a:rPr>
              <a:t>• In imbalanced data, 0.50 may not create a useful precision-recall trade-off.</a:t>
            </a:r>
            <a:endParaRPr lang="en-US" sz="1260" dirty="0"/>
          </a:p>
          <a:p>
            <a:pPr indent="0" marL="0">
              <a:buNone/>
            </a:pPr>
            <a:r>
              <a:rPr lang="en-US" sz="1260" dirty="0">
                <a:solidFill>
                  <a:srgbClr val="EAF1ED"/>
                </a:solidFill>
                <a:latin typeface="Aptos"/>
              </a:rPr>
              <a:t>• The business decision is about review capacity and cost of missing risk.</a:t>
            </a:r>
            <a:endParaRPr lang="en-US" sz="1260" dirty="0"/>
          </a:p>
          <a:p>
            <a:pPr indent="0" marL="0">
              <a:buNone/>
            </a:pPr>
            <a:r>
              <a:rPr lang="en-US" sz="1260" dirty="0">
                <a:solidFill>
                  <a:srgbClr val="EAF1ED"/>
                </a:solidFill>
                <a:latin typeface="Aptos"/>
              </a:rPr>
              <a:t>• A threshold should be chosen on validation data, not on the test set.</a:t>
            </a:r>
            <a:endParaRPr lang="en-US" sz="1260" dirty="0"/>
          </a:p>
        </p:txBody>
      </p:sp>
      <p:sp>
        <p:nvSpPr>
          <p:cNvPr id="24" name="Shape 22"/>
          <p:cNvSpPr/>
          <p:nvPr/>
        </p:nvSpPr>
        <p:spPr>
          <a:xfrm>
            <a:off x="6263640" y="3246120"/>
            <a:ext cx="5230368" cy="2103120"/>
          </a:xfrm>
          <a:prstGeom prst="roundRect">
            <a:avLst>
              <a:gd name="adj" fmla="val 4348"/>
            </a:avLst>
          </a:prstGeom>
          <a:solidFill>
            <a:srgbClr val="050E0A"/>
          </a:solidFill>
          <a:ln w="12700">
            <a:solidFill>
              <a:srgbClr val="86AE8E"/>
            </a:solidFill>
            <a:prstDash val="solid"/>
          </a:ln>
        </p:spPr>
        <p:txBody>
          <a:bodyPr/>
          <a:p/>
        </p:txBody>
      </p:sp>
      <p:sp>
        <p:nvSpPr>
          <p:cNvPr id="25" name="Text 23"/>
          <p:cNvSpPr/>
          <p:nvPr/>
        </p:nvSpPr>
        <p:spPr>
          <a:xfrm>
            <a:off x="6409944" y="3355848"/>
            <a:ext cx="4937760"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What 0.690 means</a:t>
            </a:r>
            <a:endParaRPr lang="en-US" sz="1050" dirty="0"/>
          </a:p>
        </p:txBody>
      </p:sp>
      <p:sp>
        <p:nvSpPr>
          <p:cNvPr id="26" name="Text 24"/>
          <p:cNvSpPr/>
          <p:nvPr/>
        </p:nvSpPr>
        <p:spPr>
          <a:xfrm>
            <a:off x="6409944" y="3685032"/>
            <a:ext cx="4937760" cy="153619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60" dirty="0">
                <a:solidFill>
                  <a:srgbClr val="EAF1ED"/>
                </a:solidFill>
                <a:latin typeface="Aptos"/>
              </a:rPr>
              <a:t>• It is an operating cutoff, not a perfectly calibrated default probability.</a:t>
            </a:r>
            <a:endParaRPr lang="en-US" sz="1260" dirty="0"/>
          </a:p>
          <a:p>
            <a:pPr indent="0" marL="0">
              <a:buNone/>
            </a:pPr>
            <a:r>
              <a:rPr lang="en-US" sz="1260" dirty="0">
                <a:solidFill>
                  <a:srgbClr val="EAF1ED"/>
                </a:solidFill>
                <a:latin typeface="Aptos"/>
              </a:rPr>
              <a:t>• Random Forest scores are mainly used for ranking in this project.</a:t>
            </a:r>
            <a:endParaRPr lang="en-US" sz="1260" dirty="0"/>
          </a:p>
          <a:p>
            <a:pPr indent="0" marL="0">
              <a:buNone/>
            </a:pPr>
            <a:r>
              <a:rPr lang="en-US" sz="1260" dirty="0">
                <a:solidFill>
                  <a:srgbClr val="EAF1ED"/>
                </a:solidFill>
                <a:latin typeface="Aptos"/>
              </a:rPr>
              <a:t>• A real lender could lower or raise it based on a cost function.</a:t>
            </a:r>
            <a:endParaRPr lang="en-US" sz="1260" dirty="0"/>
          </a:p>
        </p:txBody>
      </p:sp>
      <p:sp>
        <p:nvSpPr>
          <p:cNvPr id="27" name="Text 25"/>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pic>
        <p:nvPicPr>
          <p:cNvPr id="18" name="Picture 17" descr="image-2-1.jpeg"/>
          <p:cNvPicPr>
            <a:picLocks noChangeAspect="1"/>
          </p:cNvPicPr>
          <p:nvPr/>
        </p:nvPicPr>
        <p:blipFill>
          <a:blip r:embed="rId4"/>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18</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THRESHOLD DESIGN</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Validation confusion matrix: actual review trade-off</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At the validation threshold, the model catches 2,234 charge-offs but still misses 1,776.</a:t>
            </a:r>
            <a:endParaRPr lang="en-US" sz="1320" dirty="0"/>
          </a:p>
        </p:txBody>
      </p:sp>
      <p:sp>
        <p:nvSpPr>
          <p:cNvPr id="9" name="Shape 7"/>
          <p:cNvSpPr/>
          <p:nvPr/>
        </p:nvSpPr>
        <p:spPr>
          <a:xfrm>
            <a:off x="731520" y="1828800"/>
            <a:ext cx="4800600" cy="3886200"/>
          </a:xfrm>
          <a:prstGeom prst="roundRect">
            <a:avLst>
              <a:gd name="adj" fmla="val 1882"/>
            </a:avLst>
          </a:prstGeom>
          <a:solidFill>
            <a:srgbClr val="050E0A"/>
          </a:solidFill>
          <a:ln w="12700">
            <a:solidFill>
              <a:srgbClr val="86AE8E"/>
            </a:solidFill>
            <a:prstDash val="solid"/>
          </a:ln>
        </p:spPr>
        <p:txBody>
          <a:bodyPr/>
          <a:p/>
        </p:txBody>
      </p:sp>
      <p:pic>
        <p:nvPicPr>
          <p:cNvPr id="10" name="Image 0" descr="/mnt/data/sba_flow_assets/val_confusion_matrix.png">    </p:cNvPr>
          <p:cNvPicPr>
            <a:picLocks noChangeAspect="1"/>
          </p:cNvPicPr>
          <p:nvPr/>
        </p:nvPicPr>
        <p:blipFill>
          <a:blip r:embed="rId1"/>
          <a:stretch>
            <a:fillRect/>
          </a:stretch>
        </p:blipFill>
        <p:spPr>
          <a:xfrm>
            <a:off x="786384" y="2039738"/>
            <a:ext cx="4690872" cy="3464324"/>
          </a:xfrm>
          <a:prstGeom prst="rect">
            <a:avLst/>
          </a:prstGeom>
        </p:spPr>
      </p:pic>
      <p:sp>
        <p:nvSpPr>
          <p:cNvPr id="11" name="Shape 8"/>
          <p:cNvSpPr/>
          <p:nvPr/>
        </p:nvSpPr>
        <p:spPr>
          <a:xfrm>
            <a:off x="5897880" y="1920240"/>
            <a:ext cx="5166360" cy="1417320"/>
          </a:xfrm>
          <a:prstGeom prst="roundRect">
            <a:avLst>
              <a:gd name="adj" fmla="val 6452"/>
            </a:avLst>
          </a:prstGeom>
          <a:solidFill>
            <a:srgbClr val="050E0A"/>
          </a:solidFill>
          <a:ln w="12700">
            <a:solidFill>
              <a:srgbClr val="86AE8E"/>
            </a:solidFill>
            <a:prstDash val="solid"/>
          </a:ln>
        </p:spPr>
        <p:txBody>
          <a:bodyPr/>
          <a:p/>
        </p:txBody>
      </p:sp>
      <p:sp>
        <p:nvSpPr>
          <p:cNvPr id="12" name="Text 9"/>
          <p:cNvSpPr/>
          <p:nvPr/>
        </p:nvSpPr>
        <p:spPr>
          <a:xfrm>
            <a:off x="6044184" y="2029968"/>
            <a:ext cx="487375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Business meaning</a:t>
            </a:r>
            <a:endParaRPr lang="en-US" sz="1050" dirty="0"/>
          </a:p>
        </p:txBody>
      </p:sp>
      <p:sp>
        <p:nvSpPr>
          <p:cNvPr id="13" name="Text 10"/>
          <p:cNvSpPr/>
          <p:nvPr/>
        </p:nvSpPr>
        <p:spPr>
          <a:xfrm>
            <a:off x="6044184" y="2359152"/>
            <a:ext cx="4873752" cy="85039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80" dirty="0">
                <a:solidFill>
                  <a:srgbClr val="EAF1ED"/>
                </a:solidFill>
                <a:latin typeface="Aptos"/>
              </a:rPr>
              <a:t>True positives = flagged loans that actually charge off.</a:t>
            </a:r>
            <a:endParaRPr lang="en-US" sz="1280" dirty="0"/>
          </a:p>
          <a:p>
            <a:pPr indent="0" marL="0">
              <a:buNone/>
            </a:pPr>
            <a:r>
              <a:rPr lang="en-US" sz="1280" dirty="0">
                <a:solidFill>
                  <a:srgbClr val="EAF1ED"/>
                </a:solidFill>
                <a:latin typeface="Aptos"/>
              </a:rPr>
              <a:t>False positives = extra review for loans that do not charge off.</a:t>
            </a:r>
            <a:endParaRPr lang="en-US" sz="1280" dirty="0"/>
          </a:p>
          <a:p>
            <a:pPr indent="0" marL="0">
              <a:buNone/>
            </a:pPr>
            <a:r>
              <a:rPr lang="en-US" sz="1280" dirty="0">
                <a:solidFill>
                  <a:srgbClr val="EAF1ED"/>
                </a:solidFill>
                <a:latin typeface="Aptos"/>
              </a:rPr>
              <a:t>False negatives = risky loans the model misses.</a:t>
            </a:r>
            <a:endParaRPr lang="en-US" sz="1280" dirty="0"/>
          </a:p>
        </p:txBody>
      </p:sp>
      <p:sp>
        <p:nvSpPr>
          <p:cNvPr id="14" name="Shape 11"/>
          <p:cNvSpPr/>
          <p:nvPr/>
        </p:nvSpPr>
        <p:spPr>
          <a:xfrm>
            <a:off x="5897880" y="3703320"/>
            <a:ext cx="5166360" cy="1417320"/>
          </a:xfrm>
          <a:prstGeom prst="roundRect">
            <a:avLst>
              <a:gd name="adj" fmla="val 6452"/>
            </a:avLst>
          </a:prstGeom>
          <a:solidFill>
            <a:srgbClr val="050E0A"/>
          </a:solidFill>
          <a:ln w="12700">
            <a:solidFill>
              <a:srgbClr val="86AE8E"/>
            </a:solidFill>
            <a:prstDash val="solid"/>
          </a:ln>
        </p:spPr>
        <p:txBody>
          <a:bodyPr/>
          <a:p/>
        </p:txBody>
      </p:sp>
      <p:sp>
        <p:nvSpPr>
          <p:cNvPr id="15" name="Text 12"/>
          <p:cNvSpPr/>
          <p:nvPr/>
        </p:nvSpPr>
        <p:spPr>
          <a:xfrm>
            <a:off x="6044184" y="3813048"/>
            <a:ext cx="487375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Threshold is a business choice</a:t>
            </a:r>
            <a:endParaRPr lang="en-US" sz="1050" dirty="0"/>
          </a:p>
        </p:txBody>
      </p:sp>
      <p:sp>
        <p:nvSpPr>
          <p:cNvPr id="16" name="Text 13"/>
          <p:cNvSpPr/>
          <p:nvPr/>
        </p:nvSpPr>
        <p:spPr>
          <a:xfrm>
            <a:off x="6044184" y="4142232"/>
            <a:ext cx="4873752" cy="85039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80" dirty="0">
                <a:solidFill>
                  <a:srgbClr val="EAF1ED"/>
                </a:solidFill>
                <a:latin typeface="Aptos"/>
              </a:rPr>
              <a:t>If missed charge-offs are very expensive, lower the threshold to increase recall. If review capacity is scarce, raise the threshold to prioritize precision.</a:t>
            </a:r>
            <a:endParaRPr lang="en-US" sz="1280" dirty="0"/>
          </a:p>
        </p:txBody>
      </p:sp>
      <p:sp>
        <p:nvSpPr>
          <p:cNvPr id="17" name="Text 14"/>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pic>
        <p:nvPicPr>
          <p:cNvPr id="18" name="Picture 17" descr="image-3-1.jpeg"/>
          <p:cNvPicPr>
            <a:picLocks noChangeAspect="1"/>
          </p:cNvPicPr>
          <p:nvPr/>
        </p:nvPicPr>
        <p:blipFill>
          <a:blip r:embed="rId4"/>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19</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GENERALIZATION</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Learning curve: does more data reduce overfitting?</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The train-validation gap shrinks as the training sample grows, but it does not disappear.</a:t>
            </a:r>
            <a:endParaRPr lang="en-US" sz="1320" dirty="0"/>
          </a:p>
        </p:txBody>
      </p:sp>
      <p:sp>
        <p:nvSpPr>
          <p:cNvPr id="9" name="Shape 7"/>
          <p:cNvSpPr/>
          <p:nvPr/>
        </p:nvSpPr>
        <p:spPr>
          <a:xfrm>
            <a:off x="731520" y="1783080"/>
            <a:ext cx="6035040" cy="3977640"/>
          </a:xfrm>
          <a:prstGeom prst="roundRect">
            <a:avLst>
              <a:gd name="adj" fmla="val 1839"/>
            </a:avLst>
          </a:prstGeom>
          <a:solidFill>
            <a:srgbClr val="050E0A"/>
          </a:solidFill>
          <a:ln w="12700">
            <a:solidFill>
              <a:srgbClr val="86AE8E"/>
            </a:solidFill>
            <a:prstDash val="solid"/>
          </a:ln>
        </p:spPr>
        <p:txBody>
          <a:bodyPr/>
          <a:p/>
        </p:txBody>
      </p:sp>
      <p:pic>
        <p:nvPicPr>
          <p:cNvPr id="10" name="Image 0" descr="/mnt/data/sba_flow_assets/learning_curve.png">    </p:cNvPr>
          <p:cNvPicPr>
            <a:picLocks noChangeAspect="1"/>
          </p:cNvPicPr>
          <p:nvPr/>
        </p:nvPicPr>
        <p:blipFill>
          <a:blip r:embed="rId1"/>
          <a:stretch>
            <a:fillRect/>
          </a:stretch>
        </p:blipFill>
        <p:spPr>
          <a:xfrm>
            <a:off x="786384" y="2141394"/>
            <a:ext cx="5925312" cy="3261012"/>
          </a:xfrm>
          <a:prstGeom prst="rect">
            <a:avLst/>
          </a:prstGeom>
        </p:spPr>
      </p:pic>
      <p:sp>
        <p:nvSpPr>
          <p:cNvPr id="11" name="Shape 8"/>
          <p:cNvSpPr/>
          <p:nvPr/>
        </p:nvSpPr>
        <p:spPr>
          <a:xfrm>
            <a:off x="7086600" y="1920240"/>
            <a:ext cx="4160520" cy="1645920"/>
          </a:xfrm>
          <a:prstGeom prst="roundRect">
            <a:avLst>
              <a:gd name="adj" fmla="val 5556"/>
            </a:avLst>
          </a:prstGeom>
          <a:solidFill>
            <a:srgbClr val="050E0A"/>
          </a:solidFill>
          <a:ln w="12700">
            <a:solidFill>
              <a:srgbClr val="86AE8E"/>
            </a:solidFill>
            <a:prstDash val="solid"/>
          </a:ln>
        </p:spPr>
        <p:txBody>
          <a:bodyPr/>
          <a:p/>
        </p:txBody>
      </p:sp>
      <p:sp>
        <p:nvSpPr>
          <p:cNvPr id="12" name="Text 9"/>
          <p:cNvSpPr/>
          <p:nvPr/>
        </p:nvSpPr>
        <p:spPr>
          <a:xfrm>
            <a:off x="7232904" y="2029968"/>
            <a:ext cx="38679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Diagnostic results</a:t>
            </a:r>
            <a:endParaRPr lang="en-US" sz="1050" dirty="0"/>
          </a:p>
        </p:txBody>
      </p:sp>
      <p:sp>
        <p:nvSpPr>
          <p:cNvPr id="13" name="Text 10"/>
          <p:cNvSpPr/>
          <p:nvPr/>
        </p:nvSpPr>
        <p:spPr>
          <a:xfrm>
            <a:off x="7232904" y="2359152"/>
            <a:ext cx="3867912" cy="107899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80" dirty="0">
                <a:solidFill>
                  <a:srgbClr val="EAF1ED"/>
                </a:solidFill>
                <a:latin typeface="Aptos"/>
              </a:rPr>
              <a:t>25K rows: gap ≈ 0.218</a:t>
            </a:r>
            <a:endParaRPr lang="en-US" sz="1280" dirty="0"/>
          </a:p>
          <a:p>
            <a:pPr indent="0" marL="0">
              <a:buNone/>
            </a:pPr>
            <a:r>
              <a:rPr lang="en-US" sz="1280" dirty="0">
                <a:solidFill>
                  <a:srgbClr val="EAF1ED"/>
                </a:solidFill>
                <a:latin typeface="Aptos"/>
              </a:rPr>
              <a:t>50K rows: gap ≈ 0.212</a:t>
            </a:r>
            <a:endParaRPr lang="en-US" sz="1280" dirty="0"/>
          </a:p>
          <a:p>
            <a:pPr indent="0" marL="0">
              <a:buNone/>
            </a:pPr>
            <a:r>
              <a:rPr lang="en-US" sz="1280" dirty="0">
                <a:solidFill>
                  <a:srgbClr val="EAF1ED"/>
                </a:solidFill>
                <a:latin typeface="Aptos"/>
              </a:rPr>
              <a:t>75K rows: gap ≈ 0.196</a:t>
            </a:r>
            <a:endParaRPr lang="en-US" sz="1280" dirty="0"/>
          </a:p>
          <a:p>
            <a:pPr indent="0" marL="0">
              <a:buNone/>
            </a:pPr>
            <a:r>
              <a:rPr lang="en-US" sz="1280" dirty="0">
                <a:solidFill>
                  <a:srgbClr val="EAF1ED"/>
                </a:solidFill>
                <a:latin typeface="Aptos"/>
              </a:rPr>
              <a:t>100K rows: gap ≈ 0.174</a:t>
            </a:r>
            <a:endParaRPr lang="en-US" sz="1280" dirty="0"/>
          </a:p>
        </p:txBody>
      </p:sp>
      <p:sp>
        <p:nvSpPr>
          <p:cNvPr id="14" name="Shape 11"/>
          <p:cNvSpPr/>
          <p:nvPr/>
        </p:nvSpPr>
        <p:spPr>
          <a:xfrm>
            <a:off x="7086600" y="3977640"/>
            <a:ext cx="4160520" cy="1325880"/>
          </a:xfrm>
          <a:prstGeom prst="roundRect">
            <a:avLst>
              <a:gd name="adj" fmla="val 6897"/>
            </a:avLst>
          </a:prstGeom>
          <a:solidFill>
            <a:srgbClr val="050E0A"/>
          </a:solidFill>
          <a:ln w="12700">
            <a:solidFill>
              <a:srgbClr val="86AE8E"/>
            </a:solidFill>
            <a:prstDash val="solid"/>
          </a:ln>
        </p:spPr>
        <p:txBody>
          <a:bodyPr/>
          <a:p/>
        </p:txBody>
      </p:sp>
      <p:sp>
        <p:nvSpPr>
          <p:cNvPr id="15" name="Text 12"/>
          <p:cNvSpPr/>
          <p:nvPr/>
        </p:nvSpPr>
        <p:spPr>
          <a:xfrm>
            <a:off x="7232904" y="4087368"/>
            <a:ext cx="38679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Interpretation</a:t>
            </a:r>
            <a:endParaRPr lang="en-US" sz="1050" dirty="0"/>
          </a:p>
        </p:txBody>
      </p:sp>
      <p:sp>
        <p:nvSpPr>
          <p:cNvPr id="16" name="Text 13"/>
          <p:cNvSpPr/>
          <p:nvPr/>
        </p:nvSpPr>
        <p:spPr>
          <a:xfrm>
            <a:off x="7232904" y="4416552"/>
            <a:ext cx="3867912" cy="75895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50" dirty="0">
                <a:solidFill>
                  <a:srgbClr val="EAF1ED"/>
                </a:solidFill>
                <a:latin typeface="Aptos"/>
              </a:rPr>
              <a:t>Additional data helps, but Random Forest still needs tuning, complexity control, or richer predictor information for stronger generalization.</a:t>
            </a:r>
            <a:endParaRPr lang="en-US" sz="1250" dirty="0"/>
          </a:p>
        </p:txBody>
      </p:sp>
      <p:sp>
        <p:nvSpPr>
          <p:cNvPr id="17" name="Text 14"/>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pic>
        <p:nvPicPr>
          <p:cNvPr id="36" name="Picture 35" descr="image-4-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20</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FINAL EVALUATION</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Final model training: refit after choices are locked</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After model and threshold are selected, validation data can be combined with training data for the final fit.</a:t>
            </a:r>
            <a:endParaRPr lang="en-US" sz="1320" dirty="0"/>
          </a:p>
        </p:txBody>
      </p:sp>
      <p:sp>
        <p:nvSpPr>
          <p:cNvPr id="9" name="Shape 7"/>
          <p:cNvSpPr/>
          <p:nvPr/>
        </p:nvSpPr>
        <p:spPr>
          <a:xfrm>
            <a:off x="868680" y="2148840"/>
            <a:ext cx="502920" cy="502920"/>
          </a:xfrm>
          <a:prstGeom prst="ellipse">
            <a:avLst/>
          </a:prstGeom>
          <a:solidFill>
            <a:srgbClr val="050E0A"/>
          </a:solidFill>
          <a:ln w="12700">
            <a:solidFill>
              <a:srgbClr val="86AE8E"/>
            </a:solidFill>
            <a:prstDash val="solid"/>
          </a:ln>
        </p:spPr>
        <p:txBody>
          <a:bodyPr/>
          <a:p/>
        </p:txBody>
      </p:sp>
      <p:sp>
        <p:nvSpPr>
          <p:cNvPr id="10" name="Text 8"/>
          <p:cNvSpPr/>
          <p:nvPr/>
        </p:nvSpPr>
        <p:spPr>
          <a:xfrm>
            <a:off x="868680" y="2295144"/>
            <a:ext cx="502920" cy="109728"/>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900" b="1" dirty="0">
                <a:solidFill>
                  <a:srgbClr val="9DDC9A"/>
                </a:solidFill>
                <a:latin typeface="Aptos"/>
              </a:rPr>
              <a:t>1</a:t>
            </a:r>
            <a:endParaRPr lang="en-US" sz="900" dirty="0"/>
          </a:p>
        </p:txBody>
      </p:sp>
      <p:sp>
        <p:nvSpPr>
          <p:cNvPr id="11" name="Shape 9"/>
          <p:cNvSpPr/>
          <p:nvPr/>
        </p:nvSpPr>
        <p:spPr>
          <a:xfrm>
            <a:off x="704088" y="2880360"/>
            <a:ext cx="2331720" cy="1143000"/>
          </a:xfrm>
          <a:prstGeom prst="roundRect">
            <a:avLst>
              <a:gd name="adj" fmla="val 8000"/>
            </a:avLst>
          </a:prstGeom>
          <a:solidFill>
            <a:srgbClr val="050E0A"/>
          </a:solidFill>
          <a:ln w="12700">
            <a:solidFill>
              <a:srgbClr val="86AE8E"/>
            </a:solidFill>
            <a:prstDash val="solid"/>
          </a:ln>
        </p:spPr>
        <p:txBody>
          <a:bodyPr/>
          <a:p/>
        </p:txBody>
      </p:sp>
      <p:sp>
        <p:nvSpPr>
          <p:cNvPr id="12" name="Text 10"/>
          <p:cNvSpPr/>
          <p:nvPr/>
        </p:nvSpPr>
        <p:spPr>
          <a:xfrm>
            <a:off x="850392" y="2990088"/>
            <a:ext cx="20391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00" b="1" dirty="0">
                <a:solidFill>
                  <a:srgbClr val="EAF1ED"/>
                </a:solidFill>
                <a:latin typeface="Aptos"/>
              </a:rPr>
              <a:t>Select model on validation</a:t>
            </a:r>
            <a:endParaRPr lang="en-US" sz="1000" dirty="0"/>
          </a:p>
        </p:txBody>
      </p:sp>
      <p:sp>
        <p:nvSpPr>
          <p:cNvPr id="13" name="Text 11"/>
          <p:cNvSpPr/>
          <p:nvPr/>
        </p:nvSpPr>
        <p:spPr>
          <a:xfrm>
            <a:off x="850392" y="3319272"/>
            <a:ext cx="2039112" cy="5760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100" dirty="0">
                <a:solidFill>
                  <a:srgbClr val="EAF1ED"/>
                </a:solidFill>
                <a:latin typeface="Aptos"/>
              </a:rPr>
              <a:t>Random Forest chosen by validation PR-AUC.</a:t>
            </a:r>
            <a:endParaRPr lang="en-US" sz="1100" dirty="0"/>
          </a:p>
        </p:txBody>
      </p:sp>
      <p:sp>
        <p:nvSpPr>
          <p:cNvPr id="14" name="Shape 12"/>
          <p:cNvSpPr/>
          <p:nvPr/>
        </p:nvSpPr>
        <p:spPr>
          <a:xfrm>
            <a:off x="3017520" y="2395728"/>
            <a:ext cx="713232" cy="0"/>
          </a:xfrm>
          <a:prstGeom prst="line">
            <a:avLst/>
          </a:prstGeom>
          <a:noFill/>
          <a:ln w="25400">
            <a:solidFill>
              <a:srgbClr val="86AE8E"/>
            </a:solidFill>
            <a:prstDash val="solid"/>
            <a:headEnd type="none"/>
            <a:tailEnd type="triangle"/>
          </a:ln>
        </p:spPr>
        <p:txBody>
          <a:bodyPr/>
          <a:p/>
        </p:txBody>
      </p:sp>
      <p:sp>
        <p:nvSpPr>
          <p:cNvPr id="15" name="Shape 13"/>
          <p:cNvSpPr/>
          <p:nvPr/>
        </p:nvSpPr>
        <p:spPr>
          <a:xfrm>
            <a:off x="3657600" y="2148840"/>
            <a:ext cx="502920" cy="502920"/>
          </a:xfrm>
          <a:prstGeom prst="ellipse">
            <a:avLst/>
          </a:prstGeom>
          <a:solidFill>
            <a:srgbClr val="050E0A"/>
          </a:solidFill>
          <a:ln w="12700">
            <a:solidFill>
              <a:srgbClr val="86AE8E"/>
            </a:solidFill>
            <a:prstDash val="solid"/>
          </a:ln>
        </p:spPr>
        <p:txBody>
          <a:bodyPr/>
          <a:p/>
        </p:txBody>
      </p:sp>
      <p:sp>
        <p:nvSpPr>
          <p:cNvPr id="16" name="Text 14"/>
          <p:cNvSpPr/>
          <p:nvPr/>
        </p:nvSpPr>
        <p:spPr>
          <a:xfrm>
            <a:off x="3657600" y="2295144"/>
            <a:ext cx="502920" cy="109728"/>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900" b="1" dirty="0">
                <a:solidFill>
                  <a:srgbClr val="9DDC9A"/>
                </a:solidFill>
                <a:latin typeface="Aptos"/>
              </a:rPr>
              <a:t>2</a:t>
            </a:r>
            <a:endParaRPr lang="en-US" sz="900" dirty="0"/>
          </a:p>
        </p:txBody>
      </p:sp>
      <p:sp>
        <p:nvSpPr>
          <p:cNvPr id="17" name="Shape 15"/>
          <p:cNvSpPr/>
          <p:nvPr/>
        </p:nvSpPr>
        <p:spPr>
          <a:xfrm>
            <a:off x="3493008" y="2880360"/>
            <a:ext cx="2331720" cy="1143000"/>
          </a:xfrm>
          <a:prstGeom prst="roundRect">
            <a:avLst>
              <a:gd name="adj" fmla="val 8000"/>
            </a:avLst>
          </a:prstGeom>
          <a:solidFill>
            <a:srgbClr val="050E0A"/>
          </a:solidFill>
          <a:ln w="12700">
            <a:solidFill>
              <a:srgbClr val="86AE8E"/>
            </a:solidFill>
            <a:prstDash val="solid"/>
          </a:ln>
        </p:spPr>
        <p:txBody>
          <a:bodyPr/>
          <a:p/>
        </p:txBody>
      </p:sp>
      <p:sp>
        <p:nvSpPr>
          <p:cNvPr id="18" name="Text 16"/>
          <p:cNvSpPr/>
          <p:nvPr/>
        </p:nvSpPr>
        <p:spPr>
          <a:xfrm>
            <a:off x="3639312" y="2990088"/>
            <a:ext cx="20391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00" b="1" dirty="0">
                <a:solidFill>
                  <a:srgbClr val="EAF1ED"/>
                </a:solidFill>
                <a:latin typeface="Aptos"/>
              </a:rPr>
              <a:t>Select threshold on validation</a:t>
            </a:r>
            <a:endParaRPr lang="en-US" sz="1000" dirty="0"/>
          </a:p>
        </p:txBody>
      </p:sp>
      <p:sp>
        <p:nvSpPr>
          <p:cNvPr id="19" name="Text 17"/>
          <p:cNvSpPr/>
          <p:nvPr/>
        </p:nvSpPr>
        <p:spPr>
          <a:xfrm>
            <a:off x="3639312" y="3319272"/>
            <a:ext cx="2039112" cy="5760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100" dirty="0">
                <a:solidFill>
                  <a:srgbClr val="EAF1ED"/>
                </a:solidFill>
                <a:latin typeface="Aptos"/>
              </a:rPr>
              <a:t>Threshold 0.690 chosen by F1.</a:t>
            </a:r>
            <a:endParaRPr lang="en-US" sz="1100" dirty="0"/>
          </a:p>
        </p:txBody>
      </p:sp>
      <p:sp>
        <p:nvSpPr>
          <p:cNvPr id="20" name="Shape 18"/>
          <p:cNvSpPr/>
          <p:nvPr/>
        </p:nvSpPr>
        <p:spPr>
          <a:xfrm>
            <a:off x="5806440" y="2395728"/>
            <a:ext cx="713232" cy="0"/>
          </a:xfrm>
          <a:prstGeom prst="line">
            <a:avLst/>
          </a:prstGeom>
          <a:noFill/>
          <a:ln w="25400">
            <a:solidFill>
              <a:srgbClr val="86AE8E"/>
            </a:solidFill>
            <a:prstDash val="solid"/>
            <a:headEnd type="none"/>
            <a:tailEnd type="triangle"/>
          </a:ln>
        </p:spPr>
        <p:txBody>
          <a:bodyPr/>
          <a:p/>
        </p:txBody>
      </p:sp>
      <p:sp>
        <p:nvSpPr>
          <p:cNvPr id="21" name="Shape 19"/>
          <p:cNvSpPr/>
          <p:nvPr/>
        </p:nvSpPr>
        <p:spPr>
          <a:xfrm>
            <a:off x="6446520" y="2148840"/>
            <a:ext cx="502920" cy="502920"/>
          </a:xfrm>
          <a:prstGeom prst="ellipse">
            <a:avLst/>
          </a:prstGeom>
          <a:solidFill>
            <a:srgbClr val="050E0A"/>
          </a:solidFill>
          <a:ln w="12700">
            <a:solidFill>
              <a:srgbClr val="86AE8E"/>
            </a:solidFill>
            <a:prstDash val="solid"/>
          </a:ln>
        </p:spPr>
        <p:txBody>
          <a:bodyPr/>
          <a:p/>
        </p:txBody>
      </p:sp>
      <p:sp>
        <p:nvSpPr>
          <p:cNvPr id="22" name="Text 20"/>
          <p:cNvSpPr/>
          <p:nvPr/>
        </p:nvSpPr>
        <p:spPr>
          <a:xfrm>
            <a:off x="6446520" y="2295144"/>
            <a:ext cx="502920" cy="109728"/>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900" b="1" dirty="0">
                <a:solidFill>
                  <a:srgbClr val="9DDC9A"/>
                </a:solidFill>
                <a:latin typeface="Aptos"/>
              </a:rPr>
              <a:t>3</a:t>
            </a:r>
            <a:endParaRPr lang="en-US" sz="900" dirty="0"/>
          </a:p>
        </p:txBody>
      </p:sp>
      <p:sp>
        <p:nvSpPr>
          <p:cNvPr id="23" name="Shape 21"/>
          <p:cNvSpPr/>
          <p:nvPr/>
        </p:nvSpPr>
        <p:spPr>
          <a:xfrm>
            <a:off x="6281928" y="2880360"/>
            <a:ext cx="2331720" cy="1143000"/>
          </a:xfrm>
          <a:prstGeom prst="roundRect">
            <a:avLst>
              <a:gd name="adj" fmla="val 8000"/>
            </a:avLst>
          </a:prstGeom>
          <a:solidFill>
            <a:srgbClr val="050E0A"/>
          </a:solidFill>
          <a:ln w="12700">
            <a:solidFill>
              <a:srgbClr val="86AE8E"/>
            </a:solidFill>
            <a:prstDash val="solid"/>
          </a:ln>
        </p:spPr>
        <p:txBody>
          <a:bodyPr/>
          <a:p/>
        </p:txBody>
      </p:sp>
      <p:sp>
        <p:nvSpPr>
          <p:cNvPr id="24" name="Text 22"/>
          <p:cNvSpPr/>
          <p:nvPr/>
        </p:nvSpPr>
        <p:spPr>
          <a:xfrm>
            <a:off x="6428232" y="2990088"/>
            <a:ext cx="20391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00" b="1" dirty="0">
                <a:solidFill>
                  <a:srgbClr val="EAF1ED"/>
                </a:solidFill>
                <a:latin typeface="Aptos"/>
              </a:rPr>
              <a:t>Refit final model</a:t>
            </a:r>
            <a:endParaRPr lang="en-US" sz="1000" dirty="0"/>
          </a:p>
        </p:txBody>
      </p:sp>
      <p:sp>
        <p:nvSpPr>
          <p:cNvPr id="25" name="Text 23"/>
          <p:cNvSpPr/>
          <p:nvPr/>
        </p:nvSpPr>
        <p:spPr>
          <a:xfrm>
            <a:off x="6428232" y="3319272"/>
            <a:ext cx="2039112" cy="5760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100" dirty="0">
                <a:solidFill>
                  <a:srgbClr val="EAF1ED"/>
                </a:solidFill>
                <a:latin typeface="Aptos"/>
              </a:rPr>
              <a:t>Use train + validation after choices are locked.</a:t>
            </a:r>
            <a:endParaRPr lang="en-US" sz="1100" dirty="0"/>
          </a:p>
        </p:txBody>
      </p:sp>
      <p:sp>
        <p:nvSpPr>
          <p:cNvPr id="26" name="Shape 24"/>
          <p:cNvSpPr/>
          <p:nvPr/>
        </p:nvSpPr>
        <p:spPr>
          <a:xfrm>
            <a:off x="8595360" y="2395728"/>
            <a:ext cx="713232" cy="0"/>
          </a:xfrm>
          <a:prstGeom prst="line">
            <a:avLst/>
          </a:prstGeom>
          <a:noFill/>
          <a:ln w="25400">
            <a:solidFill>
              <a:srgbClr val="86AE8E"/>
            </a:solidFill>
            <a:prstDash val="solid"/>
            <a:headEnd type="none"/>
            <a:tailEnd type="triangle"/>
          </a:ln>
        </p:spPr>
        <p:txBody>
          <a:bodyPr/>
          <a:p/>
        </p:txBody>
      </p:sp>
      <p:sp>
        <p:nvSpPr>
          <p:cNvPr id="27" name="Shape 25"/>
          <p:cNvSpPr/>
          <p:nvPr/>
        </p:nvSpPr>
        <p:spPr>
          <a:xfrm>
            <a:off x="9235440" y="2148840"/>
            <a:ext cx="502920" cy="502920"/>
          </a:xfrm>
          <a:prstGeom prst="ellipse">
            <a:avLst/>
          </a:prstGeom>
          <a:solidFill>
            <a:srgbClr val="050E0A"/>
          </a:solidFill>
          <a:ln w="12700">
            <a:solidFill>
              <a:srgbClr val="86AE8E"/>
            </a:solidFill>
            <a:prstDash val="solid"/>
          </a:ln>
        </p:spPr>
        <p:txBody>
          <a:bodyPr/>
          <a:p/>
        </p:txBody>
      </p:sp>
      <p:sp>
        <p:nvSpPr>
          <p:cNvPr id="28" name="Text 26"/>
          <p:cNvSpPr/>
          <p:nvPr/>
        </p:nvSpPr>
        <p:spPr>
          <a:xfrm>
            <a:off x="9235440" y="2295144"/>
            <a:ext cx="502920" cy="109728"/>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900" b="1" dirty="0">
                <a:solidFill>
                  <a:srgbClr val="9DDC9A"/>
                </a:solidFill>
                <a:latin typeface="Aptos"/>
              </a:rPr>
              <a:t>4</a:t>
            </a:r>
            <a:endParaRPr lang="en-US" sz="900" dirty="0"/>
          </a:p>
        </p:txBody>
      </p:sp>
      <p:sp>
        <p:nvSpPr>
          <p:cNvPr id="29" name="Shape 27"/>
          <p:cNvSpPr/>
          <p:nvPr/>
        </p:nvSpPr>
        <p:spPr>
          <a:xfrm>
            <a:off x="9070848" y="2880360"/>
            <a:ext cx="2331720" cy="1143000"/>
          </a:xfrm>
          <a:prstGeom prst="roundRect">
            <a:avLst>
              <a:gd name="adj" fmla="val 8000"/>
            </a:avLst>
          </a:prstGeom>
          <a:solidFill>
            <a:srgbClr val="050E0A"/>
          </a:solidFill>
          <a:ln w="12700">
            <a:solidFill>
              <a:srgbClr val="86AE8E"/>
            </a:solidFill>
            <a:prstDash val="solid"/>
          </a:ln>
        </p:spPr>
        <p:txBody>
          <a:bodyPr/>
          <a:p/>
        </p:txBody>
      </p:sp>
      <p:sp>
        <p:nvSpPr>
          <p:cNvPr id="30" name="Text 28"/>
          <p:cNvSpPr/>
          <p:nvPr/>
        </p:nvSpPr>
        <p:spPr>
          <a:xfrm>
            <a:off x="9217152" y="2990088"/>
            <a:ext cx="20391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00" b="1" dirty="0">
                <a:solidFill>
                  <a:srgbClr val="EAF1ED"/>
                </a:solidFill>
                <a:latin typeface="Aptos"/>
              </a:rPr>
              <a:t>Evaluate once on test</a:t>
            </a:r>
            <a:endParaRPr lang="en-US" sz="1000" dirty="0"/>
          </a:p>
        </p:txBody>
      </p:sp>
      <p:sp>
        <p:nvSpPr>
          <p:cNvPr id="31" name="Text 29"/>
          <p:cNvSpPr/>
          <p:nvPr/>
        </p:nvSpPr>
        <p:spPr>
          <a:xfrm>
            <a:off x="9217152" y="3319272"/>
            <a:ext cx="2039112" cy="5760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100" dirty="0">
                <a:solidFill>
                  <a:srgbClr val="EAF1ED"/>
                </a:solidFill>
                <a:latin typeface="Aptos"/>
              </a:rPr>
              <a:t>No tuning after seeing test labels.</a:t>
            </a:r>
            <a:endParaRPr lang="en-US" sz="1100" dirty="0"/>
          </a:p>
        </p:txBody>
      </p:sp>
      <p:sp>
        <p:nvSpPr>
          <p:cNvPr id="32" name="Shape 30"/>
          <p:cNvSpPr/>
          <p:nvPr/>
        </p:nvSpPr>
        <p:spPr>
          <a:xfrm>
            <a:off x="868680" y="4892040"/>
            <a:ext cx="10378440" cy="777240"/>
          </a:xfrm>
          <a:prstGeom prst="roundRect">
            <a:avLst>
              <a:gd name="adj" fmla="val 11765"/>
            </a:avLst>
          </a:prstGeom>
          <a:solidFill>
            <a:srgbClr val="050E0A"/>
          </a:solidFill>
          <a:ln w="12700">
            <a:solidFill>
              <a:srgbClr val="86AE8E"/>
            </a:solidFill>
            <a:prstDash val="solid"/>
          </a:ln>
        </p:spPr>
        <p:txBody>
          <a:bodyPr/>
          <a:p/>
        </p:txBody>
      </p:sp>
      <p:sp>
        <p:nvSpPr>
          <p:cNvPr id="33" name="Text 31"/>
          <p:cNvSpPr/>
          <p:nvPr/>
        </p:nvSpPr>
        <p:spPr>
          <a:xfrm>
            <a:off x="1014984" y="5001768"/>
            <a:ext cx="1008583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Why this keeps the test honest</a:t>
            </a:r>
            <a:endParaRPr lang="en-US" sz="1050" dirty="0"/>
          </a:p>
        </p:txBody>
      </p:sp>
      <p:sp>
        <p:nvSpPr>
          <p:cNvPr id="34" name="Text 32"/>
          <p:cNvSpPr/>
          <p:nvPr/>
        </p:nvSpPr>
        <p:spPr>
          <a:xfrm>
            <a:off x="1014984" y="5330952"/>
            <a:ext cx="10085832" cy="2103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80" dirty="0">
                <a:solidFill>
                  <a:srgbClr val="EAF1ED"/>
                </a:solidFill>
                <a:latin typeface="Aptos"/>
              </a:rPr>
              <a:t>If the test result is used to change the model, threshold, or features, the test set becomes another validation set. The final result would no longer represent unseen future data.</a:t>
            </a:r>
            <a:endParaRPr lang="en-US" sz="1280" dirty="0"/>
          </a:p>
        </p:txBody>
      </p:sp>
      <p:sp>
        <p:nvSpPr>
          <p:cNvPr id="35" name="Text 33"/>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pic>
        <p:nvPicPr>
          <p:cNvPr id="36" name="Picture 35" descr="image-1-1.jpeg"/>
          <p:cNvPicPr>
            <a:picLocks noChangeAspect="1"/>
          </p:cNvPicPr>
          <p:nvPr/>
        </p:nvPicPr>
        <p:blipFill>
          <a:blip r:embed="rId4"/>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21</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FINAL EVALUATION</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Locked test performance</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The final Random Forest ranks risk well on the future test period, but recall at the fixed threshold is limited.</a:t>
            </a:r>
            <a:endParaRPr lang="en-US" sz="1320" dirty="0"/>
          </a:p>
        </p:txBody>
      </p:sp>
      <p:sp>
        <p:nvSpPr>
          <p:cNvPr id="9" name="Shape 7"/>
          <p:cNvSpPr/>
          <p:nvPr/>
        </p:nvSpPr>
        <p:spPr>
          <a:xfrm>
            <a:off x="777240" y="1828800"/>
            <a:ext cx="1554480" cy="777240"/>
          </a:xfrm>
          <a:prstGeom prst="roundRect">
            <a:avLst>
              <a:gd name="adj" fmla="val 11765"/>
            </a:avLst>
          </a:prstGeom>
          <a:solidFill>
            <a:srgbClr val="050E0A"/>
          </a:solidFill>
          <a:ln w="12700">
            <a:solidFill>
              <a:srgbClr val="86AE8E"/>
            </a:solidFill>
            <a:prstDash val="solid"/>
          </a:ln>
        </p:spPr>
        <p:txBody>
          <a:bodyPr/>
          <a:p/>
        </p:txBody>
      </p:sp>
      <p:sp>
        <p:nvSpPr>
          <p:cNvPr id="10" name="Text 8"/>
          <p:cNvSpPr/>
          <p:nvPr/>
        </p:nvSpPr>
        <p:spPr>
          <a:xfrm>
            <a:off x="822960" y="1938528"/>
            <a:ext cx="146304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54,249</a:t>
            </a:r>
            <a:endParaRPr lang="en-US" sz="2000" dirty="0"/>
          </a:p>
        </p:txBody>
      </p:sp>
      <p:sp>
        <p:nvSpPr>
          <p:cNvPr id="11" name="Text 9"/>
          <p:cNvSpPr/>
          <p:nvPr/>
        </p:nvSpPr>
        <p:spPr>
          <a:xfrm>
            <a:off x="850392" y="2304288"/>
            <a:ext cx="140817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test loans</a:t>
            </a:r>
            <a:endParaRPr lang="en-US" sz="830" dirty="0"/>
          </a:p>
        </p:txBody>
      </p:sp>
      <p:sp>
        <p:nvSpPr>
          <p:cNvPr id="12" name="Shape 10"/>
          <p:cNvSpPr/>
          <p:nvPr/>
        </p:nvSpPr>
        <p:spPr>
          <a:xfrm>
            <a:off x="2560320" y="1828800"/>
            <a:ext cx="1554480" cy="777240"/>
          </a:xfrm>
          <a:prstGeom prst="roundRect">
            <a:avLst>
              <a:gd name="adj" fmla="val 11765"/>
            </a:avLst>
          </a:prstGeom>
          <a:solidFill>
            <a:srgbClr val="050E0A"/>
          </a:solidFill>
          <a:ln w="12700">
            <a:solidFill>
              <a:srgbClr val="86AE8E"/>
            </a:solidFill>
            <a:prstDash val="solid"/>
          </a:ln>
        </p:spPr>
        <p:txBody>
          <a:bodyPr/>
          <a:p/>
        </p:txBody>
      </p:sp>
      <p:sp>
        <p:nvSpPr>
          <p:cNvPr id="13" name="Text 11"/>
          <p:cNvSpPr/>
          <p:nvPr/>
        </p:nvSpPr>
        <p:spPr>
          <a:xfrm>
            <a:off x="2606040" y="1938528"/>
            <a:ext cx="146304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2.36%</a:t>
            </a:r>
            <a:endParaRPr lang="en-US" sz="2000" dirty="0"/>
          </a:p>
        </p:txBody>
      </p:sp>
      <p:sp>
        <p:nvSpPr>
          <p:cNvPr id="14" name="Text 12"/>
          <p:cNvSpPr/>
          <p:nvPr/>
        </p:nvSpPr>
        <p:spPr>
          <a:xfrm>
            <a:off x="2633472" y="2304288"/>
            <a:ext cx="140817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test base rate</a:t>
            </a:r>
            <a:endParaRPr lang="en-US" sz="830" dirty="0"/>
          </a:p>
        </p:txBody>
      </p:sp>
      <p:sp>
        <p:nvSpPr>
          <p:cNvPr id="15" name="Shape 13"/>
          <p:cNvSpPr/>
          <p:nvPr/>
        </p:nvSpPr>
        <p:spPr>
          <a:xfrm>
            <a:off x="4343400" y="1828800"/>
            <a:ext cx="1554480" cy="777240"/>
          </a:xfrm>
          <a:prstGeom prst="roundRect">
            <a:avLst>
              <a:gd name="adj" fmla="val 11765"/>
            </a:avLst>
          </a:prstGeom>
          <a:solidFill>
            <a:srgbClr val="050E0A"/>
          </a:solidFill>
          <a:ln w="12700">
            <a:solidFill>
              <a:srgbClr val="86AE8E"/>
            </a:solidFill>
            <a:prstDash val="solid"/>
          </a:ln>
        </p:spPr>
        <p:txBody>
          <a:bodyPr/>
          <a:p/>
        </p:txBody>
      </p:sp>
      <p:sp>
        <p:nvSpPr>
          <p:cNvPr id="16" name="Text 14"/>
          <p:cNvSpPr/>
          <p:nvPr/>
        </p:nvSpPr>
        <p:spPr>
          <a:xfrm>
            <a:off x="4389120" y="1938528"/>
            <a:ext cx="146304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0.352</a:t>
            </a:r>
            <a:endParaRPr lang="en-US" sz="2000" dirty="0"/>
          </a:p>
        </p:txBody>
      </p:sp>
      <p:sp>
        <p:nvSpPr>
          <p:cNvPr id="17" name="Text 15"/>
          <p:cNvSpPr/>
          <p:nvPr/>
        </p:nvSpPr>
        <p:spPr>
          <a:xfrm>
            <a:off x="4416552" y="2304288"/>
            <a:ext cx="140817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test PR-AUC</a:t>
            </a:r>
            <a:endParaRPr lang="en-US" sz="830" dirty="0"/>
          </a:p>
        </p:txBody>
      </p:sp>
      <p:sp>
        <p:nvSpPr>
          <p:cNvPr id="18" name="Shape 16"/>
          <p:cNvSpPr/>
          <p:nvPr/>
        </p:nvSpPr>
        <p:spPr>
          <a:xfrm>
            <a:off x="6126480" y="1828800"/>
            <a:ext cx="1554480" cy="777240"/>
          </a:xfrm>
          <a:prstGeom prst="roundRect">
            <a:avLst>
              <a:gd name="adj" fmla="val 11765"/>
            </a:avLst>
          </a:prstGeom>
          <a:solidFill>
            <a:srgbClr val="050E0A"/>
          </a:solidFill>
          <a:ln w="12700">
            <a:solidFill>
              <a:srgbClr val="86AE8E"/>
            </a:solidFill>
            <a:prstDash val="solid"/>
          </a:ln>
        </p:spPr>
        <p:txBody>
          <a:bodyPr/>
          <a:p/>
        </p:txBody>
      </p:sp>
      <p:sp>
        <p:nvSpPr>
          <p:cNvPr id="19" name="Text 17"/>
          <p:cNvSpPr/>
          <p:nvPr/>
        </p:nvSpPr>
        <p:spPr>
          <a:xfrm>
            <a:off x="6172200" y="1938528"/>
            <a:ext cx="146304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0.931</a:t>
            </a:r>
            <a:endParaRPr lang="en-US" sz="2000" dirty="0"/>
          </a:p>
        </p:txBody>
      </p:sp>
      <p:sp>
        <p:nvSpPr>
          <p:cNvPr id="20" name="Text 18"/>
          <p:cNvSpPr/>
          <p:nvPr/>
        </p:nvSpPr>
        <p:spPr>
          <a:xfrm>
            <a:off x="6199632" y="2304288"/>
            <a:ext cx="140817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test ROC-AUC</a:t>
            </a:r>
            <a:endParaRPr lang="en-US" sz="830" dirty="0"/>
          </a:p>
        </p:txBody>
      </p:sp>
      <p:sp>
        <p:nvSpPr>
          <p:cNvPr id="21" name="Shape 19"/>
          <p:cNvSpPr/>
          <p:nvPr/>
        </p:nvSpPr>
        <p:spPr>
          <a:xfrm>
            <a:off x="7909560" y="1828800"/>
            <a:ext cx="1554480" cy="777240"/>
          </a:xfrm>
          <a:prstGeom prst="roundRect">
            <a:avLst>
              <a:gd name="adj" fmla="val 11765"/>
            </a:avLst>
          </a:prstGeom>
          <a:solidFill>
            <a:srgbClr val="050E0A"/>
          </a:solidFill>
          <a:ln w="12700">
            <a:solidFill>
              <a:srgbClr val="86AE8E"/>
            </a:solidFill>
            <a:prstDash val="solid"/>
          </a:ln>
        </p:spPr>
        <p:txBody>
          <a:bodyPr/>
          <a:p/>
        </p:txBody>
      </p:sp>
      <p:sp>
        <p:nvSpPr>
          <p:cNvPr id="22" name="Text 20"/>
          <p:cNvSpPr/>
          <p:nvPr/>
        </p:nvSpPr>
        <p:spPr>
          <a:xfrm>
            <a:off x="7955280" y="1938528"/>
            <a:ext cx="146304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42.6%</a:t>
            </a:r>
            <a:endParaRPr lang="en-US" sz="2000" dirty="0"/>
          </a:p>
        </p:txBody>
      </p:sp>
      <p:sp>
        <p:nvSpPr>
          <p:cNvPr id="23" name="Text 21"/>
          <p:cNvSpPr/>
          <p:nvPr/>
        </p:nvSpPr>
        <p:spPr>
          <a:xfrm>
            <a:off x="7982712" y="2304288"/>
            <a:ext cx="140817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precision</a:t>
            </a:r>
            <a:endParaRPr lang="en-US" sz="830" dirty="0"/>
          </a:p>
        </p:txBody>
      </p:sp>
      <p:sp>
        <p:nvSpPr>
          <p:cNvPr id="24" name="Shape 22"/>
          <p:cNvSpPr/>
          <p:nvPr/>
        </p:nvSpPr>
        <p:spPr>
          <a:xfrm>
            <a:off x="9692640" y="1828800"/>
            <a:ext cx="1554480" cy="777240"/>
          </a:xfrm>
          <a:prstGeom prst="roundRect">
            <a:avLst>
              <a:gd name="adj" fmla="val 11765"/>
            </a:avLst>
          </a:prstGeom>
          <a:solidFill>
            <a:srgbClr val="050E0A"/>
          </a:solidFill>
          <a:ln w="12700">
            <a:solidFill>
              <a:srgbClr val="86AE8E"/>
            </a:solidFill>
            <a:prstDash val="solid"/>
          </a:ln>
        </p:spPr>
        <p:txBody>
          <a:bodyPr/>
          <a:p/>
        </p:txBody>
      </p:sp>
      <p:sp>
        <p:nvSpPr>
          <p:cNvPr id="25" name="Text 23"/>
          <p:cNvSpPr/>
          <p:nvPr/>
        </p:nvSpPr>
        <p:spPr>
          <a:xfrm>
            <a:off x="9738360" y="1938528"/>
            <a:ext cx="146304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31.4%</a:t>
            </a:r>
            <a:endParaRPr lang="en-US" sz="2000" dirty="0"/>
          </a:p>
        </p:txBody>
      </p:sp>
      <p:sp>
        <p:nvSpPr>
          <p:cNvPr id="26" name="Text 24"/>
          <p:cNvSpPr/>
          <p:nvPr/>
        </p:nvSpPr>
        <p:spPr>
          <a:xfrm>
            <a:off x="9765792" y="2304288"/>
            <a:ext cx="140817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recall</a:t>
            </a:r>
            <a:endParaRPr lang="en-US" sz="830" dirty="0"/>
          </a:p>
        </p:txBody>
      </p:sp>
      <p:sp>
        <p:nvSpPr>
          <p:cNvPr id="27" name="Shape 25"/>
          <p:cNvSpPr/>
          <p:nvPr/>
        </p:nvSpPr>
        <p:spPr>
          <a:xfrm>
            <a:off x="777240" y="2907792"/>
            <a:ext cx="5257800" cy="2971800"/>
          </a:xfrm>
          <a:prstGeom prst="roundRect">
            <a:avLst>
              <a:gd name="adj" fmla="val 2462"/>
            </a:avLst>
          </a:prstGeom>
          <a:solidFill>
            <a:srgbClr val="050E0A"/>
          </a:solidFill>
          <a:ln w="12700">
            <a:solidFill>
              <a:srgbClr val="86AE8E"/>
            </a:solidFill>
            <a:prstDash val="solid"/>
          </a:ln>
        </p:spPr>
        <p:txBody>
          <a:bodyPr/>
          <a:p/>
        </p:txBody>
      </p:sp>
      <p:pic>
        <p:nvPicPr>
          <p:cNvPr id="28" name="Image 0" descr="/mnt/data/sba_flow_assets/test_confusion_matrix.png">    </p:cNvPr>
          <p:cNvPicPr>
            <a:picLocks noChangeAspect="1"/>
          </p:cNvPicPr>
          <p:nvPr/>
        </p:nvPicPr>
        <p:blipFill>
          <a:blip r:embed="rId1"/>
          <a:stretch>
            <a:fillRect/>
          </a:stretch>
        </p:blipFill>
        <p:spPr>
          <a:xfrm>
            <a:off x="1468444" y="2962656"/>
            <a:ext cx="3875392" cy="2862072"/>
          </a:xfrm>
          <a:prstGeom prst="rect">
            <a:avLst/>
          </a:prstGeom>
        </p:spPr>
      </p:pic>
      <p:sp>
        <p:nvSpPr>
          <p:cNvPr id="29" name="Shape 26"/>
          <p:cNvSpPr/>
          <p:nvPr/>
        </p:nvSpPr>
        <p:spPr>
          <a:xfrm>
            <a:off x="6355080" y="3200400"/>
            <a:ext cx="4800600" cy="1325880"/>
          </a:xfrm>
          <a:prstGeom prst="roundRect">
            <a:avLst>
              <a:gd name="adj" fmla="val 6897"/>
            </a:avLst>
          </a:prstGeom>
          <a:solidFill>
            <a:srgbClr val="050E0A"/>
          </a:solidFill>
          <a:ln w="12700">
            <a:solidFill>
              <a:srgbClr val="86AE8E"/>
            </a:solidFill>
            <a:prstDash val="solid"/>
          </a:ln>
        </p:spPr>
        <p:txBody>
          <a:bodyPr/>
          <a:p/>
        </p:txBody>
      </p:sp>
      <p:sp>
        <p:nvSpPr>
          <p:cNvPr id="30" name="Text 27"/>
          <p:cNvSpPr/>
          <p:nvPr/>
        </p:nvSpPr>
        <p:spPr>
          <a:xfrm>
            <a:off x="6501384" y="3310128"/>
            <a:ext cx="450799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Why PR-AUC can improve while recall falls</a:t>
            </a:r>
            <a:endParaRPr lang="en-US" sz="1050" dirty="0"/>
          </a:p>
        </p:txBody>
      </p:sp>
      <p:sp>
        <p:nvSpPr>
          <p:cNvPr id="31" name="Text 28"/>
          <p:cNvSpPr/>
          <p:nvPr/>
        </p:nvSpPr>
        <p:spPr>
          <a:xfrm>
            <a:off x="6501384" y="3639312"/>
            <a:ext cx="4507992" cy="75895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00" dirty="0">
                <a:solidFill>
                  <a:srgbClr val="EAF1ED"/>
                </a:solidFill>
                <a:latin typeface="Aptos"/>
              </a:rPr>
              <a:t>PR-AUC and ROC-AUC evaluate ranking across many thresholds. Recall is measured at one fixed threshold: 0.690. A future cohort can keep strong ranking but produce a different cutoff trade-off.</a:t>
            </a:r>
            <a:endParaRPr lang="en-US" sz="1200" dirty="0"/>
          </a:p>
        </p:txBody>
      </p:sp>
      <p:sp>
        <p:nvSpPr>
          <p:cNvPr id="32" name="Shape 29"/>
          <p:cNvSpPr/>
          <p:nvPr/>
        </p:nvSpPr>
        <p:spPr>
          <a:xfrm>
            <a:off x="6355080" y="4754880"/>
            <a:ext cx="4800600" cy="960120"/>
          </a:xfrm>
          <a:prstGeom prst="roundRect">
            <a:avLst>
              <a:gd name="adj" fmla="val 9524"/>
            </a:avLst>
          </a:prstGeom>
          <a:solidFill>
            <a:srgbClr val="050E0A"/>
          </a:solidFill>
          <a:ln w="12700">
            <a:solidFill>
              <a:srgbClr val="86AE8E"/>
            </a:solidFill>
            <a:prstDash val="solid"/>
          </a:ln>
        </p:spPr>
        <p:txBody>
          <a:bodyPr/>
          <a:p/>
        </p:txBody>
      </p:sp>
      <p:sp>
        <p:nvSpPr>
          <p:cNvPr id="33" name="Text 30"/>
          <p:cNvSpPr/>
          <p:nvPr/>
        </p:nvSpPr>
        <p:spPr>
          <a:xfrm>
            <a:off x="6501384" y="4864608"/>
            <a:ext cx="450799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Test confusion matrix</a:t>
            </a:r>
            <a:endParaRPr lang="en-US" sz="1050" dirty="0"/>
          </a:p>
        </p:txBody>
      </p:sp>
      <p:sp>
        <p:nvSpPr>
          <p:cNvPr id="34" name="Text 31"/>
          <p:cNvSpPr/>
          <p:nvPr/>
        </p:nvSpPr>
        <p:spPr>
          <a:xfrm>
            <a:off x="6501384" y="5193792"/>
            <a:ext cx="4507992" cy="39319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40" dirty="0">
                <a:solidFill>
                  <a:srgbClr val="EAF1ED"/>
                </a:solidFill>
                <a:latin typeface="Aptos"/>
              </a:rPr>
              <a:t>402 true positives</a:t>
            </a:r>
            <a:endParaRPr lang="en-US" sz="1240" dirty="0"/>
          </a:p>
          <a:p>
            <a:pPr indent="0" marL="0">
              <a:buNone/>
            </a:pPr>
            <a:r>
              <a:rPr lang="en-US" sz="1240" dirty="0">
                <a:solidFill>
                  <a:srgbClr val="EAF1ED"/>
                </a:solidFill>
                <a:latin typeface="Aptos"/>
              </a:rPr>
              <a:t>542 false positives</a:t>
            </a:r>
            <a:endParaRPr lang="en-US" sz="1240" dirty="0"/>
          </a:p>
          <a:p>
            <a:pPr indent="0" marL="0">
              <a:buNone/>
            </a:pPr>
            <a:r>
              <a:rPr lang="en-US" sz="1240" dirty="0">
                <a:solidFill>
                  <a:srgbClr val="EAF1ED"/>
                </a:solidFill>
                <a:latin typeface="Aptos"/>
              </a:rPr>
              <a:t>878 false negatives</a:t>
            </a:r>
            <a:endParaRPr lang="en-US" sz="1240" dirty="0"/>
          </a:p>
          <a:p>
            <a:pPr indent="0" marL="0">
              <a:buNone/>
            </a:pPr>
            <a:r>
              <a:rPr lang="en-US" sz="1240" dirty="0">
                <a:solidFill>
                  <a:srgbClr val="EAF1ED"/>
                </a:solidFill>
                <a:latin typeface="Aptos"/>
              </a:rPr>
              <a:t>52,427 true negatives</a:t>
            </a:r>
            <a:endParaRPr lang="en-US" sz="1240" dirty="0"/>
          </a:p>
        </p:txBody>
      </p:sp>
      <p:sp>
        <p:nvSpPr>
          <p:cNvPr id="35" name="Text 32"/>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pic>
        <p:nvPicPr>
          <p:cNvPr id="27" name="Picture 26" descr="image-2-1.jpeg"/>
          <p:cNvPicPr>
            <a:picLocks noChangeAspect="1"/>
          </p:cNvPicPr>
          <p:nvPr/>
        </p:nvPicPr>
        <p:blipFill>
          <a:blip r:embed="rId4"/>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22</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BUSINESS VALUE</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Business interpretation: small review group, high risk concentration</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The model flags only 1.7% of the test portfolio but captures 31.4% of all charge-offs.</a:t>
            </a:r>
            <a:endParaRPr lang="en-US" sz="1320" dirty="0"/>
          </a:p>
        </p:txBody>
      </p:sp>
      <p:sp>
        <p:nvSpPr>
          <p:cNvPr id="9" name="Shape 7"/>
          <p:cNvSpPr/>
          <p:nvPr/>
        </p:nvSpPr>
        <p:spPr>
          <a:xfrm>
            <a:off x="731520" y="1828800"/>
            <a:ext cx="5440680" cy="3383280"/>
          </a:xfrm>
          <a:prstGeom prst="roundRect">
            <a:avLst>
              <a:gd name="adj" fmla="val 2162"/>
            </a:avLst>
          </a:prstGeom>
          <a:solidFill>
            <a:srgbClr val="050E0A"/>
          </a:solidFill>
          <a:ln w="12700">
            <a:solidFill>
              <a:srgbClr val="86AE8E"/>
            </a:solidFill>
            <a:prstDash val="solid"/>
          </a:ln>
        </p:spPr>
        <p:txBody>
          <a:bodyPr/>
          <a:p/>
        </p:txBody>
      </p:sp>
      <p:pic>
        <p:nvPicPr>
          <p:cNvPr id="10" name="Image 0" descr="/mnt/data/sba_flow_assets/risk_concentration.png">    </p:cNvPr>
          <p:cNvPicPr>
            <a:picLocks noChangeAspect="1"/>
          </p:cNvPicPr>
          <p:nvPr/>
        </p:nvPicPr>
        <p:blipFill>
          <a:blip r:embed="rId1"/>
          <a:stretch>
            <a:fillRect/>
          </a:stretch>
        </p:blipFill>
        <p:spPr>
          <a:xfrm>
            <a:off x="786384" y="2090052"/>
            <a:ext cx="5330952" cy="2860775"/>
          </a:xfrm>
          <a:prstGeom prst="rect">
            <a:avLst/>
          </a:prstGeom>
        </p:spPr>
      </p:pic>
      <p:sp>
        <p:nvSpPr>
          <p:cNvPr id="11" name="Shape 8"/>
          <p:cNvSpPr/>
          <p:nvPr/>
        </p:nvSpPr>
        <p:spPr>
          <a:xfrm>
            <a:off x="6583680" y="1874520"/>
            <a:ext cx="1508760" cy="777240"/>
          </a:xfrm>
          <a:prstGeom prst="roundRect">
            <a:avLst>
              <a:gd name="adj" fmla="val 11765"/>
            </a:avLst>
          </a:prstGeom>
          <a:solidFill>
            <a:srgbClr val="050E0A"/>
          </a:solidFill>
          <a:ln w="12700">
            <a:solidFill>
              <a:srgbClr val="86AE8E"/>
            </a:solidFill>
            <a:prstDash val="solid"/>
          </a:ln>
        </p:spPr>
        <p:txBody>
          <a:bodyPr/>
          <a:p/>
        </p:txBody>
      </p:sp>
      <p:sp>
        <p:nvSpPr>
          <p:cNvPr id="12" name="Text 9"/>
          <p:cNvSpPr/>
          <p:nvPr/>
        </p:nvSpPr>
        <p:spPr>
          <a:xfrm>
            <a:off x="6629400" y="1984248"/>
            <a:ext cx="141732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944</a:t>
            </a:r>
            <a:endParaRPr lang="en-US" sz="2000" dirty="0"/>
          </a:p>
        </p:txBody>
      </p:sp>
      <p:sp>
        <p:nvSpPr>
          <p:cNvPr id="13" name="Text 10"/>
          <p:cNvSpPr/>
          <p:nvPr/>
        </p:nvSpPr>
        <p:spPr>
          <a:xfrm>
            <a:off x="6656832" y="2350008"/>
            <a:ext cx="136245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loans flagged</a:t>
            </a:r>
            <a:endParaRPr lang="en-US" sz="830" dirty="0"/>
          </a:p>
        </p:txBody>
      </p:sp>
      <p:sp>
        <p:nvSpPr>
          <p:cNvPr id="14" name="Shape 11"/>
          <p:cNvSpPr/>
          <p:nvPr/>
        </p:nvSpPr>
        <p:spPr>
          <a:xfrm>
            <a:off x="8275320" y="1874520"/>
            <a:ext cx="1508760" cy="777240"/>
          </a:xfrm>
          <a:prstGeom prst="roundRect">
            <a:avLst>
              <a:gd name="adj" fmla="val 11765"/>
            </a:avLst>
          </a:prstGeom>
          <a:solidFill>
            <a:srgbClr val="050E0A"/>
          </a:solidFill>
          <a:ln w="12700">
            <a:solidFill>
              <a:srgbClr val="86AE8E"/>
            </a:solidFill>
            <a:prstDash val="solid"/>
          </a:ln>
        </p:spPr>
        <p:txBody>
          <a:bodyPr/>
          <a:p/>
        </p:txBody>
      </p:sp>
      <p:sp>
        <p:nvSpPr>
          <p:cNvPr id="15" name="Text 12"/>
          <p:cNvSpPr/>
          <p:nvPr/>
        </p:nvSpPr>
        <p:spPr>
          <a:xfrm>
            <a:off x="8321040" y="1984248"/>
            <a:ext cx="141732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402</a:t>
            </a:r>
            <a:endParaRPr lang="en-US" sz="2000" dirty="0"/>
          </a:p>
        </p:txBody>
      </p:sp>
      <p:sp>
        <p:nvSpPr>
          <p:cNvPr id="16" name="Text 13"/>
          <p:cNvSpPr/>
          <p:nvPr/>
        </p:nvSpPr>
        <p:spPr>
          <a:xfrm>
            <a:off x="8348472" y="2350008"/>
            <a:ext cx="136245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flagged loans that charged off</a:t>
            </a:r>
            <a:endParaRPr lang="en-US" sz="830" dirty="0"/>
          </a:p>
        </p:txBody>
      </p:sp>
      <p:sp>
        <p:nvSpPr>
          <p:cNvPr id="17" name="Shape 14"/>
          <p:cNvSpPr/>
          <p:nvPr/>
        </p:nvSpPr>
        <p:spPr>
          <a:xfrm>
            <a:off x="9966960" y="1874520"/>
            <a:ext cx="1508760" cy="777240"/>
          </a:xfrm>
          <a:prstGeom prst="roundRect">
            <a:avLst>
              <a:gd name="adj" fmla="val 11765"/>
            </a:avLst>
          </a:prstGeom>
          <a:solidFill>
            <a:srgbClr val="050E0A"/>
          </a:solidFill>
          <a:ln w="12700">
            <a:solidFill>
              <a:srgbClr val="86AE8E"/>
            </a:solidFill>
            <a:prstDash val="solid"/>
          </a:ln>
        </p:spPr>
        <p:txBody>
          <a:bodyPr/>
          <a:p/>
        </p:txBody>
      </p:sp>
      <p:sp>
        <p:nvSpPr>
          <p:cNvPr id="18" name="Text 15"/>
          <p:cNvSpPr/>
          <p:nvPr/>
        </p:nvSpPr>
        <p:spPr>
          <a:xfrm>
            <a:off x="10012680" y="1984248"/>
            <a:ext cx="141732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31.4%</a:t>
            </a:r>
            <a:endParaRPr lang="en-US" sz="2000" dirty="0"/>
          </a:p>
        </p:txBody>
      </p:sp>
      <p:sp>
        <p:nvSpPr>
          <p:cNvPr id="19" name="Text 16"/>
          <p:cNvSpPr/>
          <p:nvPr/>
        </p:nvSpPr>
        <p:spPr>
          <a:xfrm>
            <a:off x="10040112" y="2350008"/>
            <a:ext cx="136245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charge-offs captured</a:t>
            </a:r>
            <a:endParaRPr lang="en-US" sz="830" dirty="0"/>
          </a:p>
        </p:txBody>
      </p:sp>
      <p:sp>
        <p:nvSpPr>
          <p:cNvPr id="20" name="Shape 17"/>
          <p:cNvSpPr/>
          <p:nvPr/>
        </p:nvSpPr>
        <p:spPr>
          <a:xfrm>
            <a:off x="6583680" y="3017520"/>
            <a:ext cx="4892040" cy="1234440"/>
          </a:xfrm>
          <a:prstGeom prst="roundRect">
            <a:avLst>
              <a:gd name="adj" fmla="val 7407"/>
            </a:avLst>
          </a:prstGeom>
          <a:solidFill>
            <a:srgbClr val="050E0A"/>
          </a:solidFill>
          <a:ln w="12700">
            <a:solidFill>
              <a:srgbClr val="86AE8E"/>
            </a:solidFill>
            <a:prstDash val="solid"/>
          </a:ln>
        </p:spPr>
        <p:txBody>
          <a:bodyPr/>
          <a:p/>
        </p:txBody>
      </p:sp>
      <p:sp>
        <p:nvSpPr>
          <p:cNvPr id="21" name="Text 18"/>
          <p:cNvSpPr/>
          <p:nvPr/>
        </p:nvSpPr>
        <p:spPr>
          <a:xfrm>
            <a:off x="6729984" y="3127248"/>
            <a:ext cx="459943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Practical value</a:t>
            </a:r>
            <a:endParaRPr lang="en-US" sz="1050" dirty="0"/>
          </a:p>
        </p:txBody>
      </p:sp>
      <p:sp>
        <p:nvSpPr>
          <p:cNvPr id="22" name="Text 19"/>
          <p:cNvSpPr/>
          <p:nvPr/>
        </p:nvSpPr>
        <p:spPr>
          <a:xfrm>
            <a:off x="6729984" y="3456432"/>
            <a:ext cx="4599432" cy="6675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70" dirty="0">
                <a:solidFill>
                  <a:srgbClr val="EAF1ED"/>
                </a:solidFill>
                <a:latin typeface="Aptos"/>
              </a:rPr>
              <a:t>Reviewing less than 2% of the portfolio captures about 31% of charge-offs. The flagged group has a charge-off rate around 18x the overall test base rate.</a:t>
            </a:r>
            <a:endParaRPr lang="en-US" sz="1270" dirty="0"/>
          </a:p>
        </p:txBody>
      </p:sp>
      <p:sp>
        <p:nvSpPr>
          <p:cNvPr id="23" name="Shape 20"/>
          <p:cNvSpPr/>
          <p:nvPr/>
        </p:nvSpPr>
        <p:spPr>
          <a:xfrm>
            <a:off x="6583680" y="4617720"/>
            <a:ext cx="4892040" cy="822960"/>
          </a:xfrm>
          <a:prstGeom prst="roundRect">
            <a:avLst>
              <a:gd name="adj" fmla="val 11111"/>
            </a:avLst>
          </a:prstGeom>
          <a:solidFill>
            <a:srgbClr val="050E0A"/>
          </a:solidFill>
          <a:ln w="12700">
            <a:solidFill>
              <a:srgbClr val="86AE8E"/>
            </a:solidFill>
            <a:prstDash val="solid"/>
          </a:ln>
        </p:spPr>
        <p:txBody>
          <a:bodyPr/>
          <a:p/>
        </p:txBody>
      </p:sp>
      <p:sp>
        <p:nvSpPr>
          <p:cNvPr id="24" name="Text 21"/>
          <p:cNvSpPr/>
          <p:nvPr/>
        </p:nvSpPr>
        <p:spPr>
          <a:xfrm>
            <a:off x="6729984" y="4727448"/>
            <a:ext cx="459943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Important caveat</a:t>
            </a:r>
            <a:endParaRPr lang="en-US" sz="1050" dirty="0"/>
          </a:p>
        </p:txBody>
      </p:sp>
      <p:sp>
        <p:nvSpPr>
          <p:cNvPr id="25" name="Text 22"/>
          <p:cNvSpPr/>
          <p:nvPr/>
        </p:nvSpPr>
        <p:spPr>
          <a:xfrm>
            <a:off x="6729984" y="5056632"/>
            <a:ext cx="4599432" cy="25603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50" dirty="0">
                <a:solidFill>
                  <a:srgbClr val="EAF1ED"/>
                </a:solidFill>
                <a:latin typeface="Aptos"/>
              </a:rPr>
              <a:t>The model still misses 878 charge-offs, so a low-risk score should not be interpreted as “definitely safe.”</a:t>
            </a:r>
            <a:endParaRPr lang="en-US" sz="1250" dirty="0"/>
          </a:p>
        </p:txBody>
      </p:sp>
      <p:sp>
        <p:nvSpPr>
          <p:cNvPr id="26" name="Text 23"/>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pic>
        <p:nvPicPr>
          <p:cNvPr id="21" name="Picture 20" descr="image-3-1.jpeg"/>
          <p:cNvPicPr>
            <a:picLocks noChangeAspect="1"/>
          </p:cNvPicPr>
          <p:nvPr/>
        </p:nvPicPr>
        <p:blipFill>
          <a:blip r:embed="rId4"/>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23</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INTERPRETATION</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Model interpretation: feature importance, not causality</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Random Forest uses feature importance; this shows predictive usefulness, not causal impact.</a:t>
            </a:r>
            <a:endParaRPr lang="en-US" sz="1320" dirty="0"/>
          </a:p>
        </p:txBody>
      </p:sp>
      <p:sp>
        <p:nvSpPr>
          <p:cNvPr id="9" name="Shape 7"/>
          <p:cNvSpPr/>
          <p:nvPr/>
        </p:nvSpPr>
        <p:spPr>
          <a:xfrm>
            <a:off x="685800" y="1783080"/>
            <a:ext cx="5897880" cy="4297680"/>
          </a:xfrm>
          <a:prstGeom prst="roundRect">
            <a:avLst>
              <a:gd name="adj" fmla="val 1702"/>
            </a:avLst>
          </a:prstGeom>
          <a:solidFill>
            <a:srgbClr val="050E0A"/>
          </a:solidFill>
          <a:ln w="12700">
            <a:solidFill>
              <a:srgbClr val="86AE8E"/>
            </a:solidFill>
            <a:prstDash val="solid"/>
          </a:ln>
        </p:spPr>
        <p:txBody>
          <a:bodyPr/>
          <a:p/>
        </p:txBody>
      </p:sp>
      <p:pic>
        <p:nvPicPr>
          <p:cNvPr id="10" name="Image 0" descr="/mnt/data/sba_flow_assets/feature_importance.png">    </p:cNvPr>
          <p:cNvPicPr>
            <a:picLocks noChangeAspect="1"/>
          </p:cNvPicPr>
          <p:nvPr/>
        </p:nvPicPr>
        <p:blipFill>
          <a:blip r:embed="rId1"/>
          <a:stretch>
            <a:fillRect/>
          </a:stretch>
        </p:blipFill>
        <p:spPr>
          <a:xfrm>
            <a:off x="740664" y="2021645"/>
            <a:ext cx="5788152" cy="3820550"/>
          </a:xfrm>
          <a:prstGeom prst="rect">
            <a:avLst/>
          </a:prstGeom>
        </p:spPr>
      </p:pic>
      <p:sp>
        <p:nvSpPr>
          <p:cNvPr id="11" name="Shape 8"/>
          <p:cNvSpPr/>
          <p:nvPr/>
        </p:nvSpPr>
        <p:spPr>
          <a:xfrm>
            <a:off x="6903720" y="1920240"/>
            <a:ext cx="4389120" cy="1417320"/>
          </a:xfrm>
          <a:prstGeom prst="roundRect">
            <a:avLst>
              <a:gd name="adj" fmla="val 6452"/>
            </a:avLst>
          </a:prstGeom>
          <a:solidFill>
            <a:srgbClr val="050E0A"/>
          </a:solidFill>
          <a:ln w="12700">
            <a:solidFill>
              <a:srgbClr val="86AE8E"/>
            </a:solidFill>
            <a:prstDash val="solid"/>
          </a:ln>
        </p:spPr>
        <p:txBody>
          <a:bodyPr/>
          <a:p/>
        </p:txBody>
      </p:sp>
      <p:sp>
        <p:nvSpPr>
          <p:cNvPr id="12" name="Text 9"/>
          <p:cNvSpPr/>
          <p:nvPr/>
        </p:nvSpPr>
        <p:spPr>
          <a:xfrm>
            <a:off x="7050024" y="2029968"/>
            <a:ext cx="40965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Top signals</a:t>
            </a:r>
            <a:endParaRPr lang="en-US" sz="1050" dirty="0"/>
          </a:p>
        </p:txBody>
      </p:sp>
      <p:sp>
        <p:nvSpPr>
          <p:cNvPr id="13" name="Text 10"/>
          <p:cNvSpPr/>
          <p:nvPr/>
        </p:nvSpPr>
        <p:spPr>
          <a:xfrm>
            <a:off x="7050024" y="2359152"/>
            <a:ext cx="4096512" cy="85039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50" dirty="0">
                <a:solidFill>
                  <a:srgbClr val="EAF1ED"/>
                </a:solidFill>
                <a:latin typeface="Aptos"/>
              </a:rPr>
              <a:t>term_months ≈ 0.594</a:t>
            </a:r>
            <a:endParaRPr lang="en-US" sz="1250" dirty="0"/>
          </a:p>
          <a:p>
            <a:pPr indent="0" marL="0">
              <a:buNone/>
            </a:pPr>
            <a:r>
              <a:rPr lang="en-US" sz="1250" dirty="0">
                <a:solidFill>
                  <a:srgbClr val="EAF1ED"/>
                </a:solidFill>
                <a:latin typeface="Aptos"/>
              </a:rPr>
              <a:t>initial_interest_rate ≈ 0.078</a:t>
            </a:r>
            <a:endParaRPr lang="en-US" sz="1250" dirty="0"/>
          </a:p>
          <a:p>
            <a:pPr indent="0" marL="0">
              <a:buNone/>
            </a:pPr>
            <a:r>
              <a:rPr lang="en-US" sz="1250" dirty="0">
                <a:solidFill>
                  <a:srgbClr val="EAF1ED"/>
                </a:solidFill>
                <a:latin typeface="Aptos"/>
              </a:rPr>
              <a:t>log_gross_approval ≈ 0.076</a:t>
            </a:r>
            <a:endParaRPr lang="en-US" sz="1250" dirty="0"/>
          </a:p>
          <a:p>
            <a:pPr indent="0" marL="0">
              <a:buNone/>
            </a:pPr>
            <a:r>
              <a:rPr lang="en-US" sz="1250" dirty="0">
                <a:solidFill>
                  <a:srgbClr val="EAF1ED"/>
                </a:solidFill>
                <a:latin typeface="Aptos"/>
              </a:rPr>
              <a:t>guarantee_pct ≈ 0.034</a:t>
            </a:r>
            <a:endParaRPr lang="en-US" sz="1250" dirty="0"/>
          </a:p>
        </p:txBody>
      </p:sp>
      <p:sp>
        <p:nvSpPr>
          <p:cNvPr id="14" name="Shape 11"/>
          <p:cNvSpPr/>
          <p:nvPr/>
        </p:nvSpPr>
        <p:spPr>
          <a:xfrm>
            <a:off x="6903720" y="3657600"/>
            <a:ext cx="4389120" cy="1234440"/>
          </a:xfrm>
          <a:prstGeom prst="roundRect">
            <a:avLst>
              <a:gd name="adj" fmla="val 7407"/>
            </a:avLst>
          </a:prstGeom>
          <a:solidFill>
            <a:srgbClr val="050E0A"/>
          </a:solidFill>
          <a:ln w="12700">
            <a:solidFill>
              <a:srgbClr val="86AE8E"/>
            </a:solidFill>
            <a:prstDash val="solid"/>
          </a:ln>
        </p:spPr>
        <p:txBody>
          <a:bodyPr/>
          <a:p/>
        </p:txBody>
      </p:sp>
      <p:sp>
        <p:nvSpPr>
          <p:cNvPr id="15" name="Text 12"/>
          <p:cNvSpPr/>
          <p:nvPr/>
        </p:nvSpPr>
        <p:spPr>
          <a:xfrm>
            <a:off x="7050024" y="3767328"/>
            <a:ext cx="40965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How to interpret this</a:t>
            </a:r>
            <a:endParaRPr lang="en-US" sz="1050" dirty="0"/>
          </a:p>
        </p:txBody>
      </p:sp>
      <p:sp>
        <p:nvSpPr>
          <p:cNvPr id="16" name="Text 13"/>
          <p:cNvSpPr/>
          <p:nvPr/>
        </p:nvSpPr>
        <p:spPr>
          <a:xfrm>
            <a:off x="7050024" y="4096512"/>
            <a:ext cx="4096512" cy="6675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00" dirty="0">
                <a:solidFill>
                  <a:srgbClr val="EAF1ED"/>
                </a:solidFill>
                <a:latin typeface="Aptos"/>
              </a:rPr>
              <a:t>The model frequently used term, pricing, and loan size to separate risk. That aligns with EDA, but it does not mean term length causes 59.4% of charge-offs.</a:t>
            </a:r>
            <a:endParaRPr lang="en-US" sz="1200" dirty="0"/>
          </a:p>
        </p:txBody>
      </p:sp>
      <p:sp>
        <p:nvSpPr>
          <p:cNvPr id="17" name="Shape 14"/>
          <p:cNvSpPr/>
          <p:nvPr/>
        </p:nvSpPr>
        <p:spPr>
          <a:xfrm>
            <a:off x="6903720" y="5193792"/>
            <a:ext cx="4389120" cy="685800"/>
          </a:xfrm>
          <a:prstGeom prst="roundRect">
            <a:avLst>
              <a:gd name="adj" fmla="val 13333"/>
            </a:avLst>
          </a:prstGeom>
          <a:solidFill>
            <a:srgbClr val="050E0A"/>
          </a:solidFill>
          <a:ln w="12700">
            <a:solidFill>
              <a:srgbClr val="86AE8E"/>
            </a:solidFill>
            <a:prstDash val="solid"/>
          </a:ln>
        </p:spPr>
        <p:txBody>
          <a:bodyPr/>
          <a:p/>
        </p:txBody>
      </p:sp>
      <p:sp>
        <p:nvSpPr>
          <p:cNvPr id="18" name="Text 15"/>
          <p:cNvSpPr/>
          <p:nvPr/>
        </p:nvSpPr>
        <p:spPr>
          <a:xfrm>
            <a:off x="7050024" y="5303520"/>
            <a:ext cx="40965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Limitation</a:t>
            </a:r>
            <a:endParaRPr lang="en-US" sz="1050" dirty="0"/>
          </a:p>
        </p:txBody>
      </p:sp>
      <p:sp>
        <p:nvSpPr>
          <p:cNvPr id="19" name="Text 16"/>
          <p:cNvSpPr/>
          <p:nvPr/>
        </p:nvSpPr>
        <p:spPr>
          <a:xfrm>
            <a:off x="7050024" y="5632704"/>
            <a:ext cx="4096512" cy="1188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130" dirty="0">
                <a:solidFill>
                  <a:srgbClr val="EAF1ED"/>
                </a:solidFill>
                <a:latin typeface="Aptos"/>
              </a:rPr>
              <a:t>Impurity-based importance can favor continuous variables. In production, confirm with permutation importance or SHAP.</a:t>
            </a:r>
            <a:endParaRPr lang="en-US" sz="1130" dirty="0"/>
          </a:p>
        </p:txBody>
      </p:sp>
      <p:sp>
        <p:nvSpPr>
          <p:cNvPr id="20" name="Text 17"/>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pic>
        <p:nvPicPr>
          <p:cNvPr id="19" name="Picture 18" descr="image-4-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24</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LIMITATIONS</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Error analysis: what the aggregate metrics hide</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False negatives and false positives have different business meanings and should not be treated as equal by default.</a:t>
            </a:r>
            <a:endParaRPr lang="en-US" sz="1320" dirty="0"/>
          </a:p>
        </p:txBody>
      </p:sp>
      <p:sp>
        <p:nvSpPr>
          <p:cNvPr id="9" name="Shape 7"/>
          <p:cNvSpPr/>
          <p:nvPr/>
        </p:nvSpPr>
        <p:spPr>
          <a:xfrm>
            <a:off x="713232" y="1874520"/>
            <a:ext cx="5230368" cy="2057400"/>
          </a:xfrm>
          <a:prstGeom prst="roundRect">
            <a:avLst>
              <a:gd name="adj" fmla="val 4444"/>
            </a:avLst>
          </a:prstGeom>
          <a:solidFill>
            <a:srgbClr val="050E0A"/>
          </a:solidFill>
          <a:ln w="12700">
            <a:solidFill>
              <a:srgbClr val="86AE8E"/>
            </a:solidFill>
            <a:prstDash val="solid"/>
          </a:ln>
        </p:spPr>
        <p:txBody>
          <a:bodyPr/>
          <a:p/>
        </p:txBody>
      </p:sp>
      <p:sp>
        <p:nvSpPr>
          <p:cNvPr id="10" name="Text 8"/>
          <p:cNvSpPr/>
          <p:nvPr/>
        </p:nvSpPr>
        <p:spPr>
          <a:xfrm>
            <a:off x="859536" y="1984248"/>
            <a:ext cx="4937760"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False negatives</a:t>
            </a:r>
            <a:endParaRPr lang="en-US" sz="1050" dirty="0"/>
          </a:p>
        </p:txBody>
      </p:sp>
      <p:sp>
        <p:nvSpPr>
          <p:cNvPr id="11" name="Text 9"/>
          <p:cNvSpPr/>
          <p:nvPr/>
        </p:nvSpPr>
        <p:spPr>
          <a:xfrm>
            <a:off x="859536" y="2313432"/>
            <a:ext cx="4937760" cy="14904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20" dirty="0">
                <a:solidFill>
                  <a:srgbClr val="EAF1ED"/>
                </a:solidFill>
                <a:latin typeface="Aptos"/>
              </a:rPr>
              <a:t>878 test loans charged off but were scored below the threshold. These are the missed risks. They show the public SBA features do not capture every source of default risk.</a:t>
            </a:r>
            <a:endParaRPr lang="en-US" sz="1220" dirty="0"/>
          </a:p>
        </p:txBody>
      </p:sp>
      <p:sp>
        <p:nvSpPr>
          <p:cNvPr id="12" name="Shape 10"/>
          <p:cNvSpPr/>
          <p:nvPr/>
        </p:nvSpPr>
        <p:spPr>
          <a:xfrm>
            <a:off x="6199632" y="1874520"/>
            <a:ext cx="5230368" cy="2057400"/>
          </a:xfrm>
          <a:prstGeom prst="roundRect">
            <a:avLst>
              <a:gd name="adj" fmla="val 4444"/>
            </a:avLst>
          </a:prstGeom>
          <a:solidFill>
            <a:srgbClr val="050E0A"/>
          </a:solidFill>
          <a:ln w="12700">
            <a:solidFill>
              <a:srgbClr val="86AE8E"/>
            </a:solidFill>
            <a:prstDash val="solid"/>
          </a:ln>
        </p:spPr>
        <p:txBody>
          <a:bodyPr/>
          <a:p/>
        </p:txBody>
      </p:sp>
      <p:sp>
        <p:nvSpPr>
          <p:cNvPr id="13" name="Text 11"/>
          <p:cNvSpPr/>
          <p:nvPr/>
        </p:nvSpPr>
        <p:spPr>
          <a:xfrm>
            <a:off x="6345936" y="1984248"/>
            <a:ext cx="4937760"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False positives</a:t>
            </a:r>
            <a:endParaRPr lang="en-US" sz="1050" dirty="0"/>
          </a:p>
        </p:txBody>
      </p:sp>
      <p:sp>
        <p:nvSpPr>
          <p:cNvPr id="14" name="Text 12"/>
          <p:cNvSpPr/>
          <p:nvPr/>
        </p:nvSpPr>
        <p:spPr>
          <a:xfrm>
            <a:off x="6345936" y="2313432"/>
            <a:ext cx="4937760" cy="14904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20" dirty="0">
                <a:solidFill>
                  <a:srgbClr val="EAF1ED"/>
                </a:solidFill>
                <a:latin typeface="Aptos"/>
              </a:rPr>
              <a:t>542 test loans were flagged but did not charge off. If the action is extra review or monitoring, these are not necessarily useless. If the action were denial, the cost would be much higher.</a:t>
            </a:r>
            <a:endParaRPr lang="en-US" sz="1220" dirty="0"/>
          </a:p>
        </p:txBody>
      </p:sp>
      <p:sp>
        <p:nvSpPr>
          <p:cNvPr id="15" name="Shape 13"/>
          <p:cNvSpPr/>
          <p:nvPr/>
        </p:nvSpPr>
        <p:spPr>
          <a:xfrm>
            <a:off x="713232" y="4434840"/>
            <a:ext cx="10716768" cy="914400"/>
          </a:xfrm>
          <a:prstGeom prst="roundRect">
            <a:avLst>
              <a:gd name="adj" fmla="val 10000"/>
            </a:avLst>
          </a:prstGeom>
          <a:solidFill>
            <a:srgbClr val="050E0A"/>
          </a:solidFill>
          <a:ln w="12700">
            <a:solidFill>
              <a:srgbClr val="86AE8E"/>
            </a:solidFill>
            <a:prstDash val="solid"/>
          </a:ln>
        </p:spPr>
        <p:txBody>
          <a:bodyPr/>
          <a:p/>
        </p:txBody>
      </p:sp>
      <p:sp>
        <p:nvSpPr>
          <p:cNvPr id="16" name="Text 14"/>
          <p:cNvSpPr/>
          <p:nvPr/>
        </p:nvSpPr>
        <p:spPr>
          <a:xfrm>
            <a:off x="859536" y="4544568"/>
            <a:ext cx="10424160"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Industry-level errors</a:t>
            </a:r>
            <a:endParaRPr lang="en-US" sz="1050" dirty="0"/>
          </a:p>
        </p:txBody>
      </p:sp>
      <p:sp>
        <p:nvSpPr>
          <p:cNvPr id="17" name="Text 15"/>
          <p:cNvSpPr/>
          <p:nvPr/>
        </p:nvSpPr>
        <p:spPr>
          <a:xfrm>
            <a:off x="859536" y="4873752"/>
            <a:ext cx="10424160" cy="34747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00" dirty="0">
                <a:solidFill>
                  <a:srgbClr val="EAF1ED"/>
                </a:solidFill>
                <a:latin typeface="Aptos"/>
              </a:rPr>
              <a:t>Higher error rates in some NAICS sectors may reflect industry-specific risk dynamics or borrower details not available in the public data.</a:t>
            </a:r>
            <a:endParaRPr lang="en-US" sz="1300" dirty="0"/>
          </a:p>
        </p:txBody>
      </p:sp>
      <p:sp>
        <p:nvSpPr>
          <p:cNvPr id="18" name="Text 16"/>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pic>
        <p:nvPicPr>
          <p:cNvPr id="22" name="Picture 21" descr="image-1-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25</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LIMITATIONS</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Limitations: useful public data, not a full underwriting file</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The model can rank risk from approval-time public variables, but many key underwriting variables are missing.</a:t>
            </a:r>
            <a:endParaRPr lang="en-US" sz="1320" dirty="0"/>
          </a:p>
        </p:txBody>
      </p:sp>
      <p:sp>
        <p:nvSpPr>
          <p:cNvPr id="9" name="Shape 7"/>
          <p:cNvSpPr/>
          <p:nvPr/>
        </p:nvSpPr>
        <p:spPr>
          <a:xfrm>
            <a:off x="658368" y="1874520"/>
            <a:ext cx="3474720" cy="2148840"/>
          </a:xfrm>
          <a:prstGeom prst="roundRect">
            <a:avLst>
              <a:gd name="adj" fmla="val 4255"/>
            </a:avLst>
          </a:prstGeom>
          <a:solidFill>
            <a:srgbClr val="050E0A"/>
          </a:solidFill>
          <a:ln w="12700">
            <a:solidFill>
              <a:srgbClr val="86AE8E"/>
            </a:solidFill>
            <a:prstDash val="solid"/>
          </a:ln>
        </p:spPr>
        <p:txBody>
          <a:bodyPr/>
          <a:p/>
        </p:txBody>
      </p:sp>
      <p:sp>
        <p:nvSpPr>
          <p:cNvPr id="10" name="Text 8"/>
          <p:cNvSpPr/>
          <p:nvPr/>
        </p:nvSpPr>
        <p:spPr>
          <a:xfrm>
            <a:off x="804672" y="1984248"/>
            <a:ext cx="31821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Missing borrower-level data</a:t>
            </a:r>
            <a:endParaRPr lang="en-US" sz="1050" dirty="0"/>
          </a:p>
        </p:txBody>
      </p:sp>
      <p:sp>
        <p:nvSpPr>
          <p:cNvPr id="11" name="Text 9"/>
          <p:cNvSpPr/>
          <p:nvPr/>
        </p:nvSpPr>
        <p:spPr>
          <a:xfrm>
            <a:off x="804672" y="2313432"/>
            <a:ext cx="3182112" cy="15819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00" dirty="0">
                <a:solidFill>
                  <a:srgbClr val="EAF1ED"/>
                </a:solidFill>
                <a:latin typeface="Aptos"/>
              </a:rPr>
              <a:t>Financial statements</a:t>
            </a:r>
            <a:endParaRPr lang="en-US" sz="1300" dirty="0"/>
          </a:p>
          <a:p>
            <a:pPr indent="0" marL="0">
              <a:buNone/>
            </a:pPr>
            <a:r>
              <a:rPr lang="en-US" sz="1300" dirty="0">
                <a:solidFill>
                  <a:srgbClr val="EAF1ED"/>
                </a:solidFill>
                <a:latin typeface="Aptos"/>
              </a:rPr>
              <a:t>FICO or business credit scores</a:t>
            </a:r>
            <a:endParaRPr lang="en-US" sz="1300" dirty="0"/>
          </a:p>
          <a:p>
            <a:pPr indent="0" marL="0">
              <a:buNone/>
            </a:pPr>
            <a:r>
              <a:rPr lang="en-US" sz="1300" dirty="0">
                <a:solidFill>
                  <a:srgbClr val="EAF1ED"/>
                </a:solidFill>
                <a:latin typeface="Aptos"/>
              </a:rPr>
              <a:t>Debt-service coverage ratio</a:t>
            </a:r>
            <a:endParaRPr lang="en-US" sz="1300" dirty="0"/>
          </a:p>
          <a:p>
            <a:pPr indent="0" marL="0">
              <a:buNone/>
            </a:pPr>
            <a:r>
              <a:rPr lang="en-US" sz="1300" dirty="0">
                <a:solidFill>
                  <a:srgbClr val="EAF1ED"/>
                </a:solidFill>
                <a:latin typeface="Aptos"/>
              </a:rPr>
              <a:t>Leverage and liquidity</a:t>
            </a:r>
            <a:endParaRPr lang="en-US" sz="1300" dirty="0"/>
          </a:p>
        </p:txBody>
      </p:sp>
      <p:sp>
        <p:nvSpPr>
          <p:cNvPr id="12" name="Shape 10"/>
          <p:cNvSpPr/>
          <p:nvPr/>
        </p:nvSpPr>
        <p:spPr>
          <a:xfrm>
            <a:off x="4370832" y="1874520"/>
            <a:ext cx="3474720" cy="2148840"/>
          </a:xfrm>
          <a:prstGeom prst="roundRect">
            <a:avLst>
              <a:gd name="adj" fmla="val 4255"/>
            </a:avLst>
          </a:prstGeom>
          <a:solidFill>
            <a:srgbClr val="050E0A"/>
          </a:solidFill>
          <a:ln w="12700">
            <a:solidFill>
              <a:srgbClr val="86AE8E"/>
            </a:solidFill>
            <a:prstDash val="solid"/>
          </a:ln>
        </p:spPr>
        <p:txBody>
          <a:bodyPr/>
          <a:p/>
        </p:txBody>
      </p:sp>
      <p:sp>
        <p:nvSpPr>
          <p:cNvPr id="13" name="Text 11"/>
          <p:cNvSpPr/>
          <p:nvPr/>
        </p:nvSpPr>
        <p:spPr>
          <a:xfrm>
            <a:off x="4517136" y="1984248"/>
            <a:ext cx="318211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Missing loan/lender detail</a:t>
            </a:r>
            <a:endParaRPr lang="en-US" sz="1050" dirty="0"/>
          </a:p>
        </p:txBody>
      </p:sp>
      <p:sp>
        <p:nvSpPr>
          <p:cNvPr id="14" name="Text 12"/>
          <p:cNvSpPr/>
          <p:nvPr/>
        </p:nvSpPr>
        <p:spPr>
          <a:xfrm>
            <a:off x="4517136" y="2313432"/>
            <a:ext cx="3182112" cy="15819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00" dirty="0">
                <a:solidFill>
                  <a:srgbClr val="EAF1ED"/>
                </a:solidFill>
                <a:latin typeface="Aptos"/>
              </a:rPr>
              <a:t>Collateral valuation</a:t>
            </a:r>
            <a:endParaRPr lang="en-US" sz="1300" dirty="0"/>
          </a:p>
          <a:p>
            <a:pPr indent="0" marL="0">
              <a:buNone/>
            </a:pPr>
            <a:r>
              <a:rPr lang="en-US" sz="1300" dirty="0">
                <a:solidFill>
                  <a:srgbClr val="EAF1ED"/>
                </a:solidFill>
                <a:latin typeface="Aptos"/>
              </a:rPr>
              <a:t>Detailed lender behavior</a:t>
            </a:r>
            <a:endParaRPr lang="en-US" sz="1300" dirty="0"/>
          </a:p>
          <a:p>
            <a:pPr indent="0" marL="0">
              <a:buNone/>
            </a:pPr>
            <a:r>
              <a:rPr lang="en-US" sz="1300" dirty="0">
                <a:solidFill>
                  <a:srgbClr val="EAF1ED"/>
                </a:solidFill>
                <a:latin typeface="Aptos"/>
              </a:rPr>
              <a:t>Servicing quality</a:t>
            </a:r>
            <a:endParaRPr lang="en-US" sz="1300" dirty="0"/>
          </a:p>
          <a:p>
            <a:pPr indent="0" marL="0">
              <a:buNone/>
            </a:pPr>
            <a:r>
              <a:rPr lang="en-US" sz="1300" dirty="0">
                <a:solidFill>
                  <a:srgbClr val="EAF1ED"/>
                </a:solidFill>
                <a:latin typeface="Aptos"/>
              </a:rPr>
              <a:t>Local economic conditions</a:t>
            </a:r>
            <a:endParaRPr lang="en-US" sz="1300" dirty="0"/>
          </a:p>
        </p:txBody>
      </p:sp>
      <p:sp>
        <p:nvSpPr>
          <p:cNvPr id="15" name="Shape 13"/>
          <p:cNvSpPr/>
          <p:nvPr/>
        </p:nvSpPr>
        <p:spPr>
          <a:xfrm>
            <a:off x="8083296" y="1874520"/>
            <a:ext cx="3154680" cy="2148840"/>
          </a:xfrm>
          <a:prstGeom prst="roundRect">
            <a:avLst>
              <a:gd name="adj" fmla="val 4255"/>
            </a:avLst>
          </a:prstGeom>
          <a:solidFill>
            <a:srgbClr val="050E0A"/>
          </a:solidFill>
          <a:ln w="12700">
            <a:solidFill>
              <a:srgbClr val="86AE8E"/>
            </a:solidFill>
            <a:prstDash val="solid"/>
          </a:ln>
        </p:spPr>
        <p:txBody>
          <a:bodyPr/>
          <a:p/>
        </p:txBody>
      </p:sp>
      <p:sp>
        <p:nvSpPr>
          <p:cNvPr id="16" name="Text 14"/>
          <p:cNvSpPr/>
          <p:nvPr/>
        </p:nvSpPr>
        <p:spPr>
          <a:xfrm>
            <a:off x="8229600" y="1984248"/>
            <a:ext cx="286207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Deployment risks</a:t>
            </a:r>
            <a:endParaRPr lang="en-US" sz="1050" dirty="0"/>
          </a:p>
        </p:txBody>
      </p:sp>
      <p:sp>
        <p:nvSpPr>
          <p:cNvPr id="17" name="Text 15"/>
          <p:cNvSpPr/>
          <p:nvPr/>
        </p:nvSpPr>
        <p:spPr>
          <a:xfrm>
            <a:off x="8229600" y="2313432"/>
            <a:ext cx="2862072" cy="15819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180" dirty="0">
                <a:solidFill>
                  <a:srgbClr val="EAF1ED"/>
                </a:solidFill>
                <a:latin typeface="Aptos"/>
              </a:rPr>
              <a:t>Temporal drift: interest rates, macro conditions, SBA program rules, industry dynamics, and underwriting behavior can change.</a:t>
            </a:r>
            <a:endParaRPr lang="en-US" sz="1180" dirty="0"/>
          </a:p>
          <a:p>
            <a:pPr indent="0" marL="0">
              <a:buNone/>
            </a:pPr>
            <a:endParaRPr lang="en-US" sz="1180" dirty="0"/>
          </a:p>
          <a:p>
            <a:pPr indent="0" marL="0">
              <a:buNone/>
            </a:pPr>
            <a:r>
              <a:rPr lang="en-US" sz="1180" dirty="0">
                <a:solidFill>
                  <a:srgbClr val="EAF1ED"/>
                </a:solidFill>
                <a:latin typeface="Aptos"/>
              </a:rPr>
              <a:t>Probability calibration is also needed before treating scores as true probabilities.</a:t>
            </a:r>
            <a:endParaRPr lang="en-US" sz="1180" dirty="0"/>
          </a:p>
        </p:txBody>
      </p:sp>
      <p:sp>
        <p:nvSpPr>
          <p:cNvPr id="18" name="Shape 16"/>
          <p:cNvSpPr/>
          <p:nvPr/>
        </p:nvSpPr>
        <p:spPr>
          <a:xfrm>
            <a:off x="658368" y="4663440"/>
            <a:ext cx="10579608" cy="868680"/>
          </a:xfrm>
          <a:prstGeom prst="roundRect">
            <a:avLst>
              <a:gd name="adj" fmla="val 10526"/>
            </a:avLst>
          </a:prstGeom>
          <a:solidFill>
            <a:srgbClr val="050E0A"/>
          </a:solidFill>
          <a:ln w="12700">
            <a:solidFill>
              <a:srgbClr val="86AE8E"/>
            </a:solidFill>
            <a:prstDash val="solid"/>
          </a:ln>
        </p:spPr>
        <p:txBody>
          <a:bodyPr/>
          <a:p/>
        </p:txBody>
      </p:sp>
      <p:sp>
        <p:nvSpPr>
          <p:cNvPr id="19" name="Text 17"/>
          <p:cNvSpPr/>
          <p:nvPr/>
        </p:nvSpPr>
        <p:spPr>
          <a:xfrm>
            <a:off x="804672" y="4773168"/>
            <a:ext cx="10287000"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Bottom line</a:t>
            </a:r>
            <a:endParaRPr lang="en-US" sz="1050" dirty="0"/>
          </a:p>
        </p:txBody>
      </p:sp>
      <p:sp>
        <p:nvSpPr>
          <p:cNvPr id="20" name="Text 18"/>
          <p:cNvSpPr/>
          <p:nvPr/>
        </p:nvSpPr>
        <p:spPr>
          <a:xfrm>
            <a:off x="804672" y="5102352"/>
            <a:ext cx="10287000" cy="30175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400" dirty="0">
                <a:solidFill>
                  <a:srgbClr val="EAF1ED"/>
                </a:solidFill>
                <a:latin typeface="Aptos"/>
              </a:rPr>
              <a:t>The model is strongest as a ranking/prioritization layer. It is not strong enough to replace full underwriting judgment.</a:t>
            </a:r>
            <a:endParaRPr lang="en-US" sz="1400" dirty="0"/>
          </a:p>
        </p:txBody>
      </p:sp>
      <p:sp>
        <p:nvSpPr>
          <p:cNvPr id="21" name="Text 19"/>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pic>
        <p:nvPicPr>
          <p:cNvPr id="22" name="Picture 21" descr="image-2-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26</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NEXT STEPS</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Next steps: from academic model to stronger credit-risk system</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The next version should add richer data, improve generalization, and choose thresholds using business costs.</a:t>
            </a:r>
            <a:endParaRPr lang="en-US" sz="1320" dirty="0"/>
          </a:p>
        </p:txBody>
      </p:sp>
      <p:sp>
        <p:nvSpPr>
          <p:cNvPr id="9" name="Shape 7"/>
          <p:cNvSpPr/>
          <p:nvPr/>
        </p:nvSpPr>
        <p:spPr>
          <a:xfrm>
            <a:off x="685800" y="1874520"/>
            <a:ext cx="3383280" cy="2148840"/>
          </a:xfrm>
          <a:prstGeom prst="roundRect">
            <a:avLst>
              <a:gd name="adj" fmla="val 4255"/>
            </a:avLst>
          </a:prstGeom>
          <a:solidFill>
            <a:srgbClr val="050E0A"/>
          </a:solidFill>
          <a:ln w="12700">
            <a:solidFill>
              <a:srgbClr val="86AE8E"/>
            </a:solidFill>
            <a:prstDash val="solid"/>
          </a:ln>
        </p:spPr>
        <p:txBody>
          <a:bodyPr/>
          <a:p/>
        </p:txBody>
      </p:sp>
      <p:sp>
        <p:nvSpPr>
          <p:cNvPr id="10" name="Text 8"/>
          <p:cNvSpPr/>
          <p:nvPr/>
        </p:nvSpPr>
        <p:spPr>
          <a:xfrm>
            <a:off x="832104" y="1984248"/>
            <a:ext cx="309067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Add better predictors</a:t>
            </a:r>
            <a:endParaRPr lang="en-US" sz="1050" dirty="0"/>
          </a:p>
        </p:txBody>
      </p:sp>
      <p:sp>
        <p:nvSpPr>
          <p:cNvPr id="11" name="Text 9"/>
          <p:cNvSpPr/>
          <p:nvPr/>
        </p:nvSpPr>
        <p:spPr>
          <a:xfrm>
            <a:off x="832104" y="2313432"/>
            <a:ext cx="3090672" cy="15819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00" dirty="0">
                <a:solidFill>
                  <a:srgbClr val="EAF1ED"/>
                </a:solidFill>
                <a:latin typeface="Aptos"/>
              </a:rPr>
              <a:t>Borrower financial ratios</a:t>
            </a:r>
            <a:endParaRPr lang="en-US" sz="1300" dirty="0"/>
          </a:p>
          <a:p>
            <a:pPr indent="0" marL="0">
              <a:buNone/>
            </a:pPr>
            <a:r>
              <a:rPr lang="en-US" sz="1300" dirty="0">
                <a:solidFill>
                  <a:srgbClr val="EAF1ED"/>
                </a:solidFill>
                <a:latin typeface="Aptos"/>
              </a:rPr>
              <a:t>Lender-level variables</a:t>
            </a:r>
            <a:endParaRPr lang="en-US" sz="1300" dirty="0"/>
          </a:p>
          <a:p>
            <a:pPr indent="0" marL="0">
              <a:buNone/>
            </a:pPr>
            <a:r>
              <a:rPr lang="en-US" sz="1300" dirty="0">
                <a:solidFill>
                  <a:srgbClr val="EAF1ED"/>
                </a:solidFill>
                <a:latin typeface="Aptos"/>
              </a:rPr>
              <a:t>Macroeconomic context</a:t>
            </a:r>
            <a:endParaRPr lang="en-US" sz="1300" dirty="0"/>
          </a:p>
          <a:p>
            <a:pPr indent="0" marL="0">
              <a:buNone/>
            </a:pPr>
            <a:r>
              <a:rPr lang="en-US" sz="1300" dirty="0">
                <a:solidFill>
                  <a:srgbClr val="EAF1ED"/>
                </a:solidFill>
                <a:latin typeface="Aptos"/>
              </a:rPr>
              <a:t>Local conditions</a:t>
            </a:r>
            <a:endParaRPr lang="en-US" sz="1300" dirty="0"/>
          </a:p>
        </p:txBody>
      </p:sp>
      <p:sp>
        <p:nvSpPr>
          <p:cNvPr id="12" name="Shape 10"/>
          <p:cNvSpPr/>
          <p:nvPr/>
        </p:nvSpPr>
        <p:spPr>
          <a:xfrm>
            <a:off x="4407408" y="1874520"/>
            <a:ext cx="3383280" cy="2148840"/>
          </a:xfrm>
          <a:prstGeom prst="roundRect">
            <a:avLst>
              <a:gd name="adj" fmla="val 4255"/>
            </a:avLst>
          </a:prstGeom>
          <a:solidFill>
            <a:srgbClr val="050E0A"/>
          </a:solidFill>
          <a:ln w="12700">
            <a:solidFill>
              <a:srgbClr val="86AE8E"/>
            </a:solidFill>
            <a:prstDash val="solid"/>
          </a:ln>
        </p:spPr>
        <p:txBody>
          <a:bodyPr/>
          <a:p/>
        </p:txBody>
      </p:sp>
      <p:sp>
        <p:nvSpPr>
          <p:cNvPr id="13" name="Text 11"/>
          <p:cNvSpPr/>
          <p:nvPr/>
        </p:nvSpPr>
        <p:spPr>
          <a:xfrm>
            <a:off x="4553712" y="1984248"/>
            <a:ext cx="309067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Improve modeling</a:t>
            </a:r>
            <a:endParaRPr lang="en-US" sz="1050" dirty="0"/>
          </a:p>
        </p:txBody>
      </p:sp>
      <p:sp>
        <p:nvSpPr>
          <p:cNvPr id="14" name="Text 12"/>
          <p:cNvSpPr/>
          <p:nvPr/>
        </p:nvSpPr>
        <p:spPr>
          <a:xfrm>
            <a:off x="4553712" y="2313432"/>
            <a:ext cx="3090672" cy="15819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00" dirty="0">
                <a:solidFill>
                  <a:srgbClr val="EAF1ED"/>
                </a:solidFill>
                <a:latin typeface="Aptos"/>
              </a:rPr>
              <a:t>Time-aware cross-validation</a:t>
            </a:r>
            <a:endParaRPr lang="en-US" sz="1300" dirty="0"/>
          </a:p>
          <a:p>
            <a:pPr indent="0" marL="0">
              <a:buNone/>
            </a:pPr>
            <a:r>
              <a:rPr lang="en-US" sz="1300" dirty="0">
                <a:solidFill>
                  <a:srgbClr val="EAF1ED"/>
                </a:solidFill>
                <a:latin typeface="Aptos"/>
              </a:rPr>
              <a:t>More systematic Random Forest tuning</a:t>
            </a:r>
            <a:endParaRPr lang="en-US" sz="1300" dirty="0"/>
          </a:p>
          <a:p>
            <a:pPr indent="0" marL="0">
              <a:buNone/>
            </a:pPr>
            <a:r>
              <a:rPr lang="en-US" sz="1300" dirty="0">
                <a:solidFill>
                  <a:srgbClr val="EAF1ED"/>
                </a:solidFill>
                <a:latin typeface="Aptos"/>
              </a:rPr>
              <a:t>Compare gradient boosting</a:t>
            </a:r>
            <a:endParaRPr lang="en-US" sz="1300" dirty="0"/>
          </a:p>
          <a:p>
            <a:pPr indent="0" marL="0">
              <a:buNone/>
            </a:pPr>
            <a:r>
              <a:rPr lang="en-US" sz="1300" dirty="0">
                <a:solidFill>
                  <a:srgbClr val="EAF1ED"/>
                </a:solidFill>
                <a:latin typeface="Aptos"/>
              </a:rPr>
              <a:t>Monitor drift by cohort</a:t>
            </a:r>
            <a:endParaRPr lang="en-US" sz="1300" dirty="0"/>
          </a:p>
        </p:txBody>
      </p:sp>
      <p:sp>
        <p:nvSpPr>
          <p:cNvPr id="15" name="Shape 13"/>
          <p:cNvSpPr/>
          <p:nvPr/>
        </p:nvSpPr>
        <p:spPr>
          <a:xfrm>
            <a:off x="8119872" y="1874520"/>
            <a:ext cx="3154680" cy="2148840"/>
          </a:xfrm>
          <a:prstGeom prst="roundRect">
            <a:avLst>
              <a:gd name="adj" fmla="val 4255"/>
            </a:avLst>
          </a:prstGeom>
          <a:solidFill>
            <a:srgbClr val="050E0A"/>
          </a:solidFill>
          <a:ln w="12700">
            <a:solidFill>
              <a:srgbClr val="86AE8E"/>
            </a:solidFill>
            <a:prstDash val="solid"/>
          </a:ln>
        </p:spPr>
        <p:txBody>
          <a:bodyPr/>
          <a:p/>
        </p:txBody>
      </p:sp>
      <p:sp>
        <p:nvSpPr>
          <p:cNvPr id="16" name="Text 14"/>
          <p:cNvSpPr/>
          <p:nvPr/>
        </p:nvSpPr>
        <p:spPr>
          <a:xfrm>
            <a:off x="8266176" y="1984248"/>
            <a:ext cx="286207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Improve decisioning</a:t>
            </a:r>
            <a:endParaRPr lang="en-US" sz="1050" dirty="0"/>
          </a:p>
        </p:txBody>
      </p:sp>
      <p:sp>
        <p:nvSpPr>
          <p:cNvPr id="17" name="Text 15"/>
          <p:cNvSpPr/>
          <p:nvPr/>
        </p:nvSpPr>
        <p:spPr>
          <a:xfrm>
            <a:off x="8266176" y="2313432"/>
            <a:ext cx="2862072" cy="158191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260" dirty="0">
                <a:solidFill>
                  <a:srgbClr val="EAF1ED"/>
                </a:solidFill>
                <a:latin typeface="Aptos"/>
              </a:rPr>
              <a:t>Calibrate probabilities</a:t>
            </a:r>
            <a:endParaRPr lang="en-US" sz="1260" dirty="0"/>
          </a:p>
          <a:p>
            <a:pPr indent="0" marL="0">
              <a:buNone/>
            </a:pPr>
            <a:r>
              <a:rPr lang="en-US" sz="1260" dirty="0">
                <a:solidFill>
                  <a:srgbClr val="EAF1ED"/>
                </a:solidFill>
                <a:latin typeface="Aptos"/>
              </a:rPr>
              <a:t>Evaluate decile lift</a:t>
            </a:r>
            <a:endParaRPr lang="en-US" sz="1260" dirty="0"/>
          </a:p>
          <a:p>
            <a:pPr indent="0" marL="0">
              <a:buNone/>
            </a:pPr>
            <a:r>
              <a:rPr lang="en-US" sz="1260" dirty="0">
                <a:solidFill>
                  <a:srgbClr val="EAF1ED"/>
                </a:solidFill>
                <a:latin typeface="Aptos"/>
              </a:rPr>
              <a:t>Choose threshold with explicit cost function</a:t>
            </a:r>
            <a:endParaRPr lang="en-US" sz="1260" dirty="0"/>
          </a:p>
          <a:p>
            <a:pPr indent="0" marL="0">
              <a:buNone/>
            </a:pPr>
            <a:r>
              <a:rPr lang="en-US" sz="1260" dirty="0">
                <a:solidFill>
                  <a:srgbClr val="EAF1ED"/>
                </a:solidFill>
                <a:latin typeface="Aptos"/>
              </a:rPr>
              <a:t>Track precision/recall by segment</a:t>
            </a:r>
            <a:endParaRPr lang="en-US" sz="1260" dirty="0"/>
          </a:p>
        </p:txBody>
      </p:sp>
      <p:sp>
        <p:nvSpPr>
          <p:cNvPr id="18" name="Shape 16"/>
          <p:cNvSpPr/>
          <p:nvPr/>
        </p:nvSpPr>
        <p:spPr>
          <a:xfrm>
            <a:off x="685800" y="4645152"/>
            <a:ext cx="10588752" cy="868680"/>
          </a:xfrm>
          <a:prstGeom prst="roundRect">
            <a:avLst>
              <a:gd name="adj" fmla="val 10526"/>
            </a:avLst>
          </a:prstGeom>
          <a:solidFill>
            <a:srgbClr val="050E0A"/>
          </a:solidFill>
          <a:ln w="12700">
            <a:solidFill>
              <a:srgbClr val="86AE8E"/>
            </a:solidFill>
            <a:prstDash val="solid"/>
          </a:ln>
        </p:spPr>
        <p:txBody>
          <a:bodyPr/>
          <a:p/>
        </p:txBody>
      </p:sp>
      <p:sp>
        <p:nvSpPr>
          <p:cNvPr id="19" name="Text 17"/>
          <p:cNvSpPr/>
          <p:nvPr/>
        </p:nvSpPr>
        <p:spPr>
          <a:xfrm>
            <a:off x="832104" y="4754880"/>
            <a:ext cx="10296144"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What I would report next</a:t>
            </a:r>
            <a:endParaRPr lang="en-US" sz="1050" dirty="0"/>
          </a:p>
        </p:txBody>
      </p:sp>
      <p:sp>
        <p:nvSpPr>
          <p:cNvPr id="20" name="Text 18"/>
          <p:cNvSpPr/>
          <p:nvPr/>
        </p:nvSpPr>
        <p:spPr>
          <a:xfrm>
            <a:off x="832104" y="5084064"/>
            <a:ext cx="10296144" cy="30175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20" dirty="0">
                <a:solidFill>
                  <a:srgbClr val="EAF1ED"/>
                </a:solidFill>
                <a:latin typeface="Aptos"/>
              </a:rPr>
              <a:t>For a ranking model, decile lift is especially useful: what share of charge-offs appear in the highest-risk 5%, 10%, or 20% of scores?</a:t>
            </a:r>
            <a:endParaRPr lang="en-US" sz="1320" dirty="0"/>
          </a:p>
        </p:txBody>
      </p:sp>
      <p:sp>
        <p:nvSpPr>
          <p:cNvPr id="21" name="Text 19"/>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pic>
        <p:nvPicPr>
          <p:cNvPr id="29" name="Picture 28" descr="image-3-1.jpeg"/>
          <p:cNvPicPr>
            <a:picLocks noChangeAspect="1"/>
          </p:cNvPicPr>
          <p:nvPr/>
        </p:nvPicPr>
        <p:blipFill>
          <a:blip r:embed="rId3"/>
          <a:stretch>
            <a:fillRect/>
          </a:stretch>
        </p:blipFill>
        <p:spPr>
          <a:xfrm>
            <a:off x="0" y="0"/>
            <a:ext cx="12191695" cy="6858000"/>
          </a:xfrm>
          <a:prstGeom prst="rect">
            <a:avLst/>
          </a:prstGeom>
        </p:spPr>
      </p:pic>
      <p:sp>
        <p:nvSpPr>
          <p:cNvPr id="2" name="Text 0"/>
          <p:cNvSpPr/>
          <p:nvPr/>
        </p:nvSpPr>
        <p:spPr>
          <a:xfrm>
            <a:off x="411480" y="164592"/>
            <a:ext cx="5852160" cy="201168"/>
          </a:xfrm>
          <a:prstGeom prst="rect">
            <a:avLst/>
          </a:prstGeom>
          <a:solidFill>
            <a:srgbClr val="050E0A"/>
          </a:solidFill>
          <a:ln>
            <a:solidFill>
              <a:srgbClr val="86AE8E"/>
            </a:solidFill>
          </a:ln>
        </p:spPr>
        <p:txBody>
          <a:bodyPr wrap="square" lIns="0" tIns="0" rIns="0" bIns="0" rtlCol="0" anchor="ctr"/>
          <a:lstStyle/>
          <a:p>
            <a:pPr indent="0" marL="0">
              <a:buNone/>
            </a:pPr>
            <a:r>
              <a:rPr lang="en-US" sz="760" b="1" dirty="0">
                <a:solidFill>
                  <a:srgbClr val="BECAC2"/>
                </a:solidFill>
                <a:latin typeface="Aptos" pitchFamily="34" charset="0"/>
                <a:ea typeface="Aptos" pitchFamily="34" charset="-122"/>
                <a:cs typeface="Aptos" pitchFamily="34" charset="-120"/>
              </a:rPr>
              <a:t>DATA 400 | SBA 7(a) credit-risk mini project</a:t>
            </a:r>
            <a:endParaRPr lang="en-US" sz="760" dirty="0"/>
          </a:p>
        </p:txBody>
      </p:sp>
      <p:sp>
        <p:nvSpPr>
          <p:cNvPr id="3" name="Text 1"/>
          <p:cNvSpPr/>
          <p:nvPr/>
        </p:nvSpPr>
        <p:spPr>
          <a:xfrm>
            <a:off x="11274552" y="128016"/>
            <a:ext cx="502920" cy="256032"/>
          </a:xfrm>
          <a:prstGeom prst="rect">
            <a:avLst/>
          </a:prstGeom>
          <a:solidFill>
            <a:srgbClr val="050E0A"/>
          </a:solidFill>
          <a:ln>
            <a:solidFill>
              <a:srgbClr val="86AE8E"/>
            </a:solidFill>
          </a:ln>
        </p:spPr>
        <p:txBody>
          <a:bodyPr wrap="square" lIns="0" tIns="0" rIns="0" bIns="0" rtlCol="0" anchor="ctr"/>
          <a:lstStyle/>
          <a:p>
            <a:pPr algn="r" indent="0" marL="0">
              <a:buNone/>
            </a:pPr>
            <a:r>
              <a:rPr lang="en-US" sz="850" dirty="0">
                <a:solidFill>
                  <a:srgbClr val="BECAC2"/>
                </a:solidFill>
                <a:latin typeface="Aptos"/>
              </a:rPr>
              <a:t>27</a:t>
            </a:r>
            <a:endParaRPr lang="en-US" sz="850" dirty="0"/>
          </a:p>
        </p:txBody>
      </p:sp>
      <p:sp>
        <p:nvSpPr>
          <p:cNvPr id="4" name="Text 2"/>
          <p:cNvSpPr/>
          <p:nvPr/>
        </p:nvSpPr>
        <p:spPr>
          <a:xfrm>
            <a:off x="8229600" y="164592"/>
            <a:ext cx="2834640" cy="201168"/>
          </a:xfrm>
          <a:prstGeom prst="rect">
            <a:avLst/>
          </a:prstGeom>
          <a:solidFill>
            <a:srgbClr val="050E0A"/>
          </a:solidFill>
          <a:ln>
            <a:solidFill>
              <a:srgbClr val="86AE8E"/>
            </a:solidFill>
          </a:ln>
        </p:spPr>
        <p:txBody>
          <a:bodyPr wrap="square" lIns="0" tIns="0" rIns="0" bIns="0" rtlCol="0" anchor="ctr"/>
          <a:lstStyle/>
          <a:p>
            <a:pPr algn="r" indent="0" marL="0">
              <a:buNone/>
            </a:pPr>
            <a:r>
              <a:rPr lang="en-US" sz="740" b="1" dirty="0">
                <a:solidFill>
                  <a:srgbClr val="9DDC9A"/>
                </a:solidFill>
                <a:latin typeface="Aptos" pitchFamily="34" charset="0"/>
                <a:ea typeface="Aptos" pitchFamily="34" charset="-122"/>
                <a:cs typeface="Aptos" pitchFamily="34" charset="-120"/>
              </a:rPr>
              <a:t>WRAP-UP</a:t>
            </a:r>
            <a:endParaRPr lang="en-US" sz="740" dirty="0"/>
          </a:p>
        </p:txBody>
      </p:sp>
      <p:sp>
        <p:nvSpPr>
          <p:cNvPr id="5" name="Shape 3"/>
          <p:cNvSpPr/>
          <p:nvPr/>
        </p:nvSpPr>
        <p:spPr>
          <a:xfrm>
            <a:off x="411480" y="475488"/>
            <a:ext cx="11365992" cy="0"/>
          </a:xfrm>
          <a:prstGeom prst="line">
            <a:avLst/>
          </a:prstGeom>
          <a:noFill/>
          <a:ln w="12700">
            <a:solidFill>
              <a:srgbClr val="86AE8E"/>
            </a:solidFill>
            <a:prstDash val="solid"/>
          </a:ln>
        </p:spPr>
        <p:txBody>
          <a:bodyPr/>
          <a:p/>
        </p:txBody>
      </p:sp>
      <p:sp>
        <p:nvSpPr>
          <p:cNvPr id="6" name="Text 4"/>
          <p:cNvSpPr/>
          <p:nvPr/>
        </p:nvSpPr>
        <p:spPr>
          <a:xfrm>
            <a:off x="548640" y="640080"/>
            <a:ext cx="11064240" cy="45720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Display" pitchFamily="34" charset="-122"/>
                <a:cs typeface="Aptos Display" pitchFamily="34" charset="-120"/>
              </a:rPr>
              <a:t>Conclusion: useful ranking, not standalone underwriting</a:t>
            </a:r>
            <a:endParaRPr lang="en-US" sz="2300" dirty="0"/>
          </a:p>
        </p:txBody>
      </p:sp>
      <p:sp>
        <p:nvSpPr>
          <p:cNvPr id="7" name="Shape 5"/>
          <p:cNvSpPr/>
          <p:nvPr/>
        </p:nvSpPr>
        <p:spPr>
          <a:xfrm>
            <a:off x="548640" y="1170432"/>
            <a:ext cx="11064240" cy="530352"/>
          </a:xfrm>
          <a:prstGeom prst="roundRect">
            <a:avLst>
              <a:gd name="adj" fmla="val 20690"/>
            </a:avLst>
          </a:prstGeom>
          <a:solidFill>
            <a:srgbClr val="050E0A"/>
          </a:solidFill>
          <a:ln w="12700">
            <a:solidFill>
              <a:srgbClr val="86AE8E"/>
            </a:solidFill>
            <a:prstDash val="solid"/>
          </a:ln>
        </p:spPr>
        <p:txBody>
          <a:bodyPr/>
          <a:p/>
        </p:txBody>
      </p:sp>
      <p:sp>
        <p:nvSpPr>
          <p:cNvPr id="8" name="Text 6"/>
          <p:cNvSpPr/>
          <p:nvPr/>
        </p:nvSpPr>
        <p:spPr>
          <a:xfrm>
            <a:off x="777240" y="1280160"/>
            <a:ext cx="10607040" cy="274320"/>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320" b="1" dirty="0">
                <a:solidFill>
                  <a:srgbClr val="FFFFFF"/>
                </a:solidFill>
                <a:latin typeface="Aptos"/>
              </a:rPr>
              <a:t>Random Forest creates meaningful risk concentration, but the model should support human review rather than replace it.</a:t>
            </a:r>
            <a:endParaRPr lang="en-US" sz="1320" dirty="0"/>
          </a:p>
        </p:txBody>
      </p:sp>
      <p:sp>
        <p:nvSpPr>
          <p:cNvPr id="9" name="Shape 7"/>
          <p:cNvSpPr/>
          <p:nvPr/>
        </p:nvSpPr>
        <p:spPr>
          <a:xfrm>
            <a:off x="777240" y="1874520"/>
            <a:ext cx="1645920" cy="777240"/>
          </a:xfrm>
          <a:prstGeom prst="roundRect">
            <a:avLst>
              <a:gd name="adj" fmla="val 11765"/>
            </a:avLst>
          </a:prstGeom>
          <a:solidFill>
            <a:srgbClr val="050E0A"/>
          </a:solidFill>
          <a:ln w="12700">
            <a:solidFill>
              <a:srgbClr val="86AE8E"/>
            </a:solidFill>
            <a:prstDash val="solid"/>
          </a:ln>
        </p:spPr>
        <p:txBody>
          <a:bodyPr/>
          <a:p/>
        </p:txBody>
      </p:sp>
      <p:sp>
        <p:nvSpPr>
          <p:cNvPr id="10" name="Text 8"/>
          <p:cNvSpPr/>
          <p:nvPr/>
        </p:nvSpPr>
        <p:spPr>
          <a:xfrm>
            <a:off x="822960" y="1984248"/>
            <a:ext cx="15544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0.352</a:t>
            </a:r>
            <a:endParaRPr lang="en-US" sz="2000" dirty="0"/>
          </a:p>
        </p:txBody>
      </p:sp>
      <p:sp>
        <p:nvSpPr>
          <p:cNvPr id="11" name="Text 9"/>
          <p:cNvSpPr/>
          <p:nvPr/>
        </p:nvSpPr>
        <p:spPr>
          <a:xfrm>
            <a:off x="850392" y="2350008"/>
            <a:ext cx="14996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test PR-AUC</a:t>
            </a:r>
            <a:endParaRPr lang="en-US" sz="830" dirty="0"/>
          </a:p>
        </p:txBody>
      </p:sp>
      <p:sp>
        <p:nvSpPr>
          <p:cNvPr id="12" name="Shape 10"/>
          <p:cNvSpPr/>
          <p:nvPr/>
        </p:nvSpPr>
        <p:spPr>
          <a:xfrm>
            <a:off x="2697480" y="1874520"/>
            <a:ext cx="1645920" cy="777240"/>
          </a:xfrm>
          <a:prstGeom prst="roundRect">
            <a:avLst>
              <a:gd name="adj" fmla="val 11765"/>
            </a:avLst>
          </a:prstGeom>
          <a:solidFill>
            <a:srgbClr val="050E0A"/>
          </a:solidFill>
          <a:ln w="12700">
            <a:solidFill>
              <a:srgbClr val="86AE8E"/>
            </a:solidFill>
            <a:prstDash val="solid"/>
          </a:ln>
        </p:spPr>
        <p:txBody>
          <a:bodyPr/>
          <a:p/>
        </p:txBody>
      </p:sp>
      <p:sp>
        <p:nvSpPr>
          <p:cNvPr id="13" name="Text 11"/>
          <p:cNvSpPr/>
          <p:nvPr/>
        </p:nvSpPr>
        <p:spPr>
          <a:xfrm>
            <a:off x="2743200" y="1984248"/>
            <a:ext cx="15544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0.931</a:t>
            </a:r>
            <a:endParaRPr lang="en-US" sz="2000" dirty="0"/>
          </a:p>
        </p:txBody>
      </p:sp>
      <p:sp>
        <p:nvSpPr>
          <p:cNvPr id="14" name="Text 12"/>
          <p:cNvSpPr/>
          <p:nvPr/>
        </p:nvSpPr>
        <p:spPr>
          <a:xfrm>
            <a:off x="2770632" y="2350008"/>
            <a:ext cx="14996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test ROC-AUC</a:t>
            </a:r>
            <a:endParaRPr lang="en-US" sz="830" dirty="0"/>
          </a:p>
        </p:txBody>
      </p:sp>
      <p:sp>
        <p:nvSpPr>
          <p:cNvPr id="15" name="Shape 13"/>
          <p:cNvSpPr/>
          <p:nvPr/>
        </p:nvSpPr>
        <p:spPr>
          <a:xfrm>
            <a:off x="4617720" y="1874520"/>
            <a:ext cx="1645920" cy="777240"/>
          </a:xfrm>
          <a:prstGeom prst="roundRect">
            <a:avLst>
              <a:gd name="adj" fmla="val 11765"/>
            </a:avLst>
          </a:prstGeom>
          <a:solidFill>
            <a:srgbClr val="050E0A"/>
          </a:solidFill>
          <a:ln w="12700">
            <a:solidFill>
              <a:srgbClr val="86AE8E"/>
            </a:solidFill>
            <a:prstDash val="solid"/>
          </a:ln>
        </p:spPr>
        <p:txBody>
          <a:bodyPr/>
          <a:p/>
        </p:txBody>
      </p:sp>
      <p:sp>
        <p:nvSpPr>
          <p:cNvPr id="16" name="Text 14"/>
          <p:cNvSpPr/>
          <p:nvPr/>
        </p:nvSpPr>
        <p:spPr>
          <a:xfrm>
            <a:off x="4663440" y="1984248"/>
            <a:ext cx="15544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42.6%</a:t>
            </a:r>
            <a:endParaRPr lang="en-US" sz="2000" dirty="0"/>
          </a:p>
        </p:txBody>
      </p:sp>
      <p:sp>
        <p:nvSpPr>
          <p:cNvPr id="17" name="Text 15"/>
          <p:cNvSpPr/>
          <p:nvPr/>
        </p:nvSpPr>
        <p:spPr>
          <a:xfrm>
            <a:off x="4690872" y="2350008"/>
            <a:ext cx="14996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test precision</a:t>
            </a:r>
            <a:endParaRPr lang="en-US" sz="830" dirty="0"/>
          </a:p>
        </p:txBody>
      </p:sp>
      <p:sp>
        <p:nvSpPr>
          <p:cNvPr id="18" name="Shape 16"/>
          <p:cNvSpPr/>
          <p:nvPr/>
        </p:nvSpPr>
        <p:spPr>
          <a:xfrm>
            <a:off x="6537960" y="1874520"/>
            <a:ext cx="1645920" cy="777240"/>
          </a:xfrm>
          <a:prstGeom prst="roundRect">
            <a:avLst>
              <a:gd name="adj" fmla="val 11765"/>
            </a:avLst>
          </a:prstGeom>
          <a:solidFill>
            <a:srgbClr val="050E0A"/>
          </a:solidFill>
          <a:ln w="12700">
            <a:solidFill>
              <a:srgbClr val="86AE8E"/>
            </a:solidFill>
            <a:prstDash val="solid"/>
          </a:ln>
        </p:spPr>
        <p:txBody>
          <a:bodyPr/>
          <a:p/>
        </p:txBody>
      </p:sp>
      <p:sp>
        <p:nvSpPr>
          <p:cNvPr id="19" name="Text 17"/>
          <p:cNvSpPr/>
          <p:nvPr/>
        </p:nvSpPr>
        <p:spPr>
          <a:xfrm>
            <a:off x="6583680" y="1984248"/>
            <a:ext cx="15544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9DDC9A"/>
                </a:solidFill>
                <a:latin typeface="Aptos"/>
              </a:rPr>
              <a:t>31.4%</a:t>
            </a:r>
            <a:endParaRPr lang="en-US" sz="2000" dirty="0"/>
          </a:p>
        </p:txBody>
      </p:sp>
      <p:sp>
        <p:nvSpPr>
          <p:cNvPr id="20" name="Text 18"/>
          <p:cNvSpPr/>
          <p:nvPr/>
        </p:nvSpPr>
        <p:spPr>
          <a:xfrm>
            <a:off x="6611112" y="2350008"/>
            <a:ext cx="14996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test recall</a:t>
            </a:r>
            <a:endParaRPr lang="en-US" sz="830" dirty="0"/>
          </a:p>
        </p:txBody>
      </p:sp>
      <p:sp>
        <p:nvSpPr>
          <p:cNvPr id="21" name="Shape 19"/>
          <p:cNvSpPr/>
          <p:nvPr/>
        </p:nvSpPr>
        <p:spPr>
          <a:xfrm>
            <a:off x="8458200" y="1874520"/>
            <a:ext cx="1645920" cy="777240"/>
          </a:xfrm>
          <a:prstGeom prst="roundRect">
            <a:avLst>
              <a:gd name="adj" fmla="val 11765"/>
            </a:avLst>
          </a:prstGeom>
          <a:solidFill>
            <a:srgbClr val="050E0A"/>
          </a:solidFill>
          <a:ln w="12700">
            <a:solidFill>
              <a:srgbClr val="86AE8E"/>
            </a:solidFill>
            <a:prstDash val="solid"/>
          </a:ln>
        </p:spPr>
        <p:txBody>
          <a:bodyPr/>
          <a:p/>
        </p:txBody>
      </p:sp>
      <p:sp>
        <p:nvSpPr>
          <p:cNvPr id="22" name="Text 20"/>
          <p:cNvSpPr/>
          <p:nvPr/>
        </p:nvSpPr>
        <p:spPr>
          <a:xfrm>
            <a:off x="8503920" y="1984248"/>
            <a:ext cx="1554480" cy="310896"/>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2000" b="1" dirty="0">
                <a:solidFill>
                  <a:srgbClr val="EAF1ED"/>
                </a:solidFill>
                <a:latin typeface="Aptos"/>
              </a:rPr>
              <a:t>18x</a:t>
            </a:r>
            <a:endParaRPr lang="en-US" sz="2000" dirty="0"/>
          </a:p>
        </p:txBody>
      </p:sp>
      <p:sp>
        <p:nvSpPr>
          <p:cNvPr id="23" name="Text 21"/>
          <p:cNvSpPr/>
          <p:nvPr/>
        </p:nvSpPr>
        <p:spPr>
          <a:xfrm>
            <a:off x="8531352" y="2350008"/>
            <a:ext cx="1499616" cy="201168"/>
          </a:xfrm>
          <a:prstGeom prst="rect">
            <a:avLst/>
          </a:prstGeom>
          <a:solidFill>
            <a:srgbClr val="050E0A"/>
          </a:solidFill>
          <a:ln>
            <a:solidFill>
              <a:srgbClr val="86AE8E"/>
            </a:solidFill>
          </a:ln>
        </p:spPr>
        <p:txBody>
          <a:bodyPr wrap="square" lIns="0" tIns="0" rIns="0" bIns="0" rtlCol="0" anchor="ctr">
            <a:normAutofit/>
          </a:bodyPr>
          <a:lstStyle/>
          <a:p>
            <a:pPr algn="ctr" indent="0" marL="0">
              <a:buNone/>
            </a:pPr>
            <a:r>
              <a:rPr lang="en-US" sz="830" dirty="0">
                <a:solidFill>
                  <a:srgbClr val="EAF1ED"/>
                </a:solidFill>
                <a:latin typeface="Aptos"/>
              </a:rPr>
              <a:t>risk concentration vs base rate</a:t>
            </a:r>
            <a:endParaRPr lang="en-US" sz="830" dirty="0"/>
          </a:p>
        </p:txBody>
      </p:sp>
      <p:sp>
        <p:nvSpPr>
          <p:cNvPr id="24" name="Shape 22"/>
          <p:cNvSpPr/>
          <p:nvPr/>
        </p:nvSpPr>
        <p:spPr>
          <a:xfrm>
            <a:off x="822960" y="3200400"/>
            <a:ext cx="10287000" cy="2011680"/>
          </a:xfrm>
          <a:prstGeom prst="roundRect">
            <a:avLst>
              <a:gd name="adj" fmla="val 4545"/>
            </a:avLst>
          </a:prstGeom>
          <a:solidFill>
            <a:srgbClr val="050E0A"/>
          </a:solidFill>
          <a:ln w="12700">
            <a:solidFill>
              <a:srgbClr val="86AE8E"/>
            </a:solidFill>
            <a:prstDash val="solid"/>
          </a:ln>
        </p:spPr>
        <p:txBody>
          <a:bodyPr/>
          <a:p/>
        </p:txBody>
      </p:sp>
      <p:sp>
        <p:nvSpPr>
          <p:cNvPr id="25" name="Text 23"/>
          <p:cNvSpPr/>
          <p:nvPr/>
        </p:nvSpPr>
        <p:spPr>
          <a:xfrm>
            <a:off x="969264" y="3310128"/>
            <a:ext cx="9994392" cy="237744"/>
          </a:xfrm>
          <a:prstGeom prst="rect">
            <a:avLst/>
          </a:prstGeom>
          <a:solidFill>
            <a:srgbClr val="050E0A"/>
          </a:solidFill>
          <a:ln>
            <a:solidFill>
              <a:srgbClr val="86AE8E"/>
            </a:solidFill>
          </a:ln>
        </p:spPr>
        <p:txBody>
          <a:bodyPr wrap="square" lIns="0" tIns="0" rIns="0" bIns="0" rtlCol="0" anchor="ctr">
            <a:normAutofit/>
          </a:bodyPr>
          <a:lstStyle/>
          <a:p>
            <a:pPr indent="0" marL="0">
              <a:buNone/>
            </a:pPr>
            <a:r>
              <a:rPr lang="en-US" sz="1050" b="1" dirty="0">
                <a:solidFill>
                  <a:srgbClr val="EAF1ED"/>
                </a:solidFill>
                <a:latin typeface="Aptos"/>
              </a:rPr>
              <a:t>Main takeaways</a:t>
            </a:r>
            <a:endParaRPr lang="en-US" sz="1050" dirty="0"/>
          </a:p>
        </p:txBody>
      </p:sp>
      <p:sp>
        <p:nvSpPr>
          <p:cNvPr id="26" name="Text 24"/>
          <p:cNvSpPr/>
          <p:nvPr/>
        </p:nvSpPr>
        <p:spPr>
          <a:xfrm>
            <a:off x="969264" y="3639312"/>
            <a:ext cx="9994392" cy="1444752"/>
          </a:xfrm>
          <a:prstGeom prst="rect">
            <a:avLst/>
          </a:prstGeom>
          <a:solidFill>
            <a:srgbClr val="050E0A"/>
          </a:solidFill>
          <a:ln>
            <a:solidFill>
              <a:srgbClr val="86AE8E"/>
            </a:solidFill>
          </a:ln>
        </p:spPr>
        <p:txBody>
          <a:bodyPr wrap="square" lIns="254" tIns="254" rIns="254" bIns="254" rtlCol="0" anchor="t">
            <a:normAutofit/>
          </a:bodyPr>
          <a:lstStyle/>
          <a:p>
            <a:pPr indent="0" marL="0">
              <a:buNone/>
            </a:pPr>
            <a:r>
              <a:rPr lang="en-US" sz="1380" dirty="0">
                <a:solidFill>
                  <a:srgbClr val="EAF1ED"/>
                </a:solidFill>
                <a:latin typeface="Aptos"/>
              </a:rPr>
              <a:t>1. Valid five-year target avoids right-censoring.</a:t>
            </a:r>
            <a:endParaRPr lang="en-US" sz="1380" dirty="0"/>
          </a:p>
          <a:p>
            <a:pPr indent="0" marL="0">
              <a:buNone/>
            </a:pPr>
            <a:r>
              <a:rPr lang="en-US" sz="1380" dirty="0">
                <a:solidFill>
                  <a:srgbClr val="EAF1ED"/>
                </a:solidFill>
                <a:latin typeface="Aptos"/>
              </a:rPr>
              <a:t>2. Chronological split tests past-to-future generalization.</a:t>
            </a:r>
            <a:endParaRPr lang="en-US" sz="1380" dirty="0"/>
          </a:p>
          <a:p>
            <a:pPr indent="0" marL="0">
              <a:buNone/>
            </a:pPr>
            <a:r>
              <a:rPr lang="en-US" sz="1380" dirty="0">
                <a:solidFill>
                  <a:srgbClr val="EAF1ED"/>
                </a:solidFill>
                <a:latin typeface="Aptos"/>
              </a:rPr>
              <a:t>3. PR-AUC matches the rare-event objective.</a:t>
            </a:r>
            <a:endParaRPr lang="en-US" sz="1380" dirty="0"/>
          </a:p>
          <a:p>
            <a:pPr indent="0" marL="0">
              <a:buNone/>
            </a:pPr>
            <a:r>
              <a:rPr lang="en-US" sz="1380" dirty="0">
                <a:solidFill>
                  <a:srgbClr val="EAF1ED"/>
                </a:solidFill>
                <a:latin typeface="Aptos"/>
              </a:rPr>
              <a:t>4. Random Forest is strongest on validation PR-AUC.</a:t>
            </a:r>
            <a:endParaRPr lang="en-US" sz="1380" dirty="0"/>
          </a:p>
          <a:p>
            <a:pPr indent="0" marL="0">
              <a:buNone/>
            </a:pPr>
            <a:r>
              <a:rPr lang="en-US" sz="1380" dirty="0">
                <a:solidFill>
                  <a:srgbClr val="EAF1ED"/>
                </a:solidFill>
                <a:latin typeface="Aptos"/>
              </a:rPr>
              <a:t>5. The final model is useful for triage, not automatic approval/denial.</a:t>
            </a:r>
            <a:endParaRPr lang="en-US" sz="1380" dirty="0"/>
          </a:p>
        </p:txBody>
      </p:sp>
      <p:sp>
        <p:nvSpPr>
          <p:cNvPr id="27" name="Text 25"/>
          <p:cNvSpPr/>
          <p:nvPr/>
        </p:nvSpPr>
        <p:spPr>
          <a:xfrm>
            <a:off x="822960" y="5696712"/>
            <a:ext cx="10287000" cy="365760"/>
          </a:xfrm>
          <a:prstGeom prst="rect">
            <a:avLst/>
          </a:prstGeom>
          <a:solidFill>
            <a:srgbClr val="050E0A"/>
          </a:solidFill>
          <a:ln>
            <a:solidFill>
              <a:srgbClr val="86AE8E"/>
            </a:solidFill>
          </a:ln>
        </p:spPr>
        <p:txBody>
          <a:bodyPr wrap="square" lIns="0" tIns="0" rIns="0" bIns="0" rtlCol="0" anchor="ctr"/>
          <a:lstStyle/>
          <a:p>
            <a:pPr algn="ctr" indent="0" marL="0">
              <a:buNone/>
            </a:pPr>
            <a:r>
              <a:rPr lang="en-US" sz="2000" b="1" dirty="0">
                <a:solidFill>
                  <a:srgbClr val="EAF1ED"/>
                </a:solidFill>
                <a:latin typeface="Aptos"/>
              </a:rPr>
              <a:t>Thank you — I’m happy to answer questions.</a:t>
            </a:r>
            <a:endParaRPr lang="en-US" sz="2000" dirty="0"/>
          </a:p>
        </p:txBody>
      </p:sp>
      <p:sp>
        <p:nvSpPr>
          <p:cNvPr id="28" name="Text 26"/>
          <p:cNvSpPr/>
          <p:nvPr/>
        </p:nvSpPr>
        <p:spPr>
          <a:xfrm>
            <a:off x="548640" y="6473952"/>
            <a:ext cx="8686800" cy="210312"/>
          </a:xfrm>
          <a:prstGeom prst="rect">
            <a:avLst/>
          </a:prstGeom>
          <a:solidFill>
            <a:srgbClr val="050E0A"/>
          </a:solidFill>
          <a:ln>
            <a:solidFill>
              <a:srgbClr val="86AE8E"/>
            </a:solidFill>
          </a:ln>
        </p:spPr>
        <p:txBody>
          <a:bodyPr wrap="square" lIns="0" tIns="0" rIns="0" bIns="0" rtlCol="0" anchor="ctr"/>
          <a:lstStyle/>
          <a:p>
            <a:pPr indent="0" marL="0">
              <a:buNone/>
            </a:pPr>
            <a:r>
              <a:rPr lang="en-US" sz="740" dirty="0">
                <a:solidFill>
                  <a:srgbClr val="EAF1ED"/>
                </a:solidFill>
                <a:latin typeface="Aptos"/>
              </a:rPr>
              <a:t>Use case: risk ranking and review prioritization — not standalone approval/denial</a:t>
            </a:r>
            <a:endParaRPr lang="en-US" sz="7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DATA 400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5-Year Charge-Off Risk for SBA 7(a) Loans</dc:title>
  <dc:subject>SBA 7(a) Credit Risk Presentation</dc:subject>
  <dc:creator>OpenAI</dc:creator>
  <cp:lastModifiedBy>OpenAI</cp:lastModifiedBy>
  <cp:revision>1</cp:revision>
  <dcterms:created xsi:type="dcterms:W3CDTF">2026-10-05T16:25:59Z</dcterms:created>
  <dcterms:modified xsi:type="dcterms:W3CDTF">2026-10-05T16:25:59Z</dcterms:modified>
</cp:coreProperties>
</file>